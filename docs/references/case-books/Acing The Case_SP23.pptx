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57"/>
  </p:notesMasterIdLst>
  <p:sldIdLst>
    <p:sldId id="1650760341" r:id="rId5"/>
    <p:sldId id="1650760359" r:id="rId6"/>
    <p:sldId id="1650760357" r:id="rId7"/>
    <p:sldId id="1650760358" r:id="rId8"/>
    <p:sldId id="1650760299" r:id="rId9"/>
    <p:sldId id="1650760356" r:id="rId10"/>
    <p:sldId id="760" r:id="rId11"/>
    <p:sldId id="1650760335" r:id="rId12"/>
    <p:sldId id="1650760342" r:id="rId13"/>
    <p:sldId id="758" r:id="rId14"/>
    <p:sldId id="1650760343" r:id="rId15"/>
    <p:sldId id="1650760344" r:id="rId16"/>
    <p:sldId id="1650760345" r:id="rId17"/>
    <p:sldId id="375" r:id="rId18"/>
    <p:sldId id="1650760346" r:id="rId19"/>
    <p:sldId id="762" r:id="rId20"/>
    <p:sldId id="764" r:id="rId21"/>
    <p:sldId id="763" r:id="rId22"/>
    <p:sldId id="765" r:id="rId23"/>
    <p:sldId id="766" r:id="rId24"/>
    <p:sldId id="1650760347" r:id="rId25"/>
    <p:sldId id="767" r:id="rId26"/>
    <p:sldId id="1650760349" r:id="rId27"/>
    <p:sldId id="768" r:id="rId28"/>
    <p:sldId id="1650760350" r:id="rId29"/>
    <p:sldId id="1650760352" r:id="rId30"/>
    <p:sldId id="1650760353" r:id="rId31"/>
    <p:sldId id="1650760351" r:id="rId32"/>
    <p:sldId id="769" r:id="rId33"/>
    <p:sldId id="770" r:id="rId34"/>
    <p:sldId id="771" r:id="rId35"/>
    <p:sldId id="1650760354" r:id="rId36"/>
    <p:sldId id="772" r:id="rId37"/>
    <p:sldId id="1650760321" r:id="rId38"/>
    <p:sldId id="314" r:id="rId39"/>
    <p:sldId id="323" r:id="rId40"/>
    <p:sldId id="1650760330" r:id="rId41"/>
    <p:sldId id="1650760331" r:id="rId42"/>
    <p:sldId id="1650760322" r:id="rId43"/>
    <p:sldId id="1650760323" r:id="rId44"/>
    <p:sldId id="1650760332" r:id="rId45"/>
    <p:sldId id="1650760333" r:id="rId46"/>
    <p:sldId id="1650760324" r:id="rId47"/>
    <p:sldId id="1650760325" r:id="rId48"/>
    <p:sldId id="320" r:id="rId49"/>
    <p:sldId id="321" r:id="rId50"/>
    <p:sldId id="322" r:id="rId51"/>
    <p:sldId id="1650760300" r:id="rId52"/>
    <p:sldId id="1650760308" r:id="rId53"/>
    <p:sldId id="1650760309" r:id="rId54"/>
    <p:sldId id="1650760360" r:id="rId55"/>
    <p:sldId id="417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, Kacey C" initials="LKC" lastIdx="1" clrIdx="0">
    <p:extLst>
      <p:ext uri="{19B8F6BF-5375-455C-9EA6-DF929625EA0E}">
        <p15:presenceInfo xmlns:p15="http://schemas.microsoft.com/office/powerpoint/2012/main" userId="Lo, Kacey 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3A80"/>
    <a:srgbClr val="1F3D84"/>
    <a:srgbClr val="5C9BD6"/>
    <a:srgbClr val="5B9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5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CD0C77-A5CE-A44B-8B65-8CF3A7B60949}" type="doc">
      <dgm:prSet loTypeId="urn:microsoft.com/office/officeart/2005/8/layout/hChevron3" loCatId="" qsTypeId="urn:microsoft.com/office/officeart/2005/8/quickstyle/simple1" qsCatId="simple" csTypeId="urn:microsoft.com/office/officeart/2005/8/colors/accent5_2" csCatId="accent5" phldr="1"/>
      <dgm:spPr/>
    </dgm:pt>
    <dgm:pt modelId="{CFBB8C3F-12F6-0F4A-9541-934DF5DCFDB9}">
      <dgm:prSet phldrT="[Text]"/>
      <dgm:spPr>
        <a:ln w="12700">
          <a:solidFill>
            <a:schemeClr val="bg1"/>
          </a:solidFill>
        </a:ln>
      </dgm:spPr>
      <dgm:t>
        <a:bodyPr/>
        <a:lstStyle/>
        <a:p>
          <a:r>
            <a:rPr lang="en-US"/>
            <a:t> </a:t>
          </a:r>
        </a:p>
      </dgm:t>
    </dgm:pt>
    <dgm:pt modelId="{D5BB943A-1D52-F04B-B233-7CAB2FDA3899}" type="parTrans" cxnId="{6A2F3D4A-0183-C843-AF82-CE497A4D21FE}">
      <dgm:prSet/>
      <dgm:spPr/>
      <dgm:t>
        <a:bodyPr/>
        <a:lstStyle/>
        <a:p>
          <a:endParaRPr lang="en-US"/>
        </a:p>
      </dgm:t>
    </dgm:pt>
    <dgm:pt modelId="{0F10FAD6-A995-A248-88AE-9AFFA1ADE281}" type="sibTrans" cxnId="{6A2F3D4A-0183-C843-AF82-CE497A4D21FE}">
      <dgm:prSet/>
      <dgm:spPr/>
      <dgm:t>
        <a:bodyPr/>
        <a:lstStyle/>
        <a:p>
          <a:endParaRPr lang="en-US"/>
        </a:p>
      </dgm:t>
    </dgm:pt>
    <dgm:pt modelId="{244B0504-7192-5640-89BE-869D75BF89A8}">
      <dgm:prSet phldrT="[Text]"/>
      <dgm:spPr>
        <a:ln w="12700">
          <a:solidFill>
            <a:schemeClr val="bg1"/>
          </a:solidFill>
        </a:ln>
      </dgm:spPr>
      <dgm:t>
        <a:bodyPr/>
        <a:lstStyle/>
        <a:p>
          <a:r>
            <a:rPr lang="en-US"/>
            <a:t> </a:t>
          </a:r>
        </a:p>
      </dgm:t>
    </dgm:pt>
    <dgm:pt modelId="{E1F151E5-3FBB-E348-8EFF-F30410C32C1E}" type="parTrans" cxnId="{0CE5740F-5B35-6144-A138-226A271471AF}">
      <dgm:prSet/>
      <dgm:spPr/>
      <dgm:t>
        <a:bodyPr/>
        <a:lstStyle/>
        <a:p>
          <a:endParaRPr lang="en-US"/>
        </a:p>
      </dgm:t>
    </dgm:pt>
    <dgm:pt modelId="{E7974CA9-C4B1-F449-B2A6-8E010592CD05}" type="sibTrans" cxnId="{0CE5740F-5B35-6144-A138-226A271471AF}">
      <dgm:prSet/>
      <dgm:spPr/>
      <dgm:t>
        <a:bodyPr/>
        <a:lstStyle/>
        <a:p>
          <a:endParaRPr lang="en-US"/>
        </a:p>
      </dgm:t>
    </dgm:pt>
    <dgm:pt modelId="{156F2068-A074-3C46-8A0A-80F62BF79596}">
      <dgm:prSet phldrT="[Text]"/>
      <dgm:spPr>
        <a:ln w="127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B727013-ED0F-414D-B283-DE46B80FA582}" type="parTrans" cxnId="{DCD3DFB9-01E7-764B-9B2E-B0BA9C4DA359}">
      <dgm:prSet/>
      <dgm:spPr/>
      <dgm:t>
        <a:bodyPr/>
        <a:lstStyle/>
        <a:p>
          <a:endParaRPr lang="en-US"/>
        </a:p>
      </dgm:t>
    </dgm:pt>
    <dgm:pt modelId="{3761F20A-5B84-5F4D-9BA8-CB89E2B88B23}" type="sibTrans" cxnId="{DCD3DFB9-01E7-764B-9B2E-B0BA9C4DA359}">
      <dgm:prSet/>
      <dgm:spPr/>
      <dgm:t>
        <a:bodyPr/>
        <a:lstStyle/>
        <a:p>
          <a:endParaRPr lang="en-US"/>
        </a:p>
      </dgm:t>
    </dgm:pt>
    <dgm:pt modelId="{B6C2C2AF-7D3E-9246-81B8-98F79C13556B}">
      <dgm:prSet phldrT="[Text]"/>
      <dgm:spPr>
        <a:ln w="127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40D663A-063F-D04C-91DB-CC1EE2E6BDD5}" type="parTrans" cxnId="{B2357061-19A7-4547-9D50-67410C2F4D53}">
      <dgm:prSet/>
      <dgm:spPr/>
      <dgm:t>
        <a:bodyPr/>
        <a:lstStyle/>
        <a:p>
          <a:endParaRPr lang="en-US"/>
        </a:p>
      </dgm:t>
    </dgm:pt>
    <dgm:pt modelId="{F12A9E39-6B65-6E47-8E11-69995E5B91EC}" type="sibTrans" cxnId="{B2357061-19A7-4547-9D50-67410C2F4D53}">
      <dgm:prSet/>
      <dgm:spPr/>
      <dgm:t>
        <a:bodyPr/>
        <a:lstStyle/>
        <a:p>
          <a:endParaRPr lang="en-US"/>
        </a:p>
      </dgm:t>
    </dgm:pt>
    <dgm:pt modelId="{E1C594E0-B9A1-2F49-AA0E-748D99241CFE}">
      <dgm:prSet phldrT="[Text]"/>
      <dgm:spPr>
        <a:ln w="127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78F539FA-D2F0-794F-85D3-2D508AB83417}" type="parTrans" cxnId="{5F86AF7B-63FA-6344-A4ED-B11661C0882B}">
      <dgm:prSet/>
      <dgm:spPr/>
      <dgm:t>
        <a:bodyPr/>
        <a:lstStyle/>
        <a:p>
          <a:endParaRPr lang="en-US"/>
        </a:p>
      </dgm:t>
    </dgm:pt>
    <dgm:pt modelId="{C419FD62-FC93-0E49-9D92-4FFB8397B598}" type="sibTrans" cxnId="{5F86AF7B-63FA-6344-A4ED-B11661C0882B}">
      <dgm:prSet/>
      <dgm:spPr/>
      <dgm:t>
        <a:bodyPr/>
        <a:lstStyle/>
        <a:p>
          <a:endParaRPr lang="en-US"/>
        </a:p>
      </dgm:t>
    </dgm:pt>
    <dgm:pt modelId="{AB417AC0-D171-114F-ADC2-5896D97C7BAB}" type="pres">
      <dgm:prSet presAssocID="{F2CD0C77-A5CE-A44B-8B65-8CF3A7B60949}" presName="Name0" presStyleCnt="0">
        <dgm:presLayoutVars>
          <dgm:dir/>
          <dgm:resizeHandles val="exact"/>
        </dgm:presLayoutVars>
      </dgm:prSet>
      <dgm:spPr/>
    </dgm:pt>
    <dgm:pt modelId="{15D21BAF-6514-B843-AC6C-978F29E8BC4E}" type="pres">
      <dgm:prSet presAssocID="{CFBB8C3F-12F6-0F4A-9541-934DF5DCFDB9}" presName="parTxOnly" presStyleLbl="node1" presStyleIdx="0" presStyleCnt="5">
        <dgm:presLayoutVars>
          <dgm:bulletEnabled val="1"/>
        </dgm:presLayoutVars>
      </dgm:prSet>
      <dgm:spPr/>
    </dgm:pt>
    <dgm:pt modelId="{78BEAB9F-F42C-8F4E-8064-E66292140545}" type="pres">
      <dgm:prSet presAssocID="{0F10FAD6-A995-A248-88AE-9AFFA1ADE281}" presName="parSpace" presStyleCnt="0"/>
      <dgm:spPr/>
    </dgm:pt>
    <dgm:pt modelId="{524BFA7F-1524-E44F-B167-7807A2B6DB98}" type="pres">
      <dgm:prSet presAssocID="{E1C594E0-B9A1-2F49-AA0E-748D99241CFE}" presName="parTxOnly" presStyleLbl="node1" presStyleIdx="1" presStyleCnt="5">
        <dgm:presLayoutVars>
          <dgm:bulletEnabled val="1"/>
        </dgm:presLayoutVars>
      </dgm:prSet>
      <dgm:spPr/>
    </dgm:pt>
    <dgm:pt modelId="{BFE4F5A8-2B12-544B-A5EA-8E320B64C948}" type="pres">
      <dgm:prSet presAssocID="{C419FD62-FC93-0E49-9D92-4FFB8397B598}" presName="parSpace" presStyleCnt="0"/>
      <dgm:spPr/>
    </dgm:pt>
    <dgm:pt modelId="{41324752-A46F-C24D-AFFC-2C005E91C10A}" type="pres">
      <dgm:prSet presAssocID="{B6C2C2AF-7D3E-9246-81B8-98F79C13556B}" presName="parTxOnly" presStyleLbl="node1" presStyleIdx="2" presStyleCnt="5">
        <dgm:presLayoutVars>
          <dgm:bulletEnabled val="1"/>
        </dgm:presLayoutVars>
      </dgm:prSet>
      <dgm:spPr/>
    </dgm:pt>
    <dgm:pt modelId="{E0284E75-F37B-0741-813B-7128F4974E84}" type="pres">
      <dgm:prSet presAssocID="{F12A9E39-6B65-6E47-8E11-69995E5B91EC}" presName="parSpace" presStyleCnt="0"/>
      <dgm:spPr/>
    </dgm:pt>
    <dgm:pt modelId="{5A8C1EEF-B8AC-144F-8D6D-25E877838F58}" type="pres">
      <dgm:prSet presAssocID="{244B0504-7192-5640-89BE-869D75BF89A8}" presName="parTxOnly" presStyleLbl="node1" presStyleIdx="3" presStyleCnt="5">
        <dgm:presLayoutVars>
          <dgm:bulletEnabled val="1"/>
        </dgm:presLayoutVars>
      </dgm:prSet>
      <dgm:spPr/>
    </dgm:pt>
    <dgm:pt modelId="{C1DB8AD3-FDCD-D14D-93C3-6538A1BF8342}" type="pres">
      <dgm:prSet presAssocID="{E7974CA9-C4B1-F449-B2A6-8E010592CD05}" presName="parSpace" presStyleCnt="0"/>
      <dgm:spPr/>
    </dgm:pt>
    <dgm:pt modelId="{67BB7844-5191-B749-BA22-99DF97FB468F}" type="pres">
      <dgm:prSet presAssocID="{156F2068-A074-3C46-8A0A-80F62BF79596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0CE5740F-5B35-6144-A138-226A271471AF}" srcId="{F2CD0C77-A5CE-A44B-8B65-8CF3A7B60949}" destId="{244B0504-7192-5640-89BE-869D75BF89A8}" srcOrd="3" destOrd="0" parTransId="{E1F151E5-3FBB-E348-8EFF-F30410C32C1E}" sibTransId="{E7974CA9-C4B1-F449-B2A6-8E010592CD05}"/>
    <dgm:cxn modelId="{6C9B4E17-8775-BF4F-8CBF-17D8E344595B}" type="presOf" srcId="{B6C2C2AF-7D3E-9246-81B8-98F79C13556B}" destId="{41324752-A46F-C24D-AFFC-2C005E91C10A}" srcOrd="0" destOrd="0" presId="urn:microsoft.com/office/officeart/2005/8/layout/hChevron3"/>
    <dgm:cxn modelId="{16EC9A32-5706-0E4F-8B78-C1D3B227BCF1}" type="presOf" srcId="{156F2068-A074-3C46-8A0A-80F62BF79596}" destId="{67BB7844-5191-B749-BA22-99DF97FB468F}" srcOrd="0" destOrd="0" presId="urn:microsoft.com/office/officeart/2005/8/layout/hChevron3"/>
    <dgm:cxn modelId="{ECC72647-7F09-D142-9501-3ED5D48889B2}" type="presOf" srcId="{CFBB8C3F-12F6-0F4A-9541-934DF5DCFDB9}" destId="{15D21BAF-6514-B843-AC6C-978F29E8BC4E}" srcOrd="0" destOrd="0" presId="urn:microsoft.com/office/officeart/2005/8/layout/hChevron3"/>
    <dgm:cxn modelId="{6A2F3D4A-0183-C843-AF82-CE497A4D21FE}" srcId="{F2CD0C77-A5CE-A44B-8B65-8CF3A7B60949}" destId="{CFBB8C3F-12F6-0F4A-9541-934DF5DCFDB9}" srcOrd="0" destOrd="0" parTransId="{D5BB943A-1D52-F04B-B233-7CAB2FDA3899}" sibTransId="{0F10FAD6-A995-A248-88AE-9AFFA1ADE281}"/>
    <dgm:cxn modelId="{B2357061-19A7-4547-9D50-67410C2F4D53}" srcId="{F2CD0C77-A5CE-A44B-8B65-8CF3A7B60949}" destId="{B6C2C2AF-7D3E-9246-81B8-98F79C13556B}" srcOrd="2" destOrd="0" parTransId="{540D663A-063F-D04C-91DB-CC1EE2E6BDD5}" sibTransId="{F12A9E39-6B65-6E47-8E11-69995E5B91EC}"/>
    <dgm:cxn modelId="{0E5CA571-8E6F-E341-AAA4-87B30F30C2C0}" type="presOf" srcId="{244B0504-7192-5640-89BE-869D75BF89A8}" destId="{5A8C1EEF-B8AC-144F-8D6D-25E877838F58}" srcOrd="0" destOrd="0" presId="urn:microsoft.com/office/officeart/2005/8/layout/hChevron3"/>
    <dgm:cxn modelId="{5F86AF7B-63FA-6344-A4ED-B11661C0882B}" srcId="{F2CD0C77-A5CE-A44B-8B65-8CF3A7B60949}" destId="{E1C594E0-B9A1-2F49-AA0E-748D99241CFE}" srcOrd="1" destOrd="0" parTransId="{78F539FA-D2F0-794F-85D3-2D508AB83417}" sibTransId="{C419FD62-FC93-0E49-9D92-4FFB8397B598}"/>
    <dgm:cxn modelId="{45DE5589-31A0-B34E-885C-9027D9850302}" type="presOf" srcId="{E1C594E0-B9A1-2F49-AA0E-748D99241CFE}" destId="{524BFA7F-1524-E44F-B167-7807A2B6DB98}" srcOrd="0" destOrd="0" presId="urn:microsoft.com/office/officeart/2005/8/layout/hChevron3"/>
    <dgm:cxn modelId="{DCD3DFB9-01E7-764B-9B2E-B0BA9C4DA359}" srcId="{F2CD0C77-A5CE-A44B-8B65-8CF3A7B60949}" destId="{156F2068-A074-3C46-8A0A-80F62BF79596}" srcOrd="4" destOrd="0" parTransId="{5B727013-ED0F-414D-B283-DE46B80FA582}" sibTransId="{3761F20A-5B84-5F4D-9BA8-CB89E2B88B23}"/>
    <dgm:cxn modelId="{E838C9C1-B7FE-084F-BE1C-51E7C53D5D16}" type="presOf" srcId="{F2CD0C77-A5CE-A44B-8B65-8CF3A7B60949}" destId="{AB417AC0-D171-114F-ADC2-5896D97C7BAB}" srcOrd="0" destOrd="0" presId="urn:microsoft.com/office/officeart/2005/8/layout/hChevron3"/>
    <dgm:cxn modelId="{C76AE9AB-5505-B04E-8E73-72AD9A8D0C27}" type="presParOf" srcId="{AB417AC0-D171-114F-ADC2-5896D97C7BAB}" destId="{15D21BAF-6514-B843-AC6C-978F29E8BC4E}" srcOrd="0" destOrd="0" presId="urn:microsoft.com/office/officeart/2005/8/layout/hChevron3"/>
    <dgm:cxn modelId="{9558E1E4-0868-7C4D-A175-5F692FB9CC28}" type="presParOf" srcId="{AB417AC0-D171-114F-ADC2-5896D97C7BAB}" destId="{78BEAB9F-F42C-8F4E-8064-E66292140545}" srcOrd="1" destOrd="0" presId="urn:microsoft.com/office/officeart/2005/8/layout/hChevron3"/>
    <dgm:cxn modelId="{59D5E829-4B95-634B-9AC5-BF0D34C3FB8A}" type="presParOf" srcId="{AB417AC0-D171-114F-ADC2-5896D97C7BAB}" destId="{524BFA7F-1524-E44F-B167-7807A2B6DB98}" srcOrd="2" destOrd="0" presId="urn:microsoft.com/office/officeart/2005/8/layout/hChevron3"/>
    <dgm:cxn modelId="{0FF2A99C-A31E-874E-B8EA-77D687338D7C}" type="presParOf" srcId="{AB417AC0-D171-114F-ADC2-5896D97C7BAB}" destId="{BFE4F5A8-2B12-544B-A5EA-8E320B64C948}" srcOrd="3" destOrd="0" presId="urn:microsoft.com/office/officeart/2005/8/layout/hChevron3"/>
    <dgm:cxn modelId="{FE7EF112-D459-6440-8673-54B5328F478D}" type="presParOf" srcId="{AB417AC0-D171-114F-ADC2-5896D97C7BAB}" destId="{41324752-A46F-C24D-AFFC-2C005E91C10A}" srcOrd="4" destOrd="0" presId="urn:microsoft.com/office/officeart/2005/8/layout/hChevron3"/>
    <dgm:cxn modelId="{6EBCF78B-1548-AF49-895C-FD3706F551B6}" type="presParOf" srcId="{AB417AC0-D171-114F-ADC2-5896D97C7BAB}" destId="{E0284E75-F37B-0741-813B-7128F4974E84}" srcOrd="5" destOrd="0" presId="urn:microsoft.com/office/officeart/2005/8/layout/hChevron3"/>
    <dgm:cxn modelId="{D3EA2DF7-56D2-FB49-B64A-EB7D3A2136D8}" type="presParOf" srcId="{AB417AC0-D171-114F-ADC2-5896D97C7BAB}" destId="{5A8C1EEF-B8AC-144F-8D6D-25E877838F58}" srcOrd="6" destOrd="0" presId="urn:microsoft.com/office/officeart/2005/8/layout/hChevron3"/>
    <dgm:cxn modelId="{D7EBFF2F-A2FE-A046-82C4-347CD609E31E}" type="presParOf" srcId="{AB417AC0-D171-114F-ADC2-5896D97C7BAB}" destId="{C1DB8AD3-FDCD-D14D-93C3-6538A1BF8342}" srcOrd="7" destOrd="0" presId="urn:microsoft.com/office/officeart/2005/8/layout/hChevron3"/>
    <dgm:cxn modelId="{6D5E49C9-1E9D-DC47-99FB-CEC069A74CD0}" type="presParOf" srcId="{AB417AC0-D171-114F-ADC2-5896D97C7BAB}" destId="{67BB7844-5191-B749-BA22-99DF97FB468F}" srcOrd="8" destOrd="0" presId="urn:microsoft.com/office/officeart/2005/8/layout/hChevron3"/>
  </dgm:cxnLst>
  <dgm:bg>
    <a:noFill/>
  </dgm:bg>
  <dgm:whole>
    <a:ln w="9525"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CD0C77-A5CE-A44B-8B65-8CF3A7B60949}" type="doc">
      <dgm:prSet loTypeId="urn:microsoft.com/office/officeart/2005/8/layout/hChevron3" loCatId="" qsTypeId="urn:microsoft.com/office/officeart/2005/8/quickstyle/simple1" qsCatId="simple" csTypeId="urn:microsoft.com/office/officeart/2005/8/colors/accent5_2" csCatId="accent5" phldr="1"/>
      <dgm:spPr/>
    </dgm:pt>
    <dgm:pt modelId="{6F2C9ED1-0FF5-D941-BE29-120087C873F9}">
      <dgm:prSet phldrT="[Text]"/>
      <dgm:spPr>
        <a:solidFill>
          <a:schemeClr val="accent5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en-US"/>
            <a:t> </a:t>
          </a:r>
        </a:p>
      </dgm:t>
    </dgm:pt>
    <dgm:pt modelId="{41FD0EE0-5F1A-0B4A-A7BD-29B085FE1531}" type="parTrans" cxnId="{CE8156CB-6C3D-494F-9CD9-FE87DA69F272}">
      <dgm:prSet/>
      <dgm:spPr/>
      <dgm:t>
        <a:bodyPr/>
        <a:lstStyle/>
        <a:p>
          <a:endParaRPr lang="en-US"/>
        </a:p>
      </dgm:t>
    </dgm:pt>
    <dgm:pt modelId="{7E05B1F0-97FF-384B-A4AF-84694B5FEF5C}" type="sibTrans" cxnId="{CE8156CB-6C3D-494F-9CD9-FE87DA69F272}">
      <dgm:prSet/>
      <dgm:spPr/>
      <dgm:t>
        <a:bodyPr/>
        <a:lstStyle/>
        <a:p>
          <a:endParaRPr lang="en-US"/>
        </a:p>
      </dgm:t>
    </dgm:pt>
    <dgm:pt modelId="{9B83C9CB-19C8-D448-9003-DF641058D3A1}">
      <dgm:prSet/>
      <dgm:spPr>
        <a:solidFill>
          <a:schemeClr val="accent5"/>
        </a:solidFill>
        <a:ln w="127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6AAA537-A5AF-F047-925C-353C1187F77A}" type="parTrans" cxnId="{511308E3-5458-BD47-83A5-5853057B0216}">
      <dgm:prSet/>
      <dgm:spPr/>
      <dgm:t>
        <a:bodyPr/>
        <a:lstStyle/>
        <a:p>
          <a:endParaRPr lang="en-US"/>
        </a:p>
      </dgm:t>
    </dgm:pt>
    <dgm:pt modelId="{3E1FBCD8-487C-0341-BBAB-69650BD6DFF8}" type="sibTrans" cxnId="{511308E3-5458-BD47-83A5-5853057B0216}">
      <dgm:prSet/>
      <dgm:spPr/>
      <dgm:t>
        <a:bodyPr/>
        <a:lstStyle/>
        <a:p>
          <a:endParaRPr lang="en-US"/>
        </a:p>
      </dgm:t>
    </dgm:pt>
    <dgm:pt modelId="{08460962-E1EE-A14B-8491-EFCCA2BFC212}">
      <dgm:prSet/>
      <dgm:spPr>
        <a:solidFill>
          <a:schemeClr val="accent5"/>
        </a:solidFill>
        <a:ln w="127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5CB3AE8-5CE3-8041-8B0A-6DDD354BD30D}" type="parTrans" cxnId="{D44CD60B-9736-4F48-A866-A9FD44DE3505}">
      <dgm:prSet/>
      <dgm:spPr/>
      <dgm:t>
        <a:bodyPr/>
        <a:lstStyle/>
        <a:p>
          <a:endParaRPr lang="en-US"/>
        </a:p>
      </dgm:t>
    </dgm:pt>
    <dgm:pt modelId="{C61BD8AE-6810-4D4E-9280-F453735C5408}" type="sibTrans" cxnId="{D44CD60B-9736-4F48-A866-A9FD44DE3505}">
      <dgm:prSet/>
      <dgm:spPr/>
      <dgm:t>
        <a:bodyPr/>
        <a:lstStyle/>
        <a:p>
          <a:endParaRPr lang="en-US"/>
        </a:p>
      </dgm:t>
    </dgm:pt>
    <dgm:pt modelId="{F20C4735-3998-8849-9670-27338234F072}">
      <dgm:prSet/>
      <dgm:spPr>
        <a:solidFill>
          <a:schemeClr val="accent5"/>
        </a:solidFill>
        <a:ln w="12700"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3F009A1-99CB-3448-AC3F-064DB5EC57EC}" type="parTrans" cxnId="{35EFE8A6-C338-C34E-B9B5-C7C18551F9B9}">
      <dgm:prSet/>
      <dgm:spPr/>
      <dgm:t>
        <a:bodyPr/>
        <a:lstStyle/>
        <a:p>
          <a:endParaRPr lang="en-US"/>
        </a:p>
      </dgm:t>
    </dgm:pt>
    <dgm:pt modelId="{05F4A398-BD78-BC40-92D6-30A953B09D43}" type="sibTrans" cxnId="{35EFE8A6-C338-C34E-B9B5-C7C18551F9B9}">
      <dgm:prSet/>
      <dgm:spPr/>
      <dgm:t>
        <a:bodyPr/>
        <a:lstStyle/>
        <a:p>
          <a:endParaRPr lang="en-US"/>
        </a:p>
      </dgm:t>
    </dgm:pt>
    <dgm:pt modelId="{E1D61EA6-C39A-4848-9ABD-0A8648336EAE}">
      <dgm:prSet/>
      <dgm:spPr>
        <a:solidFill>
          <a:schemeClr val="accent5"/>
        </a:solidFill>
      </dgm:spPr>
      <dgm:t>
        <a:bodyPr/>
        <a:lstStyle/>
        <a:p>
          <a:endParaRPr lang="en-US"/>
        </a:p>
      </dgm:t>
    </dgm:pt>
    <dgm:pt modelId="{DB99AFD8-867B-054D-90EB-ED7A4BCD8638}" type="parTrans" cxnId="{8F65AF80-9147-5A4F-9784-D4B0B8BD1A17}">
      <dgm:prSet/>
      <dgm:spPr/>
      <dgm:t>
        <a:bodyPr/>
        <a:lstStyle/>
        <a:p>
          <a:endParaRPr lang="en-US"/>
        </a:p>
      </dgm:t>
    </dgm:pt>
    <dgm:pt modelId="{2463B245-8FEC-944A-9BA2-8A19B6D0806A}" type="sibTrans" cxnId="{8F65AF80-9147-5A4F-9784-D4B0B8BD1A17}">
      <dgm:prSet/>
      <dgm:spPr/>
      <dgm:t>
        <a:bodyPr/>
        <a:lstStyle/>
        <a:p>
          <a:endParaRPr lang="en-US"/>
        </a:p>
      </dgm:t>
    </dgm:pt>
    <dgm:pt modelId="{5E7C213C-55AB-614A-B47E-FCDD5837E182}">
      <dgm:prSet/>
      <dgm:spPr/>
      <dgm:t>
        <a:bodyPr/>
        <a:lstStyle/>
        <a:p>
          <a:endParaRPr lang="en-US"/>
        </a:p>
      </dgm:t>
    </dgm:pt>
    <dgm:pt modelId="{AD201B1C-DAF7-AB45-A8E8-BE3E390B3CEF}" type="parTrans" cxnId="{036A9BD6-5276-D24C-AA6D-27EBD2798732}">
      <dgm:prSet/>
      <dgm:spPr/>
      <dgm:t>
        <a:bodyPr/>
        <a:lstStyle/>
        <a:p>
          <a:endParaRPr lang="en-US"/>
        </a:p>
      </dgm:t>
    </dgm:pt>
    <dgm:pt modelId="{643C300D-82B1-4946-91DE-AD3A8B0394EE}" type="sibTrans" cxnId="{036A9BD6-5276-D24C-AA6D-27EBD2798732}">
      <dgm:prSet/>
      <dgm:spPr/>
      <dgm:t>
        <a:bodyPr/>
        <a:lstStyle/>
        <a:p>
          <a:endParaRPr lang="en-US"/>
        </a:p>
      </dgm:t>
    </dgm:pt>
    <dgm:pt modelId="{AB417AC0-D171-114F-ADC2-5896D97C7BAB}" type="pres">
      <dgm:prSet presAssocID="{F2CD0C77-A5CE-A44B-8B65-8CF3A7B60949}" presName="Name0" presStyleCnt="0">
        <dgm:presLayoutVars>
          <dgm:dir/>
          <dgm:resizeHandles val="exact"/>
        </dgm:presLayoutVars>
      </dgm:prSet>
      <dgm:spPr/>
    </dgm:pt>
    <dgm:pt modelId="{C8C65B4A-D6E5-8344-BD50-C494CBB1E660}" type="pres">
      <dgm:prSet presAssocID="{E1D61EA6-C39A-4848-9ABD-0A8648336EAE}" presName="parTxOnly" presStyleLbl="node1" presStyleIdx="0" presStyleCnt="6">
        <dgm:presLayoutVars>
          <dgm:bulletEnabled val="1"/>
        </dgm:presLayoutVars>
      </dgm:prSet>
      <dgm:spPr/>
    </dgm:pt>
    <dgm:pt modelId="{C1F0F64C-BC8E-5A44-B336-2FB78CCB7EF8}" type="pres">
      <dgm:prSet presAssocID="{2463B245-8FEC-944A-9BA2-8A19B6D0806A}" presName="parSpace" presStyleCnt="0"/>
      <dgm:spPr/>
    </dgm:pt>
    <dgm:pt modelId="{623F993A-5ADE-9848-A341-E0F07CF81288}" type="pres">
      <dgm:prSet presAssocID="{5E7C213C-55AB-614A-B47E-FCDD5837E182}" presName="parTxOnly" presStyleLbl="node1" presStyleIdx="1" presStyleCnt="6">
        <dgm:presLayoutVars>
          <dgm:bulletEnabled val="1"/>
        </dgm:presLayoutVars>
      </dgm:prSet>
      <dgm:spPr/>
    </dgm:pt>
    <dgm:pt modelId="{2D055580-72A1-4941-8462-6CEA4F5C2D19}" type="pres">
      <dgm:prSet presAssocID="{643C300D-82B1-4946-91DE-AD3A8B0394EE}" presName="parSpace" presStyleCnt="0"/>
      <dgm:spPr/>
    </dgm:pt>
    <dgm:pt modelId="{D70FCC71-E277-8E48-A26E-22D9B8BCB589}" type="pres">
      <dgm:prSet presAssocID="{9B83C9CB-19C8-D448-9003-DF641058D3A1}" presName="parTxOnly" presStyleLbl="node1" presStyleIdx="2" presStyleCnt="6">
        <dgm:presLayoutVars>
          <dgm:bulletEnabled val="1"/>
        </dgm:presLayoutVars>
      </dgm:prSet>
      <dgm:spPr/>
    </dgm:pt>
    <dgm:pt modelId="{2B79DC13-A969-AB48-A801-8782A3B72DC4}" type="pres">
      <dgm:prSet presAssocID="{3E1FBCD8-487C-0341-BBAB-69650BD6DFF8}" presName="parSpace" presStyleCnt="0"/>
      <dgm:spPr/>
    </dgm:pt>
    <dgm:pt modelId="{BF6EBAAB-44A4-6D44-A69B-61E5B85B533D}" type="pres">
      <dgm:prSet presAssocID="{08460962-E1EE-A14B-8491-EFCCA2BFC212}" presName="parTxOnly" presStyleLbl="node1" presStyleIdx="3" presStyleCnt="6">
        <dgm:presLayoutVars>
          <dgm:bulletEnabled val="1"/>
        </dgm:presLayoutVars>
      </dgm:prSet>
      <dgm:spPr/>
    </dgm:pt>
    <dgm:pt modelId="{13072F27-EC33-1147-861A-37FE554EB1F5}" type="pres">
      <dgm:prSet presAssocID="{C61BD8AE-6810-4D4E-9280-F453735C5408}" presName="parSpace" presStyleCnt="0"/>
      <dgm:spPr/>
    </dgm:pt>
    <dgm:pt modelId="{D7474BC0-96F3-A343-A5D3-B3192FB8D886}" type="pres">
      <dgm:prSet presAssocID="{F20C4735-3998-8849-9670-27338234F072}" presName="parTxOnly" presStyleLbl="node1" presStyleIdx="4" presStyleCnt="6">
        <dgm:presLayoutVars>
          <dgm:bulletEnabled val="1"/>
        </dgm:presLayoutVars>
      </dgm:prSet>
      <dgm:spPr/>
    </dgm:pt>
    <dgm:pt modelId="{50EBCCB7-4892-DB4A-ABB2-2BF0F79CC1B8}" type="pres">
      <dgm:prSet presAssocID="{05F4A398-BD78-BC40-92D6-30A953B09D43}" presName="parSpace" presStyleCnt="0"/>
      <dgm:spPr/>
    </dgm:pt>
    <dgm:pt modelId="{54829899-E6B6-1240-A36F-7F608C363CAB}" type="pres">
      <dgm:prSet presAssocID="{6F2C9ED1-0FF5-D941-BE29-120087C873F9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D44CD60B-9736-4F48-A866-A9FD44DE3505}" srcId="{F2CD0C77-A5CE-A44B-8B65-8CF3A7B60949}" destId="{08460962-E1EE-A14B-8491-EFCCA2BFC212}" srcOrd="3" destOrd="0" parTransId="{55CB3AE8-5CE3-8041-8B0A-6DDD354BD30D}" sibTransId="{C61BD8AE-6810-4D4E-9280-F453735C5408}"/>
    <dgm:cxn modelId="{06312119-A5DF-E64C-9543-5892ED8C80BC}" type="presOf" srcId="{9B83C9CB-19C8-D448-9003-DF641058D3A1}" destId="{D70FCC71-E277-8E48-A26E-22D9B8BCB589}" srcOrd="0" destOrd="0" presId="urn:microsoft.com/office/officeart/2005/8/layout/hChevron3"/>
    <dgm:cxn modelId="{54573F19-2885-604E-BA2C-855C83DF523E}" type="presOf" srcId="{F20C4735-3998-8849-9670-27338234F072}" destId="{D7474BC0-96F3-A343-A5D3-B3192FB8D886}" srcOrd="0" destOrd="0" presId="urn:microsoft.com/office/officeart/2005/8/layout/hChevron3"/>
    <dgm:cxn modelId="{7AF9B442-35E0-0E47-83AC-845408C3D13F}" type="presOf" srcId="{E1D61EA6-C39A-4848-9ABD-0A8648336EAE}" destId="{C8C65B4A-D6E5-8344-BD50-C494CBB1E660}" srcOrd="0" destOrd="0" presId="urn:microsoft.com/office/officeart/2005/8/layout/hChevron3"/>
    <dgm:cxn modelId="{A0BB5266-BC5E-9544-91B6-F2D604D400A5}" type="presOf" srcId="{08460962-E1EE-A14B-8491-EFCCA2BFC212}" destId="{BF6EBAAB-44A4-6D44-A69B-61E5B85B533D}" srcOrd="0" destOrd="0" presId="urn:microsoft.com/office/officeart/2005/8/layout/hChevron3"/>
    <dgm:cxn modelId="{8F65AF80-9147-5A4F-9784-D4B0B8BD1A17}" srcId="{F2CD0C77-A5CE-A44B-8B65-8CF3A7B60949}" destId="{E1D61EA6-C39A-4848-9ABD-0A8648336EAE}" srcOrd="0" destOrd="0" parTransId="{DB99AFD8-867B-054D-90EB-ED7A4BCD8638}" sibTransId="{2463B245-8FEC-944A-9BA2-8A19B6D0806A}"/>
    <dgm:cxn modelId="{872D3593-19EC-5F41-9FE6-F6F7BE868739}" type="presOf" srcId="{5E7C213C-55AB-614A-B47E-FCDD5837E182}" destId="{623F993A-5ADE-9848-A341-E0F07CF81288}" srcOrd="0" destOrd="0" presId="urn:microsoft.com/office/officeart/2005/8/layout/hChevron3"/>
    <dgm:cxn modelId="{35EFE8A6-C338-C34E-B9B5-C7C18551F9B9}" srcId="{F2CD0C77-A5CE-A44B-8B65-8CF3A7B60949}" destId="{F20C4735-3998-8849-9670-27338234F072}" srcOrd="4" destOrd="0" parTransId="{F3F009A1-99CB-3448-AC3F-064DB5EC57EC}" sibTransId="{05F4A398-BD78-BC40-92D6-30A953B09D43}"/>
    <dgm:cxn modelId="{E838C9C1-B7FE-084F-BE1C-51E7C53D5D16}" type="presOf" srcId="{F2CD0C77-A5CE-A44B-8B65-8CF3A7B60949}" destId="{AB417AC0-D171-114F-ADC2-5896D97C7BAB}" srcOrd="0" destOrd="0" presId="urn:microsoft.com/office/officeart/2005/8/layout/hChevron3"/>
    <dgm:cxn modelId="{CE8156CB-6C3D-494F-9CD9-FE87DA69F272}" srcId="{F2CD0C77-A5CE-A44B-8B65-8CF3A7B60949}" destId="{6F2C9ED1-0FF5-D941-BE29-120087C873F9}" srcOrd="5" destOrd="0" parTransId="{41FD0EE0-5F1A-0B4A-A7BD-29B085FE1531}" sibTransId="{7E05B1F0-97FF-384B-A4AF-84694B5FEF5C}"/>
    <dgm:cxn modelId="{E32190D3-C5F2-EC4B-B8F9-20663E90B48A}" type="presOf" srcId="{6F2C9ED1-0FF5-D941-BE29-120087C873F9}" destId="{54829899-E6B6-1240-A36F-7F608C363CAB}" srcOrd="0" destOrd="0" presId="urn:microsoft.com/office/officeart/2005/8/layout/hChevron3"/>
    <dgm:cxn modelId="{036A9BD6-5276-D24C-AA6D-27EBD2798732}" srcId="{F2CD0C77-A5CE-A44B-8B65-8CF3A7B60949}" destId="{5E7C213C-55AB-614A-B47E-FCDD5837E182}" srcOrd="1" destOrd="0" parTransId="{AD201B1C-DAF7-AB45-A8E8-BE3E390B3CEF}" sibTransId="{643C300D-82B1-4946-91DE-AD3A8B0394EE}"/>
    <dgm:cxn modelId="{511308E3-5458-BD47-83A5-5853057B0216}" srcId="{F2CD0C77-A5CE-A44B-8B65-8CF3A7B60949}" destId="{9B83C9CB-19C8-D448-9003-DF641058D3A1}" srcOrd="2" destOrd="0" parTransId="{F6AAA537-A5AF-F047-925C-353C1187F77A}" sibTransId="{3E1FBCD8-487C-0341-BBAB-69650BD6DFF8}"/>
    <dgm:cxn modelId="{4212BDDC-18ED-C84C-8ED3-9EC94C338B62}" type="presParOf" srcId="{AB417AC0-D171-114F-ADC2-5896D97C7BAB}" destId="{C8C65B4A-D6E5-8344-BD50-C494CBB1E660}" srcOrd="0" destOrd="0" presId="urn:microsoft.com/office/officeart/2005/8/layout/hChevron3"/>
    <dgm:cxn modelId="{B84AD7DB-3249-4245-8260-38DC5A893013}" type="presParOf" srcId="{AB417AC0-D171-114F-ADC2-5896D97C7BAB}" destId="{C1F0F64C-BC8E-5A44-B336-2FB78CCB7EF8}" srcOrd="1" destOrd="0" presId="urn:microsoft.com/office/officeart/2005/8/layout/hChevron3"/>
    <dgm:cxn modelId="{36DC82B9-0429-1F4D-9198-AD9C73E5D120}" type="presParOf" srcId="{AB417AC0-D171-114F-ADC2-5896D97C7BAB}" destId="{623F993A-5ADE-9848-A341-E0F07CF81288}" srcOrd="2" destOrd="0" presId="urn:microsoft.com/office/officeart/2005/8/layout/hChevron3"/>
    <dgm:cxn modelId="{175A0992-799F-FD44-9EDE-84E11DC8D195}" type="presParOf" srcId="{AB417AC0-D171-114F-ADC2-5896D97C7BAB}" destId="{2D055580-72A1-4941-8462-6CEA4F5C2D19}" srcOrd="3" destOrd="0" presId="urn:microsoft.com/office/officeart/2005/8/layout/hChevron3"/>
    <dgm:cxn modelId="{C87A74D8-FBFC-3B41-9DDA-9ECDCDFB3E8D}" type="presParOf" srcId="{AB417AC0-D171-114F-ADC2-5896D97C7BAB}" destId="{D70FCC71-E277-8E48-A26E-22D9B8BCB589}" srcOrd="4" destOrd="0" presId="urn:microsoft.com/office/officeart/2005/8/layout/hChevron3"/>
    <dgm:cxn modelId="{9E52EAE8-669F-A04C-ABB1-9C09A6DA98FE}" type="presParOf" srcId="{AB417AC0-D171-114F-ADC2-5896D97C7BAB}" destId="{2B79DC13-A969-AB48-A801-8782A3B72DC4}" srcOrd="5" destOrd="0" presId="urn:microsoft.com/office/officeart/2005/8/layout/hChevron3"/>
    <dgm:cxn modelId="{B921C346-5E95-F347-ADA8-D7C599154BC9}" type="presParOf" srcId="{AB417AC0-D171-114F-ADC2-5896D97C7BAB}" destId="{BF6EBAAB-44A4-6D44-A69B-61E5B85B533D}" srcOrd="6" destOrd="0" presId="urn:microsoft.com/office/officeart/2005/8/layout/hChevron3"/>
    <dgm:cxn modelId="{803F1342-D13E-0746-AF9E-9591268D734E}" type="presParOf" srcId="{AB417AC0-D171-114F-ADC2-5896D97C7BAB}" destId="{13072F27-EC33-1147-861A-37FE554EB1F5}" srcOrd="7" destOrd="0" presId="urn:microsoft.com/office/officeart/2005/8/layout/hChevron3"/>
    <dgm:cxn modelId="{E3A49AEF-12BE-5946-A2D7-7B2DBA253AD3}" type="presParOf" srcId="{AB417AC0-D171-114F-ADC2-5896D97C7BAB}" destId="{D7474BC0-96F3-A343-A5D3-B3192FB8D886}" srcOrd="8" destOrd="0" presId="urn:microsoft.com/office/officeart/2005/8/layout/hChevron3"/>
    <dgm:cxn modelId="{59E93133-824C-B945-A713-06D1B4AE4FE3}" type="presParOf" srcId="{AB417AC0-D171-114F-ADC2-5896D97C7BAB}" destId="{50EBCCB7-4892-DB4A-ABB2-2BF0F79CC1B8}" srcOrd="9" destOrd="0" presId="urn:microsoft.com/office/officeart/2005/8/layout/hChevron3"/>
    <dgm:cxn modelId="{976EC15E-B64A-4E4C-A84B-0FD5C547A2B7}" type="presParOf" srcId="{AB417AC0-D171-114F-ADC2-5896D97C7BAB}" destId="{54829899-E6B6-1240-A36F-7F608C363CAB}" srcOrd="10" destOrd="0" presId="urn:microsoft.com/office/officeart/2005/8/layout/hChevron3"/>
  </dgm:cxnLst>
  <dgm:bg>
    <a:solidFill>
      <a:schemeClr val="accent5"/>
    </a:solidFill>
  </dgm:bg>
  <dgm:whole>
    <a:ln w="9525">
      <a:noFill/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D9955E-2E27-EB46-84C2-5E265D19DC0A}" type="doc">
      <dgm:prSet loTypeId="urn:microsoft.com/office/officeart/2005/8/layout/hChevron3" loCatId="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0A70B967-B06A-8944-A2C0-8FB5C54A7A88}">
      <dgm:prSet phldrT="[Text]" custT="1"/>
      <dgm:spPr>
        <a:solidFill>
          <a:srgbClr val="002060"/>
        </a:solidFill>
      </dgm:spPr>
      <dgm:t>
        <a:bodyPr/>
        <a:lstStyle/>
        <a:p>
          <a:r>
            <a:rPr lang="en-US" sz="1800">
              <a:latin typeface="Rockwell" panose="02060603020205020403" pitchFamily="18" charset="77"/>
            </a:rPr>
            <a:t>Introduction</a:t>
          </a:r>
        </a:p>
      </dgm:t>
    </dgm:pt>
    <dgm:pt modelId="{728DB5AA-5211-E84E-B0BC-BE850B352674}" type="parTrans" cxnId="{C8A02B59-A61D-0D4A-922A-661AB6EA4341}">
      <dgm:prSet/>
      <dgm:spPr/>
      <dgm:t>
        <a:bodyPr/>
        <a:lstStyle/>
        <a:p>
          <a:endParaRPr lang="en-US"/>
        </a:p>
      </dgm:t>
    </dgm:pt>
    <dgm:pt modelId="{5F13F9EB-E8AE-7C47-8771-6BC013730AEE}" type="sibTrans" cxnId="{C8A02B59-A61D-0D4A-922A-661AB6EA4341}">
      <dgm:prSet/>
      <dgm:spPr/>
      <dgm:t>
        <a:bodyPr/>
        <a:lstStyle/>
        <a:p>
          <a:endParaRPr lang="en-US"/>
        </a:p>
      </dgm:t>
    </dgm:pt>
    <dgm:pt modelId="{03498A52-EA30-3C42-BEE4-99E6960F17DD}">
      <dgm:prSet phldrT="[Text]" custT="1"/>
      <dgm:spPr>
        <a:solidFill>
          <a:srgbClr val="1F3D84"/>
        </a:solidFill>
      </dgm:spPr>
      <dgm:t>
        <a:bodyPr/>
        <a:lstStyle/>
        <a:p>
          <a:r>
            <a:rPr lang="en-US" sz="1800">
              <a:latin typeface="Rockwell" panose="02060603020205020403" pitchFamily="18" charset="77"/>
            </a:rPr>
            <a:t>Consulting</a:t>
          </a:r>
          <a:r>
            <a:rPr lang="en-US" sz="1800" baseline="0">
              <a:latin typeface="Rockwell" panose="02060603020205020403" pitchFamily="18" charset="77"/>
            </a:rPr>
            <a:t> Interviews</a:t>
          </a:r>
          <a:endParaRPr lang="en-US" sz="1800">
            <a:latin typeface="Rockwell" panose="02060603020205020403" pitchFamily="18" charset="77"/>
          </a:endParaRPr>
        </a:p>
      </dgm:t>
    </dgm:pt>
    <dgm:pt modelId="{D998842A-2D69-0347-AE46-33C4E7E7D493}" type="parTrans" cxnId="{86137ED1-2CF2-FA44-B87E-78DF9C308F23}">
      <dgm:prSet/>
      <dgm:spPr/>
      <dgm:t>
        <a:bodyPr/>
        <a:lstStyle/>
        <a:p>
          <a:endParaRPr lang="en-US"/>
        </a:p>
      </dgm:t>
    </dgm:pt>
    <dgm:pt modelId="{8982B40C-594C-CC4C-8F17-A216B0E42637}" type="sibTrans" cxnId="{86137ED1-2CF2-FA44-B87E-78DF9C308F23}">
      <dgm:prSet/>
      <dgm:spPr/>
      <dgm:t>
        <a:bodyPr/>
        <a:lstStyle/>
        <a:p>
          <a:endParaRPr lang="en-US"/>
        </a:p>
      </dgm:t>
    </dgm:pt>
    <dgm:pt modelId="{BCA9D81B-3A12-E24E-9A45-8CDF31E611F8}">
      <dgm:prSet phldrT="[Text]" custT="1"/>
      <dgm:spPr>
        <a:solidFill>
          <a:srgbClr val="1F3D84"/>
        </a:solidFill>
      </dgm:spPr>
      <dgm:t>
        <a:bodyPr/>
        <a:lstStyle/>
        <a:p>
          <a:r>
            <a:rPr lang="en-US" sz="1800">
              <a:latin typeface="Rockwell" panose="02060603020205020403" pitchFamily="18" charset="77"/>
            </a:rPr>
            <a:t>Case Interviews</a:t>
          </a:r>
        </a:p>
      </dgm:t>
    </dgm:pt>
    <dgm:pt modelId="{CD77B948-066F-184D-8FB6-163843E73345}" type="parTrans" cxnId="{CE704F70-C7B0-054D-A78F-4213B27B1096}">
      <dgm:prSet/>
      <dgm:spPr/>
      <dgm:t>
        <a:bodyPr/>
        <a:lstStyle/>
        <a:p>
          <a:endParaRPr lang="en-US"/>
        </a:p>
      </dgm:t>
    </dgm:pt>
    <dgm:pt modelId="{7E0581A2-46F6-B94B-8B62-0E9718A8D009}" type="sibTrans" cxnId="{CE704F70-C7B0-054D-A78F-4213B27B1096}">
      <dgm:prSet/>
      <dgm:spPr/>
      <dgm:t>
        <a:bodyPr/>
        <a:lstStyle/>
        <a:p>
          <a:endParaRPr lang="en-US"/>
        </a:p>
      </dgm:t>
    </dgm:pt>
    <dgm:pt modelId="{43EE4A0B-D956-A347-B803-9E221EFEF1C0}">
      <dgm:prSet custT="1"/>
      <dgm:spPr>
        <a:solidFill>
          <a:srgbClr val="1F3D84"/>
        </a:solidFill>
      </dgm:spPr>
      <dgm:t>
        <a:bodyPr/>
        <a:lstStyle/>
        <a:p>
          <a:r>
            <a:rPr lang="en-US" sz="1800">
              <a:latin typeface="Rockwell" panose="02060603020205020403" pitchFamily="18" charset="77"/>
            </a:rPr>
            <a:t>NLCG Discussion</a:t>
          </a:r>
        </a:p>
      </dgm:t>
    </dgm:pt>
    <dgm:pt modelId="{D71B3FD0-B049-B643-B779-BF2CD8341BF2}" type="parTrans" cxnId="{C479999D-F193-BE43-BB43-CD96BC76A803}">
      <dgm:prSet/>
      <dgm:spPr/>
      <dgm:t>
        <a:bodyPr/>
        <a:lstStyle/>
        <a:p>
          <a:endParaRPr lang="en-US"/>
        </a:p>
      </dgm:t>
    </dgm:pt>
    <dgm:pt modelId="{59A9741C-33EB-E745-A7F2-7CDAE9A78AD2}" type="sibTrans" cxnId="{C479999D-F193-BE43-BB43-CD96BC76A803}">
      <dgm:prSet/>
      <dgm:spPr/>
      <dgm:t>
        <a:bodyPr/>
        <a:lstStyle/>
        <a:p>
          <a:endParaRPr lang="en-US"/>
        </a:p>
      </dgm:t>
    </dgm:pt>
    <dgm:pt modelId="{2389309D-B969-2044-8187-0D1AC41BD049}">
      <dgm:prSet/>
      <dgm:spPr>
        <a:solidFill>
          <a:srgbClr val="1F3D84"/>
        </a:solidFill>
      </dgm:spPr>
      <dgm:t>
        <a:bodyPr/>
        <a:lstStyle/>
        <a:p>
          <a:r>
            <a:rPr lang="en-US">
              <a:latin typeface="Rockwell" panose="02060603020205020403" pitchFamily="18" charset="77"/>
            </a:rPr>
            <a:t>Looking Ahead</a:t>
          </a:r>
        </a:p>
      </dgm:t>
    </dgm:pt>
    <dgm:pt modelId="{E07CA9CE-D199-404F-83EB-4CA9CDBA5DBB}" type="parTrans" cxnId="{040BD312-62C0-BB4D-97C0-B624E074191C}">
      <dgm:prSet/>
      <dgm:spPr/>
      <dgm:t>
        <a:bodyPr/>
        <a:lstStyle/>
        <a:p>
          <a:endParaRPr lang="en-US"/>
        </a:p>
      </dgm:t>
    </dgm:pt>
    <dgm:pt modelId="{5D60E82C-973D-B649-80F6-C75D400B925D}" type="sibTrans" cxnId="{040BD312-62C0-BB4D-97C0-B624E074191C}">
      <dgm:prSet/>
      <dgm:spPr/>
      <dgm:t>
        <a:bodyPr/>
        <a:lstStyle/>
        <a:p>
          <a:endParaRPr lang="en-US"/>
        </a:p>
      </dgm:t>
    </dgm:pt>
    <dgm:pt modelId="{D3381922-4451-4A40-8E35-63E79B7E9149}" type="pres">
      <dgm:prSet presAssocID="{93D9955E-2E27-EB46-84C2-5E265D19DC0A}" presName="Name0" presStyleCnt="0">
        <dgm:presLayoutVars>
          <dgm:dir/>
          <dgm:resizeHandles val="exact"/>
        </dgm:presLayoutVars>
      </dgm:prSet>
      <dgm:spPr/>
    </dgm:pt>
    <dgm:pt modelId="{E65E662C-4B93-B943-BC37-8977660506A4}" type="pres">
      <dgm:prSet presAssocID="{0A70B967-B06A-8944-A2C0-8FB5C54A7A88}" presName="parTxOnly" presStyleLbl="node1" presStyleIdx="0" presStyleCnt="5">
        <dgm:presLayoutVars>
          <dgm:bulletEnabled val="1"/>
        </dgm:presLayoutVars>
      </dgm:prSet>
      <dgm:spPr/>
    </dgm:pt>
    <dgm:pt modelId="{159911FB-9461-354A-AF80-D421C627076F}" type="pres">
      <dgm:prSet presAssocID="{5F13F9EB-E8AE-7C47-8771-6BC013730AEE}" presName="parSpace" presStyleCnt="0"/>
      <dgm:spPr/>
    </dgm:pt>
    <dgm:pt modelId="{FF3C59E6-7D30-6948-A08D-5B713C8F7538}" type="pres">
      <dgm:prSet presAssocID="{03498A52-EA30-3C42-BEE4-99E6960F17DD}" presName="parTxOnly" presStyleLbl="node1" presStyleIdx="1" presStyleCnt="5">
        <dgm:presLayoutVars>
          <dgm:bulletEnabled val="1"/>
        </dgm:presLayoutVars>
      </dgm:prSet>
      <dgm:spPr/>
    </dgm:pt>
    <dgm:pt modelId="{DE2D58D4-A9FB-AD4D-806D-865DA4296928}" type="pres">
      <dgm:prSet presAssocID="{8982B40C-594C-CC4C-8F17-A216B0E42637}" presName="parSpace" presStyleCnt="0"/>
      <dgm:spPr/>
    </dgm:pt>
    <dgm:pt modelId="{DA30C365-1CC8-3D4B-BC81-6FFECBE6E73F}" type="pres">
      <dgm:prSet presAssocID="{BCA9D81B-3A12-E24E-9A45-8CDF31E611F8}" presName="parTxOnly" presStyleLbl="node1" presStyleIdx="2" presStyleCnt="5">
        <dgm:presLayoutVars>
          <dgm:bulletEnabled val="1"/>
        </dgm:presLayoutVars>
      </dgm:prSet>
      <dgm:spPr/>
    </dgm:pt>
    <dgm:pt modelId="{401ADDA4-D7C1-E349-8F49-C0EE567A73F5}" type="pres">
      <dgm:prSet presAssocID="{7E0581A2-46F6-B94B-8B62-0E9718A8D009}" presName="parSpace" presStyleCnt="0"/>
      <dgm:spPr/>
    </dgm:pt>
    <dgm:pt modelId="{66337293-E14A-E54C-A370-142BA1C4D08A}" type="pres">
      <dgm:prSet presAssocID="{43EE4A0B-D956-A347-B803-9E221EFEF1C0}" presName="parTxOnly" presStyleLbl="node1" presStyleIdx="3" presStyleCnt="5">
        <dgm:presLayoutVars>
          <dgm:bulletEnabled val="1"/>
        </dgm:presLayoutVars>
      </dgm:prSet>
      <dgm:spPr/>
    </dgm:pt>
    <dgm:pt modelId="{5B9E89F6-F87A-4C48-8B3A-0B25F1383024}" type="pres">
      <dgm:prSet presAssocID="{59A9741C-33EB-E745-A7F2-7CDAE9A78AD2}" presName="parSpace" presStyleCnt="0"/>
      <dgm:spPr/>
    </dgm:pt>
    <dgm:pt modelId="{7B88F58E-182E-C24E-9EEA-9CCC89296463}" type="pres">
      <dgm:prSet presAssocID="{2389309D-B969-2044-8187-0D1AC41BD049}" presName="parTxOnly" presStyleLbl="node1" presStyleIdx="4" presStyleCnt="5" custLinFactNeighborX="-205" custLinFactNeighborY="2791">
        <dgm:presLayoutVars>
          <dgm:bulletEnabled val="1"/>
        </dgm:presLayoutVars>
      </dgm:prSet>
      <dgm:spPr/>
    </dgm:pt>
  </dgm:ptLst>
  <dgm:cxnLst>
    <dgm:cxn modelId="{796D3509-9BD6-BD4D-8028-2A7FD9FE27C6}" type="presOf" srcId="{43EE4A0B-D956-A347-B803-9E221EFEF1C0}" destId="{66337293-E14A-E54C-A370-142BA1C4D08A}" srcOrd="0" destOrd="0" presId="urn:microsoft.com/office/officeart/2005/8/layout/hChevron3"/>
    <dgm:cxn modelId="{040BD312-62C0-BB4D-97C0-B624E074191C}" srcId="{93D9955E-2E27-EB46-84C2-5E265D19DC0A}" destId="{2389309D-B969-2044-8187-0D1AC41BD049}" srcOrd="4" destOrd="0" parTransId="{E07CA9CE-D199-404F-83EB-4CA9CDBA5DBB}" sibTransId="{5D60E82C-973D-B649-80F6-C75D400B925D}"/>
    <dgm:cxn modelId="{30C18D30-727D-6547-B132-39876118C452}" type="presOf" srcId="{BCA9D81B-3A12-E24E-9A45-8CDF31E611F8}" destId="{DA30C365-1CC8-3D4B-BC81-6FFECBE6E73F}" srcOrd="0" destOrd="0" presId="urn:microsoft.com/office/officeart/2005/8/layout/hChevron3"/>
    <dgm:cxn modelId="{C8A02B59-A61D-0D4A-922A-661AB6EA4341}" srcId="{93D9955E-2E27-EB46-84C2-5E265D19DC0A}" destId="{0A70B967-B06A-8944-A2C0-8FB5C54A7A88}" srcOrd="0" destOrd="0" parTransId="{728DB5AA-5211-E84E-B0BC-BE850B352674}" sibTransId="{5F13F9EB-E8AE-7C47-8771-6BC013730AEE}"/>
    <dgm:cxn modelId="{CE704F70-C7B0-054D-A78F-4213B27B1096}" srcId="{93D9955E-2E27-EB46-84C2-5E265D19DC0A}" destId="{BCA9D81B-3A12-E24E-9A45-8CDF31E611F8}" srcOrd="2" destOrd="0" parTransId="{CD77B948-066F-184D-8FB6-163843E73345}" sibTransId="{7E0581A2-46F6-B94B-8B62-0E9718A8D009}"/>
    <dgm:cxn modelId="{C479999D-F193-BE43-BB43-CD96BC76A803}" srcId="{93D9955E-2E27-EB46-84C2-5E265D19DC0A}" destId="{43EE4A0B-D956-A347-B803-9E221EFEF1C0}" srcOrd="3" destOrd="0" parTransId="{D71B3FD0-B049-B643-B779-BF2CD8341BF2}" sibTransId="{59A9741C-33EB-E745-A7F2-7CDAE9A78AD2}"/>
    <dgm:cxn modelId="{D30A2EB3-8B81-F643-BFF3-D1C82BA21CE4}" type="presOf" srcId="{0A70B967-B06A-8944-A2C0-8FB5C54A7A88}" destId="{E65E662C-4B93-B943-BC37-8977660506A4}" srcOrd="0" destOrd="0" presId="urn:microsoft.com/office/officeart/2005/8/layout/hChevron3"/>
    <dgm:cxn modelId="{E0313BBC-47CE-F24C-A9B8-509380F0D6EE}" type="presOf" srcId="{2389309D-B969-2044-8187-0D1AC41BD049}" destId="{7B88F58E-182E-C24E-9EEA-9CCC89296463}" srcOrd="0" destOrd="0" presId="urn:microsoft.com/office/officeart/2005/8/layout/hChevron3"/>
    <dgm:cxn modelId="{30F2E7CD-916E-454D-9C1C-86959C9EB9B0}" type="presOf" srcId="{93D9955E-2E27-EB46-84C2-5E265D19DC0A}" destId="{D3381922-4451-4A40-8E35-63E79B7E9149}" srcOrd="0" destOrd="0" presId="urn:microsoft.com/office/officeart/2005/8/layout/hChevron3"/>
    <dgm:cxn modelId="{86137ED1-2CF2-FA44-B87E-78DF9C308F23}" srcId="{93D9955E-2E27-EB46-84C2-5E265D19DC0A}" destId="{03498A52-EA30-3C42-BEE4-99E6960F17DD}" srcOrd="1" destOrd="0" parTransId="{D998842A-2D69-0347-AE46-33C4E7E7D493}" sibTransId="{8982B40C-594C-CC4C-8F17-A216B0E42637}"/>
    <dgm:cxn modelId="{F191ADD9-727D-C146-8164-822082A92E61}" type="presOf" srcId="{03498A52-EA30-3C42-BEE4-99E6960F17DD}" destId="{FF3C59E6-7D30-6948-A08D-5B713C8F7538}" srcOrd="0" destOrd="0" presId="urn:microsoft.com/office/officeart/2005/8/layout/hChevron3"/>
    <dgm:cxn modelId="{3017A9A5-01E8-FA4A-BD95-4F98CBB06144}" type="presParOf" srcId="{D3381922-4451-4A40-8E35-63E79B7E9149}" destId="{E65E662C-4B93-B943-BC37-8977660506A4}" srcOrd="0" destOrd="0" presId="urn:microsoft.com/office/officeart/2005/8/layout/hChevron3"/>
    <dgm:cxn modelId="{871DCA3A-679E-1044-83E1-39806630B94D}" type="presParOf" srcId="{D3381922-4451-4A40-8E35-63E79B7E9149}" destId="{159911FB-9461-354A-AF80-D421C627076F}" srcOrd="1" destOrd="0" presId="urn:microsoft.com/office/officeart/2005/8/layout/hChevron3"/>
    <dgm:cxn modelId="{08A618D8-DC2D-2E4B-A9F8-AEBD46E9B125}" type="presParOf" srcId="{D3381922-4451-4A40-8E35-63E79B7E9149}" destId="{FF3C59E6-7D30-6948-A08D-5B713C8F7538}" srcOrd="2" destOrd="0" presId="urn:microsoft.com/office/officeart/2005/8/layout/hChevron3"/>
    <dgm:cxn modelId="{178E3F91-A292-904A-9602-0A0D222DD881}" type="presParOf" srcId="{D3381922-4451-4A40-8E35-63E79B7E9149}" destId="{DE2D58D4-A9FB-AD4D-806D-865DA4296928}" srcOrd="3" destOrd="0" presId="urn:microsoft.com/office/officeart/2005/8/layout/hChevron3"/>
    <dgm:cxn modelId="{46ED2347-10B6-D443-9882-634FF83179EF}" type="presParOf" srcId="{D3381922-4451-4A40-8E35-63E79B7E9149}" destId="{DA30C365-1CC8-3D4B-BC81-6FFECBE6E73F}" srcOrd="4" destOrd="0" presId="urn:microsoft.com/office/officeart/2005/8/layout/hChevron3"/>
    <dgm:cxn modelId="{97C60263-5583-B247-84C0-01B5C7020D56}" type="presParOf" srcId="{D3381922-4451-4A40-8E35-63E79B7E9149}" destId="{401ADDA4-D7C1-E349-8F49-C0EE567A73F5}" srcOrd="5" destOrd="0" presId="urn:microsoft.com/office/officeart/2005/8/layout/hChevron3"/>
    <dgm:cxn modelId="{125FF0D2-700B-C74C-B352-A96CAFFF4B0D}" type="presParOf" srcId="{D3381922-4451-4A40-8E35-63E79B7E9149}" destId="{66337293-E14A-E54C-A370-142BA1C4D08A}" srcOrd="6" destOrd="0" presId="urn:microsoft.com/office/officeart/2005/8/layout/hChevron3"/>
    <dgm:cxn modelId="{10BC5C0D-1F0A-5542-8968-8F0451F0B7AB}" type="presParOf" srcId="{D3381922-4451-4A40-8E35-63E79B7E9149}" destId="{5B9E89F6-F87A-4C48-8B3A-0B25F1383024}" srcOrd="7" destOrd="0" presId="urn:microsoft.com/office/officeart/2005/8/layout/hChevron3"/>
    <dgm:cxn modelId="{2A1CB1D0-782E-8449-B531-B845D3B8B586}" type="presParOf" srcId="{D3381922-4451-4A40-8E35-63E79B7E9149}" destId="{7B88F58E-182E-C24E-9EEA-9CCC89296463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B0AA77-1898-4FE9-8798-1C77B813386C}" type="doc">
      <dgm:prSet loTypeId="urn:microsoft.com/office/officeart/2005/8/layout/pyramid1" loCatId="pyramid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109CA3D-CBDB-9846-A8E1-C38C757B8BD5}">
      <dgm:prSet custT="1"/>
      <dgm:spPr>
        <a:solidFill>
          <a:schemeClr val="accent2"/>
        </a:solidFill>
      </dgm:spPr>
      <dgm:t>
        <a:bodyPr/>
        <a:lstStyle/>
        <a:p>
          <a:endParaRPr lang="en-US" sz="1400">
            <a:solidFill>
              <a:schemeClr val="bg1"/>
            </a:solidFill>
            <a:latin typeface="Avenir Next LT Pro" panose="020B0504020202020204" pitchFamily="34" charset="77"/>
          </a:endParaRPr>
        </a:p>
        <a:p>
          <a:r>
            <a:rPr lang="en-US" sz="1400">
              <a:solidFill>
                <a:schemeClr val="bg1"/>
              </a:solidFill>
              <a:latin typeface="Avenir Next LT Pro" panose="020B0504020202020204" pitchFamily="34" charset="77"/>
            </a:rPr>
            <a:t>                                           </a:t>
          </a:r>
          <a:r>
            <a:rPr lang="en-US" sz="1200">
              <a:solidFill>
                <a:schemeClr val="bg1"/>
              </a:solidFill>
              <a:latin typeface="Avenir Next LT Pro" panose="020B0504020202020204" pitchFamily="34" charset="77"/>
            </a:rPr>
            <a:t>Summarize </a:t>
          </a:r>
        </a:p>
        <a:p>
          <a:r>
            <a:rPr lang="en-US" sz="1200">
              <a:solidFill>
                <a:schemeClr val="bg1"/>
              </a:solidFill>
              <a:latin typeface="Avenir Next LT Pro" panose="020B0504020202020204" pitchFamily="34" charset="77"/>
            </a:rPr>
            <a:t>high-level                               ideas</a:t>
          </a:r>
        </a:p>
      </dgm:t>
    </dgm:pt>
    <dgm:pt modelId="{2346D871-EC46-FB40-9663-7A98E9A136EB}" type="parTrans" cxnId="{E2C2B945-478E-3F47-9853-E45C53B13E98}">
      <dgm:prSet/>
      <dgm:spPr/>
      <dgm:t>
        <a:bodyPr/>
        <a:lstStyle/>
        <a:p>
          <a:endParaRPr lang="en-US"/>
        </a:p>
      </dgm:t>
    </dgm:pt>
    <dgm:pt modelId="{6771C499-DCEB-1B4A-BA4D-9F378E2726CA}" type="sibTrans" cxnId="{E2C2B945-478E-3F47-9853-E45C53B13E98}">
      <dgm:prSet/>
      <dgm:spPr/>
      <dgm:t>
        <a:bodyPr/>
        <a:lstStyle/>
        <a:p>
          <a:endParaRPr lang="en-US"/>
        </a:p>
      </dgm:t>
    </dgm:pt>
    <dgm:pt modelId="{15F6B81C-4E11-834C-9102-A1A3847B07D9}">
      <dgm:prSet custT="1"/>
      <dgm:spPr>
        <a:solidFill>
          <a:srgbClr val="1F3D84"/>
        </a:solidFill>
      </dgm:spPr>
      <dgm:t>
        <a:bodyPr/>
        <a:lstStyle/>
        <a:p>
          <a:r>
            <a:rPr lang="en-US" sz="2400">
              <a:solidFill>
                <a:schemeClr val="bg1"/>
              </a:solidFill>
              <a:latin typeface="Avenir Next LT Pro" panose="020B0504020202020204" pitchFamily="34" charset="77"/>
            </a:rPr>
            <a:t>Dive into reasoning behind them</a:t>
          </a:r>
        </a:p>
      </dgm:t>
    </dgm:pt>
    <dgm:pt modelId="{B33EAE02-879D-C14C-9EE0-513D6B3958C1}" type="parTrans" cxnId="{A9ED87BD-CCCE-AE4F-A36F-F704186BA1EF}">
      <dgm:prSet/>
      <dgm:spPr/>
      <dgm:t>
        <a:bodyPr/>
        <a:lstStyle/>
        <a:p>
          <a:endParaRPr lang="en-US"/>
        </a:p>
      </dgm:t>
    </dgm:pt>
    <dgm:pt modelId="{D577AF9F-9BC1-9340-AD28-F89E7091555F}" type="sibTrans" cxnId="{A9ED87BD-CCCE-AE4F-A36F-F704186BA1EF}">
      <dgm:prSet/>
      <dgm:spPr/>
      <dgm:t>
        <a:bodyPr/>
        <a:lstStyle/>
        <a:p>
          <a:endParaRPr lang="en-US"/>
        </a:p>
      </dgm:t>
    </dgm:pt>
    <dgm:pt modelId="{13759EE2-8F5A-6348-B0F4-175BBDE58EB6}">
      <dgm:prSet custT="1"/>
      <dgm:spPr>
        <a:solidFill>
          <a:schemeClr val="accent4"/>
        </a:solidFill>
      </dgm:spPr>
      <dgm:t>
        <a:bodyPr/>
        <a:lstStyle/>
        <a:p>
          <a:r>
            <a:rPr lang="en-US" sz="2800">
              <a:solidFill>
                <a:schemeClr val="bg1"/>
              </a:solidFill>
              <a:latin typeface="Avenir Next LT Pro" panose="020B0504020202020204" pitchFamily="34" charset="77"/>
            </a:rPr>
            <a:t>Prioritize by importance</a:t>
          </a:r>
        </a:p>
      </dgm:t>
    </dgm:pt>
    <dgm:pt modelId="{94ACFBF2-2883-A94E-BF24-F80B2E2D866E}" type="parTrans" cxnId="{E86F6391-079A-E34F-90FF-07E54628C502}">
      <dgm:prSet/>
      <dgm:spPr/>
      <dgm:t>
        <a:bodyPr/>
        <a:lstStyle/>
        <a:p>
          <a:endParaRPr lang="en-US"/>
        </a:p>
      </dgm:t>
    </dgm:pt>
    <dgm:pt modelId="{B5A6749F-370E-E34D-906F-8724A0F0AD45}" type="sibTrans" cxnId="{E86F6391-079A-E34F-90FF-07E54628C502}">
      <dgm:prSet/>
      <dgm:spPr/>
      <dgm:t>
        <a:bodyPr/>
        <a:lstStyle/>
        <a:p>
          <a:endParaRPr lang="en-US"/>
        </a:p>
      </dgm:t>
    </dgm:pt>
    <dgm:pt modelId="{B17C045F-CEDC-45E8-AF47-23396402DAE4}" type="pres">
      <dgm:prSet presAssocID="{9AB0AA77-1898-4FE9-8798-1C77B813386C}" presName="Name0" presStyleCnt="0">
        <dgm:presLayoutVars>
          <dgm:dir/>
          <dgm:animLvl val="lvl"/>
          <dgm:resizeHandles val="exact"/>
        </dgm:presLayoutVars>
      </dgm:prSet>
      <dgm:spPr/>
    </dgm:pt>
    <dgm:pt modelId="{8E2A7EDD-7371-A042-B931-AF426C36270F}" type="pres">
      <dgm:prSet presAssocID="{F109CA3D-CBDB-9846-A8E1-C38C757B8BD5}" presName="Name8" presStyleCnt="0"/>
      <dgm:spPr/>
    </dgm:pt>
    <dgm:pt modelId="{B14C7664-50C3-8346-9FF3-1CD561BFFD90}" type="pres">
      <dgm:prSet presAssocID="{F109CA3D-CBDB-9846-A8E1-C38C757B8BD5}" presName="level" presStyleLbl="node1" presStyleIdx="0" presStyleCnt="3">
        <dgm:presLayoutVars>
          <dgm:chMax val="1"/>
          <dgm:bulletEnabled val="1"/>
        </dgm:presLayoutVars>
      </dgm:prSet>
      <dgm:spPr/>
    </dgm:pt>
    <dgm:pt modelId="{A07086D3-6670-3A45-825A-C72CACB6E969}" type="pres">
      <dgm:prSet presAssocID="{F109CA3D-CBDB-9846-A8E1-C38C757B8BD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58B0EFE-7978-FE4C-BDD6-9713FF90F4A7}" type="pres">
      <dgm:prSet presAssocID="{15F6B81C-4E11-834C-9102-A1A3847B07D9}" presName="Name8" presStyleCnt="0"/>
      <dgm:spPr/>
    </dgm:pt>
    <dgm:pt modelId="{737AC824-E4DE-1A49-98DF-0ACC0669C237}" type="pres">
      <dgm:prSet presAssocID="{15F6B81C-4E11-834C-9102-A1A3847B07D9}" presName="level" presStyleLbl="node1" presStyleIdx="1" presStyleCnt="3">
        <dgm:presLayoutVars>
          <dgm:chMax val="1"/>
          <dgm:bulletEnabled val="1"/>
        </dgm:presLayoutVars>
      </dgm:prSet>
      <dgm:spPr/>
    </dgm:pt>
    <dgm:pt modelId="{EF615B81-4820-8848-97F4-D1312A7E9C81}" type="pres">
      <dgm:prSet presAssocID="{15F6B81C-4E11-834C-9102-A1A3847B07D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077F473-3DF9-0849-8BD2-D1461FD48E8D}" type="pres">
      <dgm:prSet presAssocID="{13759EE2-8F5A-6348-B0F4-175BBDE58EB6}" presName="Name8" presStyleCnt="0"/>
      <dgm:spPr/>
    </dgm:pt>
    <dgm:pt modelId="{512BE6EA-C5C8-AF4F-AECE-C5E6CA222DE6}" type="pres">
      <dgm:prSet presAssocID="{13759EE2-8F5A-6348-B0F4-175BBDE58EB6}" presName="level" presStyleLbl="node1" presStyleIdx="2" presStyleCnt="3">
        <dgm:presLayoutVars>
          <dgm:chMax val="1"/>
          <dgm:bulletEnabled val="1"/>
        </dgm:presLayoutVars>
      </dgm:prSet>
      <dgm:spPr/>
    </dgm:pt>
    <dgm:pt modelId="{CFEDB01A-5EFF-6240-9D5D-0E9EB3122E6B}" type="pres">
      <dgm:prSet presAssocID="{13759EE2-8F5A-6348-B0F4-175BBDE58EB6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2C2B945-478E-3F47-9853-E45C53B13E98}" srcId="{9AB0AA77-1898-4FE9-8798-1C77B813386C}" destId="{F109CA3D-CBDB-9846-A8E1-C38C757B8BD5}" srcOrd="0" destOrd="0" parTransId="{2346D871-EC46-FB40-9663-7A98E9A136EB}" sibTransId="{6771C499-DCEB-1B4A-BA4D-9F378E2726CA}"/>
    <dgm:cxn modelId="{E0283463-FB2F-EB43-B397-B4C5D5EB76D7}" type="presOf" srcId="{F109CA3D-CBDB-9846-A8E1-C38C757B8BD5}" destId="{A07086D3-6670-3A45-825A-C72CACB6E969}" srcOrd="1" destOrd="0" presId="urn:microsoft.com/office/officeart/2005/8/layout/pyramid1"/>
    <dgm:cxn modelId="{06324066-5D8F-FF4E-A11D-44823EBE0C2A}" type="presOf" srcId="{15F6B81C-4E11-834C-9102-A1A3847B07D9}" destId="{EF615B81-4820-8848-97F4-D1312A7E9C81}" srcOrd="1" destOrd="0" presId="urn:microsoft.com/office/officeart/2005/8/layout/pyramid1"/>
    <dgm:cxn modelId="{F6F0D878-C18D-D24A-98DD-59DB1019D129}" type="presOf" srcId="{13759EE2-8F5A-6348-B0F4-175BBDE58EB6}" destId="{CFEDB01A-5EFF-6240-9D5D-0E9EB3122E6B}" srcOrd="1" destOrd="0" presId="urn:microsoft.com/office/officeart/2005/8/layout/pyramid1"/>
    <dgm:cxn modelId="{E86F6391-079A-E34F-90FF-07E54628C502}" srcId="{9AB0AA77-1898-4FE9-8798-1C77B813386C}" destId="{13759EE2-8F5A-6348-B0F4-175BBDE58EB6}" srcOrd="2" destOrd="0" parTransId="{94ACFBF2-2883-A94E-BF24-F80B2E2D866E}" sibTransId="{B5A6749F-370E-E34D-906F-8724A0F0AD45}"/>
    <dgm:cxn modelId="{A9ED87BD-CCCE-AE4F-A36F-F704186BA1EF}" srcId="{9AB0AA77-1898-4FE9-8798-1C77B813386C}" destId="{15F6B81C-4E11-834C-9102-A1A3847B07D9}" srcOrd="1" destOrd="0" parTransId="{B33EAE02-879D-C14C-9EE0-513D6B3958C1}" sibTransId="{D577AF9F-9BC1-9340-AD28-F89E7091555F}"/>
    <dgm:cxn modelId="{0B70ECC4-9AE1-B443-A0C7-FDD699572447}" type="presOf" srcId="{13759EE2-8F5A-6348-B0F4-175BBDE58EB6}" destId="{512BE6EA-C5C8-AF4F-AECE-C5E6CA222DE6}" srcOrd="0" destOrd="0" presId="urn:microsoft.com/office/officeart/2005/8/layout/pyramid1"/>
    <dgm:cxn modelId="{C56BADE2-8B17-A846-8F0F-9E2766529D49}" type="presOf" srcId="{15F6B81C-4E11-834C-9102-A1A3847B07D9}" destId="{737AC824-E4DE-1A49-98DF-0ACC0669C237}" srcOrd="0" destOrd="0" presId="urn:microsoft.com/office/officeart/2005/8/layout/pyramid1"/>
    <dgm:cxn modelId="{19214AEF-245E-AF48-A596-23FA90B720E0}" type="presOf" srcId="{F109CA3D-CBDB-9846-A8E1-C38C757B8BD5}" destId="{B14C7664-50C3-8346-9FF3-1CD561BFFD90}" srcOrd="0" destOrd="0" presId="urn:microsoft.com/office/officeart/2005/8/layout/pyramid1"/>
    <dgm:cxn modelId="{E1314EF2-5DA8-45BF-A821-DE0ABD589116}" type="presOf" srcId="{9AB0AA77-1898-4FE9-8798-1C77B813386C}" destId="{B17C045F-CEDC-45E8-AF47-23396402DAE4}" srcOrd="0" destOrd="0" presId="urn:microsoft.com/office/officeart/2005/8/layout/pyramid1"/>
    <dgm:cxn modelId="{B5B4C359-E664-A044-AD48-61972F0BA807}" type="presParOf" srcId="{B17C045F-CEDC-45E8-AF47-23396402DAE4}" destId="{8E2A7EDD-7371-A042-B931-AF426C36270F}" srcOrd="0" destOrd="0" presId="urn:microsoft.com/office/officeart/2005/8/layout/pyramid1"/>
    <dgm:cxn modelId="{1FFCD439-9EE4-8041-AE69-7B9B1A48D1DB}" type="presParOf" srcId="{8E2A7EDD-7371-A042-B931-AF426C36270F}" destId="{B14C7664-50C3-8346-9FF3-1CD561BFFD90}" srcOrd="0" destOrd="0" presId="urn:microsoft.com/office/officeart/2005/8/layout/pyramid1"/>
    <dgm:cxn modelId="{3637FF0F-59B2-DB41-A2E4-8E49DA1A5062}" type="presParOf" srcId="{8E2A7EDD-7371-A042-B931-AF426C36270F}" destId="{A07086D3-6670-3A45-825A-C72CACB6E969}" srcOrd="1" destOrd="0" presId="urn:microsoft.com/office/officeart/2005/8/layout/pyramid1"/>
    <dgm:cxn modelId="{2DF4784B-8287-1247-9FA7-E3146C73DC66}" type="presParOf" srcId="{B17C045F-CEDC-45E8-AF47-23396402DAE4}" destId="{658B0EFE-7978-FE4C-BDD6-9713FF90F4A7}" srcOrd="1" destOrd="0" presId="urn:microsoft.com/office/officeart/2005/8/layout/pyramid1"/>
    <dgm:cxn modelId="{0DCA607E-AEDA-A249-8FC1-BE7903E5B622}" type="presParOf" srcId="{658B0EFE-7978-FE4C-BDD6-9713FF90F4A7}" destId="{737AC824-E4DE-1A49-98DF-0ACC0669C237}" srcOrd="0" destOrd="0" presId="urn:microsoft.com/office/officeart/2005/8/layout/pyramid1"/>
    <dgm:cxn modelId="{76794C88-1C3B-2341-AFFE-8363AF6BF3D8}" type="presParOf" srcId="{658B0EFE-7978-FE4C-BDD6-9713FF90F4A7}" destId="{EF615B81-4820-8848-97F4-D1312A7E9C81}" srcOrd="1" destOrd="0" presId="urn:microsoft.com/office/officeart/2005/8/layout/pyramid1"/>
    <dgm:cxn modelId="{278246AD-F86E-7E48-94F6-1183599EB1F5}" type="presParOf" srcId="{B17C045F-CEDC-45E8-AF47-23396402DAE4}" destId="{5077F473-3DF9-0849-8BD2-D1461FD48E8D}" srcOrd="2" destOrd="0" presId="urn:microsoft.com/office/officeart/2005/8/layout/pyramid1"/>
    <dgm:cxn modelId="{95537507-7164-284E-9268-D79075A03FF0}" type="presParOf" srcId="{5077F473-3DF9-0849-8BD2-D1461FD48E8D}" destId="{512BE6EA-C5C8-AF4F-AECE-C5E6CA222DE6}" srcOrd="0" destOrd="0" presId="urn:microsoft.com/office/officeart/2005/8/layout/pyramid1"/>
    <dgm:cxn modelId="{1B79B1B9-4C15-634A-BD96-2E9A7778B1E9}" type="presParOf" srcId="{5077F473-3DF9-0849-8BD2-D1461FD48E8D}" destId="{CFEDB01A-5EFF-6240-9D5D-0E9EB3122E6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D21BAF-6514-B843-AC6C-978F29E8BC4E}">
      <dsp:nvSpPr>
        <dsp:cNvPr id="0" name=""/>
        <dsp:cNvSpPr/>
      </dsp:nvSpPr>
      <dsp:spPr>
        <a:xfrm>
          <a:off x="1186" y="0"/>
          <a:ext cx="2313794" cy="536573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18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 </a:t>
          </a:r>
        </a:p>
      </dsp:txBody>
      <dsp:txXfrm>
        <a:off x="1186" y="0"/>
        <a:ext cx="2179651" cy="536573"/>
      </dsp:txXfrm>
    </dsp:sp>
    <dsp:sp modelId="{524BFA7F-1524-E44F-B167-7807A2B6DB98}">
      <dsp:nvSpPr>
        <dsp:cNvPr id="0" name=""/>
        <dsp:cNvSpPr/>
      </dsp:nvSpPr>
      <dsp:spPr>
        <a:xfrm>
          <a:off x="1852222" y="0"/>
          <a:ext cx="2313794" cy="53657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2120509" y="0"/>
        <a:ext cx="1777221" cy="536573"/>
      </dsp:txXfrm>
    </dsp:sp>
    <dsp:sp modelId="{41324752-A46F-C24D-AFFC-2C005E91C10A}">
      <dsp:nvSpPr>
        <dsp:cNvPr id="0" name=""/>
        <dsp:cNvSpPr/>
      </dsp:nvSpPr>
      <dsp:spPr>
        <a:xfrm>
          <a:off x="3703258" y="0"/>
          <a:ext cx="2313794" cy="53657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3971545" y="0"/>
        <a:ext cx="1777221" cy="536573"/>
      </dsp:txXfrm>
    </dsp:sp>
    <dsp:sp modelId="{5A8C1EEF-B8AC-144F-8D6D-25E877838F58}">
      <dsp:nvSpPr>
        <dsp:cNvPr id="0" name=""/>
        <dsp:cNvSpPr/>
      </dsp:nvSpPr>
      <dsp:spPr>
        <a:xfrm>
          <a:off x="5554293" y="0"/>
          <a:ext cx="2313794" cy="53657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 </a:t>
          </a:r>
        </a:p>
      </dsp:txBody>
      <dsp:txXfrm>
        <a:off x="5822580" y="0"/>
        <a:ext cx="1777221" cy="536573"/>
      </dsp:txXfrm>
    </dsp:sp>
    <dsp:sp modelId="{67BB7844-5191-B749-BA22-99DF97FB468F}">
      <dsp:nvSpPr>
        <dsp:cNvPr id="0" name=""/>
        <dsp:cNvSpPr/>
      </dsp:nvSpPr>
      <dsp:spPr>
        <a:xfrm>
          <a:off x="7405329" y="0"/>
          <a:ext cx="2313794" cy="53657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673616" y="0"/>
        <a:ext cx="1777221" cy="536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65B4A-D6E5-8344-BD50-C494CBB1E660}">
      <dsp:nvSpPr>
        <dsp:cNvPr id="0" name=""/>
        <dsp:cNvSpPr/>
      </dsp:nvSpPr>
      <dsp:spPr>
        <a:xfrm>
          <a:off x="1186" y="0"/>
          <a:ext cx="1943587" cy="536573"/>
        </a:xfrm>
        <a:prstGeom prst="homePlate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18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1186" y="0"/>
        <a:ext cx="1809444" cy="536573"/>
      </dsp:txXfrm>
    </dsp:sp>
    <dsp:sp modelId="{623F993A-5ADE-9848-A341-E0F07CF81288}">
      <dsp:nvSpPr>
        <dsp:cNvPr id="0" name=""/>
        <dsp:cNvSpPr/>
      </dsp:nvSpPr>
      <dsp:spPr>
        <a:xfrm>
          <a:off x="1556056" y="0"/>
          <a:ext cx="1943587" cy="53657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1824343" y="0"/>
        <a:ext cx="1407014" cy="536573"/>
      </dsp:txXfrm>
    </dsp:sp>
    <dsp:sp modelId="{D70FCC71-E277-8E48-A26E-22D9B8BCB589}">
      <dsp:nvSpPr>
        <dsp:cNvPr id="0" name=""/>
        <dsp:cNvSpPr/>
      </dsp:nvSpPr>
      <dsp:spPr>
        <a:xfrm>
          <a:off x="3110926" y="0"/>
          <a:ext cx="1943587" cy="536573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3379213" y="0"/>
        <a:ext cx="1407014" cy="536573"/>
      </dsp:txXfrm>
    </dsp:sp>
    <dsp:sp modelId="{BF6EBAAB-44A4-6D44-A69B-61E5B85B533D}">
      <dsp:nvSpPr>
        <dsp:cNvPr id="0" name=""/>
        <dsp:cNvSpPr/>
      </dsp:nvSpPr>
      <dsp:spPr>
        <a:xfrm>
          <a:off x="4665796" y="0"/>
          <a:ext cx="1943587" cy="536573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934083" y="0"/>
        <a:ext cx="1407014" cy="536573"/>
      </dsp:txXfrm>
    </dsp:sp>
    <dsp:sp modelId="{D7474BC0-96F3-A343-A5D3-B3192FB8D886}">
      <dsp:nvSpPr>
        <dsp:cNvPr id="0" name=""/>
        <dsp:cNvSpPr/>
      </dsp:nvSpPr>
      <dsp:spPr>
        <a:xfrm>
          <a:off x="6220666" y="0"/>
          <a:ext cx="1943587" cy="536573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488953" y="0"/>
        <a:ext cx="1407014" cy="536573"/>
      </dsp:txXfrm>
    </dsp:sp>
    <dsp:sp modelId="{54829899-E6B6-1240-A36F-7F608C363CAB}">
      <dsp:nvSpPr>
        <dsp:cNvPr id="0" name=""/>
        <dsp:cNvSpPr/>
      </dsp:nvSpPr>
      <dsp:spPr>
        <a:xfrm>
          <a:off x="7775536" y="0"/>
          <a:ext cx="1943587" cy="536573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72009" rIns="36005" bIns="7200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 </a:t>
          </a:r>
        </a:p>
      </dsp:txBody>
      <dsp:txXfrm>
        <a:off x="8043823" y="0"/>
        <a:ext cx="1407014" cy="5365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E662C-4B93-B943-BC37-8977660506A4}">
      <dsp:nvSpPr>
        <dsp:cNvPr id="0" name=""/>
        <dsp:cNvSpPr/>
      </dsp:nvSpPr>
      <dsp:spPr>
        <a:xfrm>
          <a:off x="1182" y="0"/>
          <a:ext cx="2305067" cy="555335"/>
        </a:xfrm>
        <a:prstGeom prst="homePlate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Rockwell" panose="02060603020205020403" pitchFamily="18" charset="77"/>
            </a:rPr>
            <a:t>Introduction</a:t>
          </a:r>
        </a:p>
      </dsp:txBody>
      <dsp:txXfrm>
        <a:off x="1182" y="0"/>
        <a:ext cx="2166233" cy="555335"/>
      </dsp:txXfrm>
    </dsp:sp>
    <dsp:sp modelId="{FF3C59E6-7D30-6948-A08D-5B713C8F7538}">
      <dsp:nvSpPr>
        <dsp:cNvPr id="0" name=""/>
        <dsp:cNvSpPr/>
      </dsp:nvSpPr>
      <dsp:spPr>
        <a:xfrm>
          <a:off x="1845235" y="0"/>
          <a:ext cx="2305067" cy="555335"/>
        </a:xfrm>
        <a:prstGeom prst="chevron">
          <a:avLst/>
        </a:prstGeom>
        <a:solidFill>
          <a:srgbClr val="1F3D8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Rockwell" panose="02060603020205020403" pitchFamily="18" charset="77"/>
            </a:rPr>
            <a:t>Consulting</a:t>
          </a:r>
          <a:r>
            <a:rPr lang="en-US" sz="1800" kern="1200" baseline="0">
              <a:latin typeface="Rockwell" panose="02060603020205020403" pitchFamily="18" charset="77"/>
            </a:rPr>
            <a:t> Interviews</a:t>
          </a:r>
          <a:endParaRPr lang="en-US" sz="1800" kern="1200">
            <a:latin typeface="Rockwell" panose="02060603020205020403" pitchFamily="18" charset="77"/>
          </a:endParaRPr>
        </a:p>
      </dsp:txBody>
      <dsp:txXfrm>
        <a:off x="2122903" y="0"/>
        <a:ext cx="1749732" cy="555335"/>
      </dsp:txXfrm>
    </dsp:sp>
    <dsp:sp modelId="{DA30C365-1CC8-3D4B-BC81-6FFECBE6E73F}">
      <dsp:nvSpPr>
        <dsp:cNvPr id="0" name=""/>
        <dsp:cNvSpPr/>
      </dsp:nvSpPr>
      <dsp:spPr>
        <a:xfrm>
          <a:off x="3689289" y="0"/>
          <a:ext cx="2305067" cy="555335"/>
        </a:xfrm>
        <a:prstGeom prst="chevron">
          <a:avLst/>
        </a:prstGeom>
        <a:solidFill>
          <a:srgbClr val="1F3D8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Rockwell" panose="02060603020205020403" pitchFamily="18" charset="77"/>
            </a:rPr>
            <a:t>Case Interviews</a:t>
          </a:r>
        </a:p>
      </dsp:txBody>
      <dsp:txXfrm>
        <a:off x="3966957" y="0"/>
        <a:ext cx="1749732" cy="555335"/>
      </dsp:txXfrm>
    </dsp:sp>
    <dsp:sp modelId="{66337293-E14A-E54C-A370-142BA1C4D08A}">
      <dsp:nvSpPr>
        <dsp:cNvPr id="0" name=""/>
        <dsp:cNvSpPr/>
      </dsp:nvSpPr>
      <dsp:spPr>
        <a:xfrm>
          <a:off x="5533343" y="0"/>
          <a:ext cx="2305067" cy="555335"/>
        </a:xfrm>
        <a:prstGeom prst="chevron">
          <a:avLst/>
        </a:prstGeom>
        <a:solidFill>
          <a:srgbClr val="1F3D8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Rockwell" panose="02060603020205020403" pitchFamily="18" charset="77"/>
            </a:rPr>
            <a:t>NLCG Discussion</a:t>
          </a:r>
        </a:p>
      </dsp:txBody>
      <dsp:txXfrm>
        <a:off x="5811011" y="0"/>
        <a:ext cx="1749732" cy="555335"/>
      </dsp:txXfrm>
    </dsp:sp>
    <dsp:sp modelId="{7B88F58E-182E-C24E-9EEA-9CCC89296463}">
      <dsp:nvSpPr>
        <dsp:cNvPr id="0" name=""/>
        <dsp:cNvSpPr/>
      </dsp:nvSpPr>
      <dsp:spPr>
        <a:xfrm>
          <a:off x="7376451" y="0"/>
          <a:ext cx="2305067" cy="555335"/>
        </a:xfrm>
        <a:prstGeom prst="chevron">
          <a:avLst/>
        </a:prstGeom>
        <a:solidFill>
          <a:srgbClr val="1F3D8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Rockwell" panose="02060603020205020403" pitchFamily="18" charset="77"/>
            </a:rPr>
            <a:t>Looking Ahead</a:t>
          </a:r>
        </a:p>
      </dsp:txBody>
      <dsp:txXfrm>
        <a:off x="7654119" y="0"/>
        <a:ext cx="1749732" cy="5553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C7664-50C3-8346-9FF3-1CD561BFFD90}">
      <dsp:nvSpPr>
        <dsp:cNvPr id="0" name=""/>
        <dsp:cNvSpPr/>
      </dsp:nvSpPr>
      <dsp:spPr>
        <a:xfrm>
          <a:off x="1820736" y="0"/>
          <a:ext cx="1820736" cy="1311405"/>
        </a:xfrm>
        <a:prstGeom prst="trapezoid">
          <a:avLst>
            <a:gd name="adj" fmla="val 69419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bg1"/>
            </a:solidFill>
            <a:latin typeface="Avenir Next LT Pro" panose="020B0504020202020204" pitchFamily="34" charset="77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bg1"/>
              </a:solidFill>
              <a:latin typeface="Avenir Next LT Pro" panose="020B0504020202020204" pitchFamily="34" charset="77"/>
            </a:rPr>
            <a:t>                                           </a:t>
          </a:r>
          <a:r>
            <a:rPr lang="en-US" sz="1200" kern="1200">
              <a:solidFill>
                <a:schemeClr val="bg1"/>
              </a:solidFill>
              <a:latin typeface="Avenir Next LT Pro" panose="020B0504020202020204" pitchFamily="34" charset="77"/>
            </a:rPr>
            <a:t>Summarize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solidFill>
                <a:schemeClr val="bg1"/>
              </a:solidFill>
              <a:latin typeface="Avenir Next LT Pro" panose="020B0504020202020204" pitchFamily="34" charset="77"/>
            </a:rPr>
            <a:t>high-level                               ideas</a:t>
          </a:r>
        </a:p>
      </dsp:txBody>
      <dsp:txXfrm>
        <a:off x="1820736" y="0"/>
        <a:ext cx="1820736" cy="1311405"/>
      </dsp:txXfrm>
    </dsp:sp>
    <dsp:sp modelId="{737AC824-E4DE-1A49-98DF-0ACC0669C237}">
      <dsp:nvSpPr>
        <dsp:cNvPr id="0" name=""/>
        <dsp:cNvSpPr/>
      </dsp:nvSpPr>
      <dsp:spPr>
        <a:xfrm>
          <a:off x="910368" y="1311405"/>
          <a:ext cx="3641472" cy="1311405"/>
        </a:xfrm>
        <a:prstGeom prst="trapezoid">
          <a:avLst>
            <a:gd name="adj" fmla="val 69419"/>
          </a:avLst>
        </a:prstGeom>
        <a:solidFill>
          <a:srgbClr val="1F3D84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bg1"/>
              </a:solidFill>
              <a:latin typeface="Avenir Next LT Pro" panose="020B0504020202020204" pitchFamily="34" charset="77"/>
            </a:rPr>
            <a:t>Dive into reasoning behind them</a:t>
          </a:r>
        </a:p>
      </dsp:txBody>
      <dsp:txXfrm>
        <a:off x="1547625" y="1311405"/>
        <a:ext cx="2366957" cy="1311405"/>
      </dsp:txXfrm>
    </dsp:sp>
    <dsp:sp modelId="{512BE6EA-C5C8-AF4F-AECE-C5E6CA222DE6}">
      <dsp:nvSpPr>
        <dsp:cNvPr id="0" name=""/>
        <dsp:cNvSpPr/>
      </dsp:nvSpPr>
      <dsp:spPr>
        <a:xfrm>
          <a:off x="0" y="2622810"/>
          <a:ext cx="5462209" cy="1311405"/>
        </a:xfrm>
        <a:prstGeom prst="trapezoid">
          <a:avLst>
            <a:gd name="adj" fmla="val 69419"/>
          </a:avLst>
        </a:prstGeom>
        <a:solidFill>
          <a:schemeClr val="accent4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bg1"/>
              </a:solidFill>
              <a:latin typeface="Avenir Next LT Pro" panose="020B0504020202020204" pitchFamily="34" charset="77"/>
            </a:rPr>
            <a:t>Prioritize by importance</a:t>
          </a:r>
        </a:p>
      </dsp:txBody>
      <dsp:txXfrm>
        <a:off x="955886" y="2622810"/>
        <a:ext cx="3550435" cy="1311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F1F50-DF03-534E-867B-7088271E3D47}" type="datetimeFigureOut">
              <a:rPr lang="en-US" smtClean="0"/>
              <a:t>2/28/23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8E1F5-CC79-014D-8B3C-98C8C205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06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13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72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E1F5-CC79-014D-8B3C-98C8C20575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46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E1F5-CC79-014D-8B3C-98C8C20575A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97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5173F-000F-654C-8A18-DD69F7E380E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45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8E1F5-CC79-014D-8B3C-98C8C20575A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05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Cover 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, 男人&#10;&#10;描述已自动生成">
            <a:extLst>
              <a:ext uri="{FF2B5EF4-FFF2-40B4-BE49-F238E27FC236}">
                <a16:creationId xmlns:a16="http://schemas.microsoft.com/office/drawing/2014/main" id="{D01C7DDC-D26E-AA4C-A805-FB035990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47134" y="-5956375"/>
            <a:ext cx="12285662" cy="1357993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323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Cover 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283C3-8883-D148-B103-082C34260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20" y="-237598"/>
            <a:ext cx="6167967" cy="726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3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Cover Slide3">
    <p:bg>
      <p:bgPr>
        <a:solidFill>
          <a:srgbClr val="0F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ight&#10;&#10;Description automatically generated">
            <a:extLst>
              <a:ext uri="{FF2B5EF4-FFF2-40B4-BE49-F238E27FC236}">
                <a16:creationId xmlns:a16="http://schemas.microsoft.com/office/drawing/2014/main" id="{D8679ED4-FB70-D840-80C9-2F52B551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936" y="-8492973"/>
            <a:ext cx="13259118" cy="13259118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DB967E97-058C-2C43-8210-1EEA3B8EB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04342" y="-8143779"/>
            <a:ext cx="13259118" cy="132591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C7A7-5DB3-DA4C-A83B-C09897D7003B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BBD14-DE76-4946-9294-A472E2BE4DE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light&#10;&#10;Description automatically generated">
            <a:extLst>
              <a:ext uri="{FF2B5EF4-FFF2-40B4-BE49-F238E27FC236}">
                <a16:creationId xmlns:a16="http://schemas.microsoft.com/office/drawing/2014/main" id="{D4A870BC-03A9-2146-AB3B-8F2828859A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59937" y="-8492973"/>
            <a:ext cx="13259119" cy="13259119"/>
          </a:xfrm>
          <a:prstGeom prst="rect">
            <a:avLst/>
          </a:prstGeom>
        </p:spPr>
      </p:pic>
      <p:pic>
        <p:nvPicPr>
          <p:cNvPr id="10" name="Picture 9" descr="A picture containing light&#10;&#10;Description automatically generated">
            <a:extLst>
              <a:ext uri="{FF2B5EF4-FFF2-40B4-BE49-F238E27FC236}">
                <a16:creationId xmlns:a16="http://schemas.microsoft.com/office/drawing/2014/main" id="{C053790D-4A93-7F45-AA47-744D8EAF99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304342" y="-8143780"/>
            <a:ext cx="13259119" cy="1325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0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(pla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0515600" cy="1325563"/>
          </a:xfrm>
        </p:spPr>
        <p:txBody>
          <a:bodyPr anchor="t" anchorCtr="0"/>
          <a:lstStyle>
            <a:lvl1pPr>
              <a:defRPr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73020E1E-A039-3842-A2FC-AE028C907D23}"/>
              </a:ext>
            </a:extLst>
          </p:cNvPr>
          <p:cNvSpPr/>
          <p:nvPr/>
        </p:nvSpPr>
        <p:spPr>
          <a:xfrm>
            <a:off x="0" y="6356350"/>
            <a:ext cx="12192000" cy="536573"/>
          </a:xfrm>
          <a:prstGeom prst="rect">
            <a:avLst/>
          </a:prstGeom>
          <a:solidFill>
            <a:srgbClr val="1C3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7" descr="图片包含 游戏机, 画, 桌子&#10;&#10;描述已自动生成">
            <a:extLst>
              <a:ext uri="{FF2B5EF4-FFF2-40B4-BE49-F238E27FC236}">
                <a16:creationId xmlns:a16="http://schemas.microsoft.com/office/drawing/2014/main" id="{2DC12D59-B30B-C943-8C90-264213FDF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118" y="6447161"/>
            <a:ext cx="2190494" cy="40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74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ertical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0515600" cy="132556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73020E1E-A039-3842-A2FC-AE028C907D23}"/>
              </a:ext>
            </a:extLst>
          </p:cNvPr>
          <p:cNvSpPr/>
          <p:nvPr/>
        </p:nvSpPr>
        <p:spPr>
          <a:xfrm>
            <a:off x="0" y="6356350"/>
            <a:ext cx="12192000" cy="536573"/>
          </a:xfrm>
          <a:prstGeom prst="rect">
            <a:avLst/>
          </a:prstGeom>
          <a:solidFill>
            <a:srgbClr val="1C3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 descr="图片包含 游戏机, 画, 桌子&#10;&#10;描述已自动生成">
            <a:extLst>
              <a:ext uri="{FF2B5EF4-FFF2-40B4-BE49-F238E27FC236}">
                <a16:creationId xmlns:a16="http://schemas.microsoft.com/office/drawing/2014/main" id="{01E1FF0F-DD4D-FF4E-9AEB-5446F66E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118" y="6447161"/>
            <a:ext cx="2190494" cy="400259"/>
          </a:xfrm>
          <a:prstGeom prst="rect">
            <a:avLst/>
          </a:prstGeom>
        </p:spPr>
      </p:pic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96146927-2F3A-3E43-8DEB-B69CED64B4A2}"/>
              </a:ext>
            </a:extLst>
          </p:cNvPr>
          <p:cNvCxnSpPr>
            <a:cxnSpLocks/>
          </p:cNvCxnSpPr>
          <p:nvPr/>
        </p:nvCxnSpPr>
        <p:spPr>
          <a:xfrm>
            <a:off x="11132852" y="890897"/>
            <a:ext cx="0" cy="498518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11">
            <a:extLst>
              <a:ext uri="{FF2B5EF4-FFF2-40B4-BE49-F238E27FC236}">
                <a16:creationId xmlns:a16="http://schemas.microsoft.com/office/drawing/2014/main" id="{6DE786B0-CE96-D448-9D04-99A34E7028F0}"/>
              </a:ext>
            </a:extLst>
          </p:cNvPr>
          <p:cNvSpPr/>
          <p:nvPr/>
        </p:nvSpPr>
        <p:spPr>
          <a:xfrm>
            <a:off x="10992300" y="890897"/>
            <a:ext cx="285161" cy="28516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99A47E64-7888-F04A-A321-278C8837D603}"/>
              </a:ext>
            </a:extLst>
          </p:cNvPr>
          <p:cNvSpPr/>
          <p:nvPr/>
        </p:nvSpPr>
        <p:spPr>
          <a:xfrm>
            <a:off x="10990271" y="2003174"/>
            <a:ext cx="285161" cy="28516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A716C7-F911-0643-9C00-482F06A4EEDD}"/>
              </a:ext>
            </a:extLst>
          </p:cNvPr>
          <p:cNvSpPr/>
          <p:nvPr/>
        </p:nvSpPr>
        <p:spPr>
          <a:xfrm>
            <a:off x="10990271" y="3151015"/>
            <a:ext cx="285161" cy="28516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C035A4DB-DA43-1143-A3F0-44FA1D8EFA86}"/>
              </a:ext>
            </a:extLst>
          </p:cNvPr>
          <p:cNvSpPr/>
          <p:nvPr/>
        </p:nvSpPr>
        <p:spPr>
          <a:xfrm>
            <a:off x="10990271" y="5588736"/>
            <a:ext cx="285161" cy="285161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F19C7A-DD7A-F544-A4D0-9C9DCCC4E7F4}"/>
              </a:ext>
            </a:extLst>
          </p:cNvPr>
          <p:cNvSpPr/>
          <p:nvPr/>
        </p:nvSpPr>
        <p:spPr>
          <a:xfrm>
            <a:off x="10990271" y="4328836"/>
            <a:ext cx="285161" cy="28944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7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solidFill>
            <a:schemeClr val="accent5"/>
          </a:solidFill>
        </p:spPr>
        <p:txBody>
          <a:bodyPr/>
          <a:lstStyle/>
          <a:p>
            <a:fld id="{21E2C7A7-5DB3-DA4C-A83B-C09897D7003B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chemeClr val="accent5"/>
          </a:solidFill>
        </p:spPr>
        <p:txBody>
          <a:bodyPr/>
          <a:lstStyle/>
          <a:p>
            <a:fld id="{82FBBD14-DE76-4946-9294-A472E2BE4DE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73020E1E-A039-3842-A2FC-AE028C907D23}"/>
              </a:ext>
            </a:extLst>
          </p:cNvPr>
          <p:cNvSpPr/>
          <p:nvPr/>
        </p:nvSpPr>
        <p:spPr>
          <a:xfrm>
            <a:off x="0" y="6356350"/>
            <a:ext cx="12192000" cy="5365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 descr="图片包含 游戏机, 画, 桌子&#10;&#10;描述已自动生成">
            <a:extLst>
              <a:ext uri="{FF2B5EF4-FFF2-40B4-BE49-F238E27FC236}">
                <a16:creationId xmlns:a16="http://schemas.microsoft.com/office/drawing/2014/main" id="{01E1FF0F-DD4D-FF4E-9AEB-5446F66E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118" y="6447161"/>
            <a:ext cx="2190494" cy="400259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10" name="矩形 2">
            <a:extLst>
              <a:ext uri="{FF2B5EF4-FFF2-40B4-BE49-F238E27FC236}">
                <a16:creationId xmlns:a16="http://schemas.microsoft.com/office/drawing/2014/main" id="{A3305B34-DFA6-3845-BE37-A41545811DE5}"/>
              </a:ext>
            </a:extLst>
          </p:cNvPr>
          <p:cNvSpPr/>
          <p:nvPr userDrawn="1"/>
        </p:nvSpPr>
        <p:spPr>
          <a:xfrm>
            <a:off x="0" y="6356351"/>
            <a:ext cx="12192000" cy="5365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11" name="图片 7" descr="图片包含 游戏机, 画, 桌子&#10;&#10;描述已自动生成">
            <a:extLst>
              <a:ext uri="{FF2B5EF4-FFF2-40B4-BE49-F238E27FC236}">
                <a16:creationId xmlns:a16="http://schemas.microsoft.com/office/drawing/2014/main" id="{DDF979AA-4ACE-FE44-AD22-3711B9E34A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10118" y="6447161"/>
            <a:ext cx="2190495" cy="400259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0515600" cy="1325563"/>
          </a:xfrm>
        </p:spPr>
        <p:txBody>
          <a:bodyPr anchor="t" anchorCtr="0">
            <a:normAutofit/>
          </a:bodyPr>
          <a:lstStyle>
            <a:lvl1pPr>
              <a:defRPr sz="600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213" y="1644974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985A118-9AD4-D24C-B500-65EBFFC7A7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7311577"/>
              </p:ext>
            </p:extLst>
          </p:nvPr>
        </p:nvGraphicFramePr>
        <p:xfrm>
          <a:off x="-38793" y="6352554"/>
          <a:ext cx="9720311" cy="536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518F6CD-5FB8-F64C-97DA-FAC6B9E3B31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872181644"/>
              </p:ext>
            </p:extLst>
          </p:nvPr>
        </p:nvGraphicFramePr>
        <p:xfrm>
          <a:off x="-38792" y="6352555"/>
          <a:ext cx="9720311" cy="536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EE5BFC5-0DA7-8E49-8332-7818E40A530A}"/>
              </a:ext>
            </a:extLst>
          </p:cNvPr>
          <p:cNvSpPr txBox="1"/>
          <p:nvPr userDrawn="1"/>
        </p:nvSpPr>
        <p:spPr>
          <a:xfrm>
            <a:off x="221796" y="1099860"/>
            <a:ext cx="10515600" cy="6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33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C74F2-C322-1949-864E-7FB121E64DBD}"/>
              </a:ext>
            </a:extLst>
          </p:cNvPr>
          <p:cNvSpPr txBox="1"/>
          <p:nvPr userDrawn="1"/>
        </p:nvSpPr>
        <p:spPr>
          <a:xfrm>
            <a:off x="153653" y="6478013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A03D4-3DB7-8C47-9E33-0455C5B55847}"/>
              </a:ext>
            </a:extLst>
          </p:cNvPr>
          <p:cNvSpPr txBox="1"/>
          <p:nvPr userDrawn="1"/>
        </p:nvSpPr>
        <p:spPr>
          <a:xfrm>
            <a:off x="1902581" y="6478033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14468-BDA0-1442-B74D-A39C71F86F70}"/>
              </a:ext>
            </a:extLst>
          </p:cNvPr>
          <p:cNvSpPr txBox="1"/>
          <p:nvPr userDrawn="1"/>
        </p:nvSpPr>
        <p:spPr>
          <a:xfrm>
            <a:off x="3701106" y="6478013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Body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1F34E8-7FEC-0540-A224-12DEA1E94416}"/>
              </a:ext>
            </a:extLst>
          </p:cNvPr>
          <p:cNvSpPr txBox="1"/>
          <p:nvPr userDrawn="1"/>
        </p:nvSpPr>
        <p:spPr>
          <a:xfrm>
            <a:off x="5122885" y="64834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Ending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0748F1-9EEF-1A4C-8F13-299970E50CB7}"/>
              </a:ext>
            </a:extLst>
          </p:cNvPr>
          <p:cNvSpPr txBox="1"/>
          <p:nvPr userDrawn="1"/>
        </p:nvSpPr>
        <p:spPr>
          <a:xfrm>
            <a:off x="6668282" y="6478013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186770-311F-5C42-91D3-1ACF69E57C4C}"/>
              </a:ext>
            </a:extLst>
          </p:cNvPr>
          <p:cNvSpPr txBox="1"/>
          <p:nvPr userDrawn="1"/>
        </p:nvSpPr>
        <p:spPr>
          <a:xfrm>
            <a:off x="8075202" y="6478013"/>
            <a:ext cx="12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Market Size</a:t>
            </a:r>
          </a:p>
        </p:txBody>
      </p:sp>
    </p:spTree>
    <p:extLst>
      <p:ext uri="{BB962C8B-B14F-4D97-AF65-F5344CB8AC3E}">
        <p14:creationId xmlns:p14="http://schemas.microsoft.com/office/powerpoint/2010/main" val="294894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2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2381102B-AB77-4D33-AE8A-2341FAB1F94D}"/>
              </a:ext>
            </a:extLst>
          </p:cNvPr>
          <p:cNvSpPr/>
          <p:nvPr userDrawn="1"/>
        </p:nvSpPr>
        <p:spPr>
          <a:xfrm>
            <a:off x="0" y="6356350"/>
            <a:ext cx="12192000" cy="536573"/>
          </a:xfrm>
          <a:prstGeom prst="rect">
            <a:avLst/>
          </a:prstGeom>
          <a:solidFill>
            <a:srgbClr val="1C3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片 7" descr="图片包含 游戏机, 画, 桌子&#10;&#10;描述已自动生成">
            <a:extLst>
              <a:ext uri="{FF2B5EF4-FFF2-40B4-BE49-F238E27FC236}">
                <a16:creationId xmlns:a16="http://schemas.microsoft.com/office/drawing/2014/main" id="{C9B55518-0621-4614-8F67-48542C548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10118" y="6447161"/>
            <a:ext cx="2190494" cy="400259"/>
          </a:xfrm>
          <a:prstGeom prst="rect">
            <a:avLst/>
          </a:prstGeom>
        </p:spPr>
      </p:pic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961BFE90-8BFE-4B23-9F51-FF5D97D23FF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26734353"/>
              </p:ext>
            </p:extLst>
          </p:nvPr>
        </p:nvGraphicFramePr>
        <p:xfrm>
          <a:off x="0" y="6346968"/>
          <a:ext cx="9683646" cy="555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70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ront Cover Slide3">
    <p:bg>
      <p:bgPr>
        <a:solidFill>
          <a:srgbClr val="0F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ight&#10;&#10;Description automatically generated">
            <a:extLst>
              <a:ext uri="{FF2B5EF4-FFF2-40B4-BE49-F238E27FC236}">
                <a16:creationId xmlns:a16="http://schemas.microsoft.com/office/drawing/2014/main" id="{D8679ED4-FB70-D840-80C9-2F52B551D2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59937" y="-8492973"/>
            <a:ext cx="13259119" cy="13259119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DB967E97-058C-2C43-8210-1EEA3B8EB9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304342" y="-8143780"/>
            <a:ext cx="13259119" cy="132591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ockwell" panose="02060603020205020403" pitchFamily="18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Rockwell" panose="02060603020205020403" pitchFamily="18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C7A7-5DB3-DA4C-A83B-C09897D7003B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BBD14-DE76-4946-9294-A472E2BE4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(pla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1"/>
            <a:ext cx="10515600" cy="1325563"/>
          </a:xfrm>
        </p:spPr>
        <p:txBody>
          <a:bodyPr anchor="t" anchorCtr="0">
            <a:normAutofit/>
          </a:bodyPr>
          <a:lstStyle>
            <a:lvl1pPr>
              <a:defRPr sz="58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C7A7-5DB3-DA4C-A83B-C09897D7003B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BBD14-DE76-4946-9294-A472E2BE4DE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73020E1E-A039-3842-A2FC-AE028C907D23}"/>
              </a:ext>
            </a:extLst>
          </p:cNvPr>
          <p:cNvSpPr/>
          <p:nvPr userDrawn="1"/>
        </p:nvSpPr>
        <p:spPr>
          <a:xfrm>
            <a:off x="0" y="6356351"/>
            <a:ext cx="12192000" cy="536573"/>
          </a:xfrm>
          <a:prstGeom prst="rect">
            <a:avLst/>
          </a:prstGeom>
          <a:solidFill>
            <a:srgbClr val="1C3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8" name="图片 7" descr="图片包含 游戏机, 画, 桌子&#10;&#10;描述已自动生成">
            <a:extLst>
              <a:ext uri="{FF2B5EF4-FFF2-40B4-BE49-F238E27FC236}">
                <a16:creationId xmlns:a16="http://schemas.microsoft.com/office/drawing/2014/main" id="{01E1FF0F-DD4D-FF4E-9AEB-5446F66E3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10118" y="6447161"/>
            <a:ext cx="2190495" cy="4002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417A7B-E2A4-EB4E-96CB-167F2F485627}"/>
              </a:ext>
            </a:extLst>
          </p:cNvPr>
          <p:cNvSpPr txBox="1"/>
          <p:nvPr userDrawn="1"/>
        </p:nvSpPr>
        <p:spPr>
          <a:xfrm>
            <a:off x="221796" y="1099860"/>
            <a:ext cx="10515600" cy="6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333"/>
          </a:p>
        </p:txBody>
      </p:sp>
    </p:spTree>
    <p:extLst>
      <p:ext uri="{BB962C8B-B14F-4D97-AF65-F5344CB8AC3E}">
        <p14:creationId xmlns:p14="http://schemas.microsoft.com/office/powerpoint/2010/main" val="223570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8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72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1">
            <a:extLst>
              <a:ext uri="{FF2B5EF4-FFF2-40B4-BE49-F238E27FC236}">
                <a16:creationId xmlns:a16="http://schemas.microsoft.com/office/drawing/2014/main" id="{DD2E4A57-00F6-8942-8704-469CC6C33929}"/>
              </a:ext>
            </a:extLst>
          </p:cNvPr>
          <p:cNvSpPr txBox="1">
            <a:spLocks/>
          </p:cNvSpPr>
          <p:nvPr/>
        </p:nvSpPr>
        <p:spPr>
          <a:xfrm>
            <a:off x="2667691" y="5382724"/>
            <a:ext cx="7224454" cy="447117"/>
          </a:xfrm>
          <a:prstGeom prst="rect">
            <a:avLst/>
          </a:prstGeom>
          <a:ln w="3175" cmpd="sng">
            <a:noFill/>
          </a:ln>
        </p:spPr>
        <p:txBody>
          <a:bodyPr vert="horz" lIns="121920" tIns="60960" rIns="121920" bIns="60960" rtlCol="0" anchor="b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i="1">
                <a:solidFill>
                  <a:schemeClr val="tx2"/>
                </a:solidFill>
                <a:latin typeface="Avenir Next LT Pro"/>
              </a:rPr>
              <a:t>Week 3: “Acing the Case” </a:t>
            </a:r>
            <a:r>
              <a:rPr lang="en-US" sz="2400">
                <a:solidFill>
                  <a:schemeClr val="tx2"/>
                </a:solidFill>
                <a:latin typeface="Avenir Next LT Pro"/>
              </a:rPr>
              <a:t>| Finch | Yazdjerd | Rizvi</a:t>
            </a:r>
            <a:endParaRPr lang="en-US" sz="240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3BC73-32B4-B948-8F91-2F919A134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34" y="1845790"/>
            <a:ext cx="11109533" cy="316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9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4326-ABF8-B3D9-A164-B506DFE9F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606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/>
              <a:t>If you could teach a class on one thing, what would it be?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80B98-8161-4001-749C-92DAC1A9F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5735"/>
            <a:ext cx="9144000" cy="1655762"/>
          </a:xfrm>
        </p:spPr>
        <p:txBody>
          <a:bodyPr/>
          <a:lstStyle/>
          <a:p>
            <a:r>
              <a:rPr lang="en-US"/>
              <a:t>Icebreaker!</a:t>
            </a:r>
          </a:p>
        </p:txBody>
      </p:sp>
    </p:spTree>
    <p:extLst>
      <p:ext uri="{BB962C8B-B14F-4D97-AF65-F5344CB8AC3E}">
        <p14:creationId xmlns:p14="http://schemas.microsoft.com/office/powerpoint/2010/main" val="399342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2939CB2-6634-2C6A-DD6B-8EC858DD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8" y="245305"/>
            <a:ext cx="12353365" cy="1325563"/>
          </a:xfrm>
        </p:spPr>
        <p:txBody>
          <a:bodyPr>
            <a:noAutofit/>
          </a:bodyPr>
          <a:lstStyle/>
          <a:p>
            <a:r>
              <a:rPr lang="en-US" sz="4600"/>
              <a:t>Tenured Member – Keanu Yazdjerd</a:t>
            </a:r>
            <a:endParaRPr lang="en-US" sz="4600">
              <a:latin typeface="+mj-lt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96E6BF1-9527-B9FA-46C5-1C0542DB229B}"/>
              </a:ext>
            </a:extLst>
          </p:cNvPr>
          <p:cNvSpPr/>
          <p:nvPr/>
        </p:nvSpPr>
        <p:spPr>
          <a:xfrm>
            <a:off x="754565" y="1852273"/>
            <a:ext cx="2520460" cy="3434860"/>
          </a:xfrm>
          <a:custGeom>
            <a:avLst/>
            <a:gdLst>
              <a:gd name="connsiteX0" fmla="*/ 0 w 2520460"/>
              <a:gd name="connsiteY0" fmla="*/ 0 h 3434860"/>
              <a:gd name="connsiteX1" fmla="*/ 2286000 w 2520460"/>
              <a:gd name="connsiteY1" fmla="*/ 0 h 3434860"/>
              <a:gd name="connsiteX2" fmla="*/ 2286000 w 2520460"/>
              <a:gd name="connsiteY2" fmla="*/ 234460 h 3434860"/>
              <a:gd name="connsiteX3" fmla="*/ 2520460 w 2520460"/>
              <a:gd name="connsiteY3" fmla="*/ 234460 h 3434860"/>
              <a:gd name="connsiteX4" fmla="*/ 2520460 w 2520460"/>
              <a:gd name="connsiteY4" fmla="*/ 3434860 h 3434860"/>
              <a:gd name="connsiteX5" fmla="*/ 234460 w 2520460"/>
              <a:gd name="connsiteY5" fmla="*/ 3434860 h 3434860"/>
              <a:gd name="connsiteX6" fmla="*/ 234460 w 2520460"/>
              <a:gd name="connsiteY6" fmla="*/ 3200400 h 3434860"/>
              <a:gd name="connsiteX7" fmla="*/ 0 w 2520460"/>
              <a:gd name="connsiteY7" fmla="*/ 3200400 h 3434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460" h="3434860">
                <a:moveTo>
                  <a:pt x="0" y="0"/>
                </a:moveTo>
                <a:lnTo>
                  <a:pt x="2286000" y="0"/>
                </a:lnTo>
                <a:lnTo>
                  <a:pt x="2286000" y="234460"/>
                </a:lnTo>
                <a:lnTo>
                  <a:pt x="2520460" y="234460"/>
                </a:lnTo>
                <a:lnTo>
                  <a:pt x="2520460" y="3434860"/>
                </a:lnTo>
                <a:lnTo>
                  <a:pt x="234460" y="3434860"/>
                </a:lnTo>
                <a:lnTo>
                  <a:pt x="234460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ADDA915-6736-4B57-CDD1-9E7313FE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6640" y="1853833"/>
            <a:ext cx="7840795" cy="4351339"/>
          </a:xfrm>
        </p:spPr>
        <p:txBody>
          <a:bodyPr vert="horz" lIns="121920" tIns="60960" rIns="121920" bIns="6096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Year: </a:t>
            </a:r>
            <a:r>
              <a:rPr lang="en-US" sz="1600">
                <a:latin typeface="Avenir Next LT Pro"/>
              </a:rPr>
              <a:t>Junior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Hometown: </a:t>
            </a:r>
            <a:r>
              <a:rPr lang="en-US" sz="1600">
                <a:latin typeface="Avenir Next LT Pro"/>
              </a:rPr>
              <a:t>Downingtown, PA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Majors: </a:t>
            </a:r>
            <a:r>
              <a:rPr lang="en-US" sz="1600">
                <a:latin typeface="Avenir Next LT Pro"/>
              </a:rPr>
              <a:t>Finance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Minors: </a:t>
            </a:r>
            <a:r>
              <a:rPr lang="en-US" sz="1600">
                <a:latin typeface="Avenir Next LT Pro"/>
              </a:rPr>
              <a:t>Information Systems Management (ISM)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Professional Experience: </a:t>
            </a:r>
            <a:r>
              <a:rPr lang="en-US" sz="1600">
                <a:latin typeface="Avenir Next LT Pro"/>
              </a:rPr>
              <a:t>Incoming Strategy Summer Scholar at Deloitte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Previous NLCG Experience/Engagements: </a:t>
            </a:r>
            <a:r>
              <a:rPr lang="en-US" sz="1600">
                <a:latin typeface="Avenir Next LT Pro"/>
              </a:rPr>
              <a:t>Associate Consultant – Boeing Project, Portfolio Development Lead – CTP, Engagement Manager – PSU D&amp;I Project, Vice President of Corporate Relations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Other PSU Involvements: </a:t>
            </a:r>
            <a:r>
              <a:rPr lang="en-US" sz="1600">
                <a:latin typeface="Avenir Next LT Pro"/>
              </a:rPr>
              <a:t>Phi Gamma Nu, Business Statistics TA</a:t>
            </a:r>
            <a:endParaRPr lang="en-US" sz="160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Hobbies/Interests: </a:t>
            </a:r>
            <a:r>
              <a:rPr lang="en-US" sz="1600">
                <a:latin typeface="Avenir Next LT Pro"/>
              </a:rPr>
              <a:t>Philly Sports, UFC, Snowboarding</a:t>
            </a:r>
          </a:p>
        </p:txBody>
      </p:sp>
      <p:pic>
        <p:nvPicPr>
          <p:cNvPr id="3" name="Picture 2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2DB1E926-0C2A-7E9F-37B9-CA22C9300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4" t="26117" r="32527" b="-2037"/>
          <a:stretch/>
        </p:blipFill>
        <p:spPr>
          <a:xfrm>
            <a:off x="877154" y="2019337"/>
            <a:ext cx="2275281" cy="310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8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2939CB2-6634-2C6A-DD6B-8EC858DD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8" y="245305"/>
            <a:ext cx="12353365" cy="1325563"/>
          </a:xfrm>
        </p:spPr>
        <p:txBody>
          <a:bodyPr>
            <a:normAutofit/>
          </a:bodyPr>
          <a:lstStyle/>
          <a:p>
            <a:r>
              <a:rPr lang="en-US" sz="4600"/>
              <a:t>Tenured</a:t>
            </a:r>
            <a:r>
              <a:rPr lang="en-US" sz="4600">
                <a:latin typeface="+mj-lt"/>
              </a:rPr>
              <a:t> Member – Monem Rizvi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96E6BF1-9527-B9FA-46C5-1C0542DB229B}"/>
              </a:ext>
            </a:extLst>
          </p:cNvPr>
          <p:cNvSpPr/>
          <p:nvPr/>
        </p:nvSpPr>
        <p:spPr>
          <a:xfrm>
            <a:off x="754565" y="1852273"/>
            <a:ext cx="2520460" cy="3434860"/>
          </a:xfrm>
          <a:custGeom>
            <a:avLst/>
            <a:gdLst>
              <a:gd name="connsiteX0" fmla="*/ 0 w 2520460"/>
              <a:gd name="connsiteY0" fmla="*/ 0 h 3434860"/>
              <a:gd name="connsiteX1" fmla="*/ 2286000 w 2520460"/>
              <a:gd name="connsiteY1" fmla="*/ 0 h 3434860"/>
              <a:gd name="connsiteX2" fmla="*/ 2286000 w 2520460"/>
              <a:gd name="connsiteY2" fmla="*/ 234460 h 3434860"/>
              <a:gd name="connsiteX3" fmla="*/ 2520460 w 2520460"/>
              <a:gd name="connsiteY3" fmla="*/ 234460 h 3434860"/>
              <a:gd name="connsiteX4" fmla="*/ 2520460 w 2520460"/>
              <a:gd name="connsiteY4" fmla="*/ 3434860 h 3434860"/>
              <a:gd name="connsiteX5" fmla="*/ 234460 w 2520460"/>
              <a:gd name="connsiteY5" fmla="*/ 3434860 h 3434860"/>
              <a:gd name="connsiteX6" fmla="*/ 234460 w 2520460"/>
              <a:gd name="connsiteY6" fmla="*/ 3200400 h 3434860"/>
              <a:gd name="connsiteX7" fmla="*/ 0 w 2520460"/>
              <a:gd name="connsiteY7" fmla="*/ 3200400 h 3434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0460" h="3434860">
                <a:moveTo>
                  <a:pt x="0" y="0"/>
                </a:moveTo>
                <a:lnTo>
                  <a:pt x="2286000" y="0"/>
                </a:lnTo>
                <a:lnTo>
                  <a:pt x="2286000" y="234460"/>
                </a:lnTo>
                <a:lnTo>
                  <a:pt x="2520460" y="234460"/>
                </a:lnTo>
                <a:lnTo>
                  <a:pt x="2520460" y="3434860"/>
                </a:lnTo>
                <a:lnTo>
                  <a:pt x="234460" y="3434860"/>
                </a:lnTo>
                <a:lnTo>
                  <a:pt x="234460" y="3200400"/>
                </a:lnTo>
                <a:lnTo>
                  <a:pt x="0" y="3200400"/>
                </a:lnTo>
                <a:close/>
              </a:path>
            </a:pathLst>
          </a:cu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ADDA915-6736-4B57-CDD1-9E7313FE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6640" y="1853833"/>
            <a:ext cx="7840795" cy="4351339"/>
          </a:xfrm>
        </p:spPr>
        <p:txBody>
          <a:bodyPr vert="horz" lIns="121920" tIns="60960" rIns="121920" bIns="6096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Year: </a:t>
            </a:r>
            <a:r>
              <a:rPr lang="en-US" sz="1600">
                <a:latin typeface="Avenir Next LT Pro"/>
              </a:rPr>
              <a:t>Junior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Hometown: </a:t>
            </a:r>
            <a:r>
              <a:rPr lang="en-US" sz="1600">
                <a:latin typeface="Avenir Next LT Pro"/>
              </a:rPr>
              <a:t>Bethlehem, PA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Majors: </a:t>
            </a:r>
            <a:r>
              <a:rPr lang="en-US" sz="1600">
                <a:latin typeface="Avenir Next LT Pro"/>
              </a:rPr>
              <a:t>Finance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Minors: </a:t>
            </a:r>
            <a:r>
              <a:rPr lang="en-US" sz="1600">
                <a:latin typeface="Avenir Next LT Pro"/>
              </a:rPr>
              <a:t>Information Systems Management (ISM)</a:t>
            </a:r>
            <a:endParaRPr lang="en-US" sz="1600" b="1">
              <a:latin typeface="Avenir Next LT Pro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Professional Experience: </a:t>
            </a:r>
            <a:r>
              <a:rPr lang="en-US" sz="1600">
                <a:latin typeface="Avenir Next LT Pro"/>
              </a:rPr>
              <a:t>Incoming Finance Transformation Intern at KPMG</a:t>
            </a:r>
            <a:endParaRPr lang="en-US" sz="1600" b="1">
              <a:latin typeface="Avenir Next LT Pro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Previous NLCG Experience/ Engagements: </a:t>
            </a:r>
            <a:r>
              <a:rPr lang="en-US" sz="1600">
                <a:latin typeface="Avenir Next LT Pro"/>
              </a:rPr>
              <a:t>Associate Consultant – Smeal Alumni Society Board, Engagement Manager – Wegmans, Director – SBU Black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Other PSU Involvements: </a:t>
            </a:r>
            <a:r>
              <a:rPr lang="en-US" sz="1600">
                <a:latin typeface="Avenir Next LT Pro"/>
              </a:rPr>
              <a:t>Alpha Kappa Psi, Humanitarian Engineering &amp; Social Entrepreneurship Program, Sapphire, FIN301 TA, and Smeal Student Council</a:t>
            </a:r>
            <a:endParaRPr lang="en-US" sz="160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latin typeface="Avenir Next LT Pro"/>
              </a:rPr>
              <a:t>Hobbies/Interests: </a:t>
            </a:r>
            <a:r>
              <a:rPr lang="en-US" sz="1600">
                <a:latin typeface="Avenir Next LT Pro"/>
              </a:rPr>
              <a:t>Colts Football, </a:t>
            </a:r>
            <a:r>
              <a:rPr lang="en-US" sz="1600" i="1">
                <a:latin typeface="Avenir Next LT Pro"/>
              </a:rPr>
              <a:t>House of Dragon</a:t>
            </a:r>
            <a:r>
              <a:rPr lang="en-US" sz="1600">
                <a:latin typeface="Avenir Next LT Pro"/>
              </a:rPr>
              <a:t>, Professional Mini-Golf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4EEF-CD0E-FDDA-D4DC-5CCE9E44C2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1" r="29237"/>
          <a:stretch/>
        </p:blipFill>
        <p:spPr>
          <a:xfrm>
            <a:off x="861769" y="2002633"/>
            <a:ext cx="2306051" cy="31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07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58F30E-F3E2-9C41-9F1F-88390B95C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9B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C3643-C853-634F-A11E-C004819900AC}"/>
              </a:ext>
            </a:extLst>
          </p:cNvPr>
          <p:cNvSpPr txBox="1"/>
          <p:nvPr/>
        </p:nvSpPr>
        <p:spPr>
          <a:xfrm>
            <a:off x="1981200" y="2921169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Avenir Next LT Pro" panose="020B0504020202020204" pitchFamily="34" charset="77"/>
              </a:rPr>
              <a:t>Tonight’s Agenda</a:t>
            </a:r>
          </a:p>
        </p:txBody>
      </p:sp>
    </p:spTree>
    <p:extLst>
      <p:ext uri="{BB962C8B-B14F-4D97-AF65-F5344CB8AC3E}">
        <p14:creationId xmlns:p14="http://schemas.microsoft.com/office/powerpoint/2010/main" val="279648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17EA3-74A4-6986-1787-A4C71993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1"/>
            <a:ext cx="10515600" cy="1325563"/>
          </a:xfrm>
        </p:spPr>
        <p:txBody>
          <a:bodyPr/>
          <a:lstStyle/>
          <a:p>
            <a:r>
              <a:rPr lang="en-US">
                <a:latin typeface="+mj-lt"/>
              </a:rPr>
              <a:t>Agenda</a:t>
            </a:r>
          </a:p>
        </p:txBody>
      </p:sp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D00FA21D-840E-4F02-3A54-14ABE54228BE}"/>
              </a:ext>
            </a:extLst>
          </p:cNvPr>
          <p:cNvSpPr/>
          <p:nvPr/>
        </p:nvSpPr>
        <p:spPr>
          <a:xfrm>
            <a:off x="3574062" y="1441180"/>
            <a:ext cx="5898644" cy="57566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latin typeface="Avenir Next LT Pro" panose="020B0504020202020204" pitchFamily="34" charset="0"/>
              </a:rPr>
              <a:t>Intro To Casing 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1800816-84E4-2AB0-79FE-FDD6D1284981}"/>
              </a:ext>
            </a:extLst>
          </p:cNvPr>
          <p:cNvSpPr/>
          <p:nvPr/>
        </p:nvSpPr>
        <p:spPr>
          <a:xfrm>
            <a:off x="3574058" y="2121174"/>
            <a:ext cx="5898644" cy="57566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latin typeface="Avenir Next LT Pro" panose="020B0504020202020204" pitchFamily="34" charset="0"/>
              </a:rPr>
              <a:t>Beginning a Case</a:t>
            </a:r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C6191BEE-064B-D877-0EDF-B5293D29E596}"/>
              </a:ext>
            </a:extLst>
          </p:cNvPr>
          <p:cNvSpPr/>
          <p:nvPr/>
        </p:nvSpPr>
        <p:spPr>
          <a:xfrm>
            <a:off x="3574058" y="2801170"/>
            <a:ext cx="5898644" cy="57566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latin typeface="Avenir Next LT Pro" panose="020B0504020202020204" pitchFamily="34" charset="0"/>
              </a:rPr>
              <a:t>Body of a Case</a:t>
            </a:r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5B605690-75DD-BC46-803F-F471DF0D0436}"/>
              </a:ext>
            </a:extLst>
          </p:cNvPr>
          <p:cNvSpPr/>
          <p:nvPr/>
        </p:nvSpPr>
        <p:spPr>
          <a:xfrm>
            <a:off x="3574058" y="4161160"/>
            <a:ext cx="5898644" cy="57566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latin typeface="Avenir Next LT Pro" panose="020B0504020202020204" pitchFamily="34" charset="0"/>
              </a:rPr>
              <a:t>In Person Case</a:t>
            </a:r>
          </a:p>
        </p:txBody>
      </p:sp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6B6A20B7-645F-7A00-2F80-7ED5436BC45C}"/>
              </a:ext>
            </a:extLst>
          </p:cNvPr>
          <p:cNvSpPr/>
          <p:nvPr/>
        </p:nvSpPr>
        <p:spPr>
          <a:xfrm>
            <a:off x="3574058" y="4841156"/>
            <a:ext cx="5898644" cy="57566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latin typeface="Avenir Next LT Pro" panose="020B0504020202020204" pitchFamily="34" charset="0"/>
              </a:rPr>
              <a:t>Looking Ahead</a:t>
            </a:r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D1EE0744-75E6-F843-7173-6DC9909F5A8E}"/>
              </a:ext>
            </a:extLst>
          </p:cNvPr>
          <p:cNvSpPr/>
          <p:nvPr/>
        </p:nvSpPr>
        <p:spPr>
          <a:xfrm>
            <a:off x="3574058" y="3481165"/>
            <a:ext cx="5898644" cy="575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latin typeface="Avenir Next LT Pro" panose="020B0504020202020204" pitchFamily="34" charset="0"/>
              </a:rPr>
              <a:t>Conclusion</a:t>
            </a:r>
          </a:p>
        </p:txBody>
      </p:sp>
      <p:pic>
        <p:nvPicPr>
          <p:cNvPr id="11" name="Graphic 10" descr="Badge 6 outline">
            <a:extLst>
              <a:ext uri="{FF2B5EF4-FFF2-40B4-BE49-F238E27FC236}">
                <a16:creationId xmlns:a16="http://schemas.microsoft.com/office/drawing/2014/main" id="{5BF2448B-845C-AB0C-15DA-B9B6B06A7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9293" y="4841155"/>
            <a:ext cx="629960" cy="573863"/>
          </a:xfrm>
          <a:prstGeom prst="rect">
            <a:avLst/>
          </a:prstGeom>
        </p:spPr>
      </p:pic>
      <p:pic>
        <p:nvPicPr>
          <p:cNvPr id="12" name="Graphic 11" descr="Badge 5 outline">
            <a:extLst>
              <a:ext uri="{FF2B5EF4-FFF2-40B4-BE49-F238E27FC236}">
                <a16:creationId xmlns:a16="http://schemas.microsoft.com/office/drawing/2014/main" id="{621302D4-5DE8-8258-EAB0-FEF7FB758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9293" y="4162963"/>
            <a:ext cx="629960" cy="573863"/>
          </a:xfrm>
          <a:prstGeom prst="rect">
            <a:avLst/>
          </a:prstGeom>
        </p:spPr>
      </p:pic>
      <p:pic>
        <p:nvPicPr>
          <p:cNvPr id="13" name="Graphic 12" descr="Badge 4 outline">
            <a:extLst>
              <a:ext uri="{FF2B5EF4-FFF2-40B4-BE49-F238E27FC236}">
                <a16:creationId xmlns:a16="http://schemas.microsoft.com/office/drawing/2014/main" id="{1DE59B0F-2345-D33A-A01D-448035774A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9293" y="3482969"/>
            <a:ext cx="629960" cy="573863"/>
          </a:xfrm>
          <a:prstGeom prst="rect">
            <a:avLst/>
          </a:prstGeom>
        </p:spPr>
      </p:pic>
      <p:pic>
        <p:nvPicPr>
          <p:cNvPr id="14" name="Graphic 13" descr="Badge 3 outline">
            <a:extLst>
              <a:ext uri="{FF2B5EF4-FFF2-40B4-BE49-F238E27FC236}">
                <a16:creationId xmlns:a16="http://schemas.microsoft.com/office/drawing/2014/main" id="{51CD65E2-8326-9C60-9259-F017914B7F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19293" y="2798599"/>
            <a:ext cx="629960" cy="573863"/>
          </a:xfrm>
          <a:prstGeom prst="rect">
            <a:avLst/>
          </a:prstGeom>
        </p:spPr>
      </p:pic>
      <p:pic>
        <p:nvPicPr>
          <p:cNvPr id="15" name="Graphic 14" descr="Badge outline">
            <a:extLst>
              <a:ext uri="{FF2B5EF4-FFF2-40B4-BE49-F238E27FC236}">
                <a16:creationId xmlns:a16="http://schemas.microsoft.com/office/drawing/2014/main" id="{A43BF237-E536-E6E3-A95E-5116398B8A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19293" y="2122978"/>
            <a:ext cx="629960" cy="573863"/>
          </a:xfrm>
          <a:prstGeom prst="rect">
            <a:avLst/>
          </a:prstGeom>
        </p:spPr>
      </p:pic>
      <p:pic>
        <p:nvPicPr>
          <p:cNvPr id="16" name="Graphic 15" descr="Badge 1 outline">
            <a:extLst>
              <a:ext uri="{FF2B5EF4-FFF2-40B4-BE49-F238E27FC236}">
                <a16:creationId xmlns:a16="http://schemas.microsoft.com/office/drawing/2014/main" id="{0A85C1DA-A590-0785-0FA1-C31C12A0FA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19294" y="1441180"/>
            <a:ext cx="631940" cy="57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4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D895-575C-4E43-BBFE-B5DCC7D9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Consulting Interviews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991948-D65D-C641-B6A9-2486B6722AB7}"/>
              </a:ext>
            </a:extLst>
          </p:cNvPr>
          <p:cNvSpPr/>
          <p:nvPr/>
        </p:nvSpPr>
        <p:spPr>
          <a:xfrm>
            <a:off x="2504503" y="1761781"/>
            <a:ext cx="2893760" cy="2807636"/>
          </a:xfrm>
          <a:prstGeom prst="ellips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Graphic 11" descr="Questions with solid fill">
            <a:extLst>
              <a:ext uri="{FF2B5EF4-FFF2-40B4-BE49-F238E27FC236}">
                <a16:creationId xmlns:a16="http://schemas.microsoft.com/office/drawing/2014/main" id="{C61E0A76-2FE6-0943-8191-D24774717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3118" y="2126782"/>
            <a:ext cx="1899357" cy="1899357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3EEC8E63-44D5-DC48-A9BD-C834A350E951}"/>
              </a:ext>
            </a:extLst>
          </p:cNvPr>
          <p:cNvSpPr/>
          <p:nvPr/>
        </p:nvSpPr>
        <p:spPr>
          <a:xfrm>
            <a:off x="6617468" y="1761781"/>
            <a:ext cx="2893760" cy="2807636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Graphic 13" descr="Thought with solid fill">
            <a:extLst>
              <a:ext uri="{FF2B5EF4-FFF2-40B4-BE49-F238E27FC236}">
                <a16:creationId xmlns:a16="http://schemas.microsoft.com/office/drawing/2014/main" id="{17ACAF2F-2204-F248-8140-D855061B76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670" y="2215919"/>
            <a:ext cx="1899356" cy="18993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35B2C8-F939-3842-850C-3B88AA57D8A4}"/>
              </a:ext>
            </a:extLst>
          </p:cNvPr>
          <p:cNvSpPr txBox="1"/>
          <p:nvPr/>
        </p:nvSpPr>
        <p:spPr>
          <a:xfrm>
            <a:off x="2425479" y="4698685"/>
            <a:ext cx="3051807" cy="86177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algn="ctr"/>
            <a:r>
              <a:rPr lang="en-US" sz="2400">
                <a:latin typeface="Avenir Next LT Pro" panose="020B0504020202020204" pitchFamily="34" charset="77"/>
              </a:rPr>
              <a:t>Behavioral Interview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BB7CB-D7E4-0F42-BC54-435447CA0AA4}"/>
              </a:ext>
            </a:extLst>
          </p:cNvPr>
          <p:cNvSpPr txBox="1"/>
          <p:nvPr/>
        </p:nvSpPr>
        <p:spPr>
          <a:xfrm>
            <a:off x="6536730" y="4699466"/>
            <a:ext cx="3051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Avenir Next LT Pro" panose="020B0504020202020204" pitchFamily="34" charset="77"/>
              </a:rPr>
              <a:t>Case Interview</a:t>
            </a: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72E3471D-C02B-F049-8231-AEAC55D8F69F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62523E-64A0-5D41-972D-2FF7F1D86134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08783-E6B2-4145-B413-8CBCC1577501}"/>
              </a:ext>
            </a:extLst>
          </p:cNvPr>
          <p:cNvSpPr/>
          <p:nvPr/>
        </p:nvSpPr>
        <p:spPr>
          <a:xfrm>
            <a:off x="6298174" y="1248114"/>
            <a:ext cx="4693920" cy="4913376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27739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D895-575C-4E43-BBFE-B5DCC7D9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Consulting Interviews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991948-D65D-C641-B6A9-2486B6722AB7}"/>
              </a:ext>
            </a:extLst>
          </p:cNvPr>
          <p:cNvSpPr/>
          <p:nvPr/>
        </p:nvSpPr>
        <p:spPr>
          <a:xfrm>
            <a:off x="2504503" y="1761781"/>
            <a:ext cx="2893760" cy="2807636"/>
          </a:xfrm>
          <a:prstGeom prst="ellips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Graphic 11" descr="Questions with solid fill">
            <a:extLst>
              <a:ext uri="{FF2B5EF4-FFF2-40B4-BE49-F238E27FC236}">
                <a16:creationId xmlns:a16="http://schemas.microsoft.com/office/drawing/2014/main" id="{C61E0A76-2FE6-0943-8191-D24774717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3118" y="2126782"/>
            <a:ext cx="1899357" cy="1899357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3EEC8E63-44D5-DC48-A9BD-C834A350E951}"/>
              </a:ext>
            </a:extLst>
          </p:cNvPr>
          <p:cNvSpPr/>
          <p:nvPr/>
        </p:nvSpPr>
        <p:spPr>
          <a:xfrm>
            <a:off x="6617468" y="1761781"/>
            <a:ext cx="2893760" cy="2807636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Graphic 13" descr="Thought with solid fill">
            <a:extLst>
              <a:ext uri="{FF2B5EF4-FFF2-40B4-BE49-F238E27FC236}">
                <a16:creationId xmlns:a16="http://schemas.microsoft.com/office/drawing/2014/main" id="{17ACAF2F-2204-F248-8140-D855061B76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670" y="2215919"/>
            <a:ext cx="1899356" cy="18993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35B2C8-F939-3842-850C-3B88AA57D8A4}"/>
              </a:ext>
            </a:extLst>
          </p:cNvPr>
          <p:cNvSpPr txBox="1"/>
          <p:nvPr/>
        </p:nvSpPr>
        <p:spPr>
          <a:xfrm>
            <a:off x="2425479" y="4698685"/>
            <a:ext cx="3051807" cy="86177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algn="ctr"/>
            <a:r>
              <a:rPr lang="en-US" sz="2400">
                <a:latin typeface="Avenir Next LT Pro" panose="020B0504020202020204" pitchFamily="34" charset="77"/>
              </a:rPr>
              <a:t>Behavioral Interview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BB7CB-D7E4-0F42-BC54-435447CA0AA4}"/>
              </a:ext>
            </a:extLst>
          </p:cNvPr>
          <p:cNvSpPr txBox="1"/>
          <p:nvPr/>
        </p:nvSpPr>
        <p:spPr>
          <a:xfrm>
            <a:off x="6536730" y="4699466"/>
            <a:ext cx="3051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Avenir Next LT Pro" panose="020B0504020202020204" pitchFamily="34" charset="77"/>
              </a:rPr>
              <a:t>Case Interview</a:t>
            </a:r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72E3471D-C02B-F049-8231-AEAC55D8F69F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62523E-64A0-5D41-972D-2FF7F1D86134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08783-E6B2-4145-B413-8CBCC1577501}"/>
              </a:ext>
            </a:extLst>
          </p:cNvPr>
          <p:cNvSpPr/>
          <p:nvPr/>
        </p:nvSpPr>
        <p:spPr>
          <a:xfrm>
            <a:off x="1558901" y="1297541"/>
            <a:ext cx="4693920" cy="4913376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13368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CAAC1-B83B-8246-9E05-EAD6932E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Interviews</a:t>
            </a:r>
          </a:p>
        </p:txBody>
      </p:sp>
      <p:sp>
        <p:nvSpPr>
          <p:cNvPr id="50" name="Chevron 49">
            <a:extLst>
              <a:ext uri="{FF2B5EF4-FFF2-40B4-BE49-F238E27FC236}">
                <a16:creationId xmlns:a16="http://schemas.microsoft.com/office/drawing/2014/main" id="{FAD8F6B9-FC5F-FE4F-8D67-5CC6841C55EC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B58FEB-3BA6-BC49-8CAB-ED584FA92263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45603BD-77AF-1EE3-D780-473C8F1C8887}"/>
              </a:ext>
            </a:extLst>
          </p:cNvPr>
          <p:cNvGrpSpPr/>
          <p:nvPr/>
        </p:nvGrpSpPr>
        <p:grpSpPr>
          <a:xfrm>
            <a:off x="867833" y="1172946"/>
            <a:ext cx="11324167" cy="5124292"/>
            <a:chOff x="1016000" y="1259449"/>
            <a:chExt cx="11324167" cy="528144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86382FE-6B56-0D43-0B33-3A1736616F22}"/>
                </a:ext>
              </a:extLst>
            </p:cNvPr>
            <p:cNvSpPr/>
            <p:nvPr/>
          </p:nvSpPr>
          <p:spPr>
            <a:xfrm>
              <a:off x="1016000" y="4152430"/>
              <a:ext cx="5538091" cy="96906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Avenir Next LT Pro" panose="020B0504020202020204" pitchFamily="34" charset="77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00178CE-21AC-AA2D-62EF-91F9DB0484D3}"/>
                </a:ext>
              </a:extLst>
            </p:cNvPr>
            <p:cNvGrpSpPr/>
            <p:nvPr/>
          </p:nvGrpSpPr>
          <p:grpSpPr>
            <a:xfrm>
              <a:off x="1016000" y="1259449"/>
              <a:ext cx="11324167" cy="5281448"/>
              <a:chOff x="1016000" y="1259449"/>
              <a:chExt cx="11324167" cy="528144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24DD24E-6AD2-B782-4B07-AC8266956167}"/>
                  </a:ext>
                </a:extLst>
              </p:cNvPr>
              <p:cNvSpPr/>
              <p:nvPr/>
            </p:nvSpPr>
            <p:spPr>
              <a:xfrm>
                <a:off x="1016000" y="2226358"/>
                <a:ext cx="5538091" cy="96906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latin typeface="Avenir Next LT Pro" panose="020B0504020202020204" pitchFamily="34" charset="77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DF2ED3A-DF67-CC2F-4469-404D447BB440}"/>
                  </a:ext>
                </a:extLst>
              </p:cNvPr>
              <p:cNvSpPr/>
              <p:nvPr/>
            </p:nvSpPr>
            <p:spPr>
              <a:xfrm>
                <a:off x="1016000" y="3188643"/>
                <a:ext cx="5538091" cy="969069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latin typeface="Avenir Next LT Pro" panose="020B0504020202020204" pitchFamily="34" charset="77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530908D-0C06-6624-C71B-A930B3883F6F}"/>
                  </a:ext>
                </a:extLst>
              </p:cNvPr>
              <p:cNvSpPr/>
              <p:nvPr/>
            </p:nvSpPr>
            <p:spPr>
              <a:xfrm>
                <a:off x="1016000" y="1264072"/>
                <a:ext cx="5538091" cy="96906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latin typeface="Avenir Next LT Pro" panose="020B0504020202020204" pitchFamily="34" charset="77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6619970-26B6-2253-7A7B-42C035A85962}"/>
                  </a:ext>
                </a:extLst>
              </p:cNvPr>
              <p:cNvGrpSpPr/>
              <p:nvPr/>
            </p:nvGrpSpPr>
            <p:grpSpPr>
              <a:xfrm>
                <a:off x="6542074" y="1259449"/>
                <a:ext cx="5798093" cy="5281448"/>
                <a:chOff x="6542074" y="1259449"/>
                <a:chExt cx="5798093" cy="5281448"/>
              </a:xfrm>
            </p:grpSpPr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1352F8C6-B084-C6C7-DF80-677F41E130EA}"/>
                    </a:ext>
                  </a:extLst>
                </p:cNvPr>
                <p:cNvSpPr/>
                <p:nvPr/>
              </p:nvSpPr>
              <p:spPr>
                <a:xfrm rot="16200000">
                  <a:off x="6195329" y="1606194"/>
                  <a:ext cx="1327470" cy="633980"/>
                </a:xfrm>
                <a:custGeom>
                  <a:avLst/>
                  <a:gdLst>
                    <a:gd name="connsiteX0" fmla="*/ 992134 w 992134"/>
                    <a:gd name="connsiteY0" fmla="*/ 1 h 475485"/>
                    <a:gd name="connsiteX1" fmla="*/ 992134 w 992134"/>
                    <a:gd name="connsiteY1" fmla="*/ 475485 h 475485"/>
                    <a:gd name="connsiteX2" fmla="*/ 306334 w 992134"/>
                    <a:gd name="connsiteY2" fmla="*/ 475485 h 475485"/>
                    <a:gd name="connsiteX3" fmla="*/ 306334 w 992134"/>
                    <a:gd name="connsiteY3" fmla="*/ 475484 h 475485"/>
                    <a:gd name="connsiteX4" fmla="*/ 0 w 992134"/>
                    <a:gd name="connsiteY4" fmla="*/ 475484 h 475485"/>
                    <a:gd name="connsiteX5" fmla="*/ 253885 w 992134"/>
                    <a:gd name="connsiteY5" fmla="*/ 0 h 475485"/>
                    <a:gd name="connsiteX6" fmla="*/ 685800 w 992134"/>
                    <a:gd name="connsiteY6" fmla="*/ 0 h 475485"/>
                    <a:gd name="connsiteX7" fmla="*/ 685800 w 992134"/>
                    <a:gd name="connsiteY7" fmla="*/ 1 h 47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92134" h="475485">
                      <a:moveTo>
                        <a:pt x="992134" y="1"/>
                      </a:moveTo>
                      <a:lnTo>
                        <a:pt x="992134" y="475485"/>
                      </a:lnTo>
                      <a:lnTo>
                        <a:pt x="306334" y="475485"/>
                      </a:lnTo>
                      <a:lnTo>
                        <a:pt x="306334" y="475484"/>
                      </a:lnTo>
                      <a:lnTo>
                        <a:pt x="0" y="475484"/>
                      </a:lnTo>
                      <a:lnTo>
                        <a:pt x="253885" y="0"/>
                      </a:lnTo>
                      <a:lnTo>
                        <a:pt x="685800" y="0"/>
                      </a:lnTo>
                      <a:lnTo>
                        <a:pt x="685800" y="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3200"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ACB0A154-90E8-F67B-130F-8E0A7EA00757}"/>
                    </a:ext>
                  </a:extLst>
                </p:cNvPr>
                <p:cNvSpPr/>
                <p:nvPr/>
              </p:nvSpPr>
              <p:spPr>
                <a:xfrm rot="16200000">
                  <a:off x="6029416" y="2745800"/>
                  <a:ext cx="1659301" cy="633980"/>
                </a:xfrm>
                <a:custGeom>
                  <a:avLst/>
                  <a:gdLst>
                    <a:gd name="connsiteX0" fmla="*/ 1249561 w 1249561"/>
                    <a:gd name="connsiteY0" fmla="*/ 1 h 475485"/>
                    <a:gd name="connsiteX1" fmla="*/ 991278 w 1249561"/>
                    <a:gd name="connsiteY1" fmla="*/ 475485 h 475485"/>
                    <a:gd name="connsiteX2" fmla="*/ 434530 w 1249561"/>
                    <a:gd name="connsiteY2" fmla="*/ 475485 h 475485"/>
                    <a:gd name="connsiteX3" fmla="*/ 434531 w 1249561"/>
                    <a:gd name="connsiteY3" fmla="*/ 475484 h 475485"/>
                    <a:gd name="connsiteX4" fmla="*/ 0 w 1249561"/>
                    <a:gd name="connsiteY4" fmla="*/ 475484 h 475485"/>
                    <a:gd name="connsiteX5" fmla="*/ 521910 w 1249561"/>
                    <a:gd name="connsiteY5" fmla="*/ 0 h 475485"/>
                    <a:gd name="connsiteX6" fmla="*/ 1109579 w 1249561"/>
                    <a:gd name="connsiteY6" fmla="*/ 0 h 475485"/>
                    <a:gd name="connsiteX7" fmla="*/ 1109578 w 1249561"/>
                    <a:gd name="connsiteY7" fmla="*/ 1 h 47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49561" h="475485">
                      <a:moveTo>
                        <a:pt x="1249561" y="1"/>
                      </a:moveTo>
                      <a:lnTo>
                        <a:pt x="991278" y="475485"/>
                      </a:lnTo>
                      <a:lnTo>
                        <a:pt x="434530" y="475485"/>
                      </a:lnTo>
                      <a:lnTo>
                        <a:pt x="434531" y="475484"/>
                      </a:lnTo>
                      <a:lnTo>
                        <a:pt x="0" y="475484"/>
                      </a:lnTo>
                      <a:lnTo>
                        <a:pt x="521910" y="0"/>
                      </a:lnTo>
                      <a:lnTo>
                        <a:pt x="1109579" y="0"/>
                      </a:lnTo>
                      <a:lnTo>
                        <a:pt x="1109578" y="1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4267"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51A0CA00-B067-A107-BA60-A19B8614828D}"/>
                    </a:ext>
                  </a:extLst>
                </p:cNvPr>
                <p:cNvSpPr/>
                <p:nvPr/>
              </p:nvSpPr>
              <p:spPr>
                <a:xfrm rot="16200000">
                  <a:off x="5845020" y="3892482"/>
                  <a:ext cx="2028092" cy="633980"/>
                </a:xfrm>
                <a:custGeom>
                  <a:avLst/>
                  <a:gdLst>
                    <a:gd name="connsiteX0" fmla="*/ 1526156 w 1526156"/>
                    <a:gd name="connsiteY0" fmla="*/ 1 h 475485"/>
                    <a:gd name="connsiteX1" fmla="*/ 1025091 w 1526156"/>
                    <a:gd name="connsiteY1" fmla="*/ 475485 h 475485"/>
                    <a:gd name="connsiteX2" fmla="*/ 355289 w 1526156"/>
                    <a:gd name="connsiteY2" fmla="*/ 475485 h 475485"/>
                    <a:gd name="connsiteX3" fmla="*/ 355289 w 1526156"/>
                    <a:gd name="connsiteY3" fmla="*/ 475484 h 475485"/>
                    <a:gd name="connsiteX4" fmla="*/ 0 w 1526156"/>
                    <a:gd name="connsiteY4" fmla="*/ 475484 h 475485"/>
                    <a:gd name="connsiteX5" fmla="*/ 789589 w 1526156"/>
                    <a:gd name="connsiteY5" fmla="*/ 0 h 475485"/>
                    <a:gd name="connsiteX6" fmla="*/ 1345888 w 1526156"/>
                    <a:gd name="connsiteY6" fmla="*/ 0 h 475485"/>
                    <a:gd name="connsiteX7" fmla="*/ 1345887 w 1526156"/>
                    <a:gd name="connsiteY7" fmla="*/ 1 h 47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26156" h="475485">
                      <a:moveTo>
                        <a:pt x="1526156" y="1"/>
                      </a:moveTo>
                      <a:lnTo>
                        <a:pt x="1025091" y="475485"/>
                      </a:lnTo>
                      <a:lnTo>
                        <a:pt x="355289" y="475485"/>
                      </a:lnTo>
                      <a:lnTo>
                        <a:pt x="355289" y="475484"/>
                      </a:lnTo>
                      <a:lnTo>
                        <a:pt x="0" y="475484"/>
                      </a:lnTo>
                      <a:lnTo>
                        <a:pt x="789589" y="0"/>
                      </a:lnTo>
                      <a:lnTo>
                        <a:pt x="1345888" y="0"/>
                      </a:lnTo>
                      <a:lnTo>
                        <a:pt x="1345887" y="1"/>
                      </a:lnTo>
                      <a:close/>
                    </a:path>
                  </a:pathLst>
                </a:custGeom>
                <a:solidFill>
                  <a:srgbClr val="1F3D8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4267"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3F1EBF0A-5290-1F68-D74D-5CDDD8DFB66C}"/>
                    </a:ext>
                  </a:extLst>
                </p:cNvPr>
                <p:cNvSpPr/>
                <p:nvPr/>
              </p:nvSpPr>
              <p:spPr>
                <a:xfrm rot="16200000">
                  <a:off x="5664833" y="5029674"/>
                  <a:ext cx="2388467" cy="633980"/>
                </a:xfrm>
                <a:custGeom>
                  <a:avLst/>
                  <a:gdLst>
                    <a:gd name="connsiteX0" fmla="*/ 1791350 w 1791350"/>
                    <a:gd name="connsiteY0" fmla="*/ 0 h 475485"/>
                    <a:gd name="connsiteX1" fmla="*/ 998932 w 1791350"/>
                    <a:gd name="connsiteY1" fmla="*/ 475485 h 475485"/>
                    <a:gd name="connsiteX2" fmla="*/ 496283 w 1791350"/>
                    <a:gd name="connsiteY2" fmla="*/ 475485 h 475485"/>
                    <a:gd name="connsiteX3" fmla="*/ 496282 w 1791350"/>
                    <a:gd name="connsiteY3" fmla="*/ 475485 h 475485"/>
                    <a:gd name="connsiteX4" fmla="*/ 0 w 1791350"/>
                    <a:gd name="connsiteY4" fmla="*/ 475485 h 475485"/>
                    <a:gd name="connsiteX5" fmla="*/ 1075640 w 1791350"/>
                    <a:gd name="connsiteY5" fmla="*/ 1 h 475485"/>
                    <a:gd name="connsiteX6" fmla="*/ 1145140 w 1791350"/>
                    <a:gd name="connsiteY6" fmla="*/ 1 h 475485"/>
                    <a:gd name="connsiteX7" fmla="*/ 1145141 w 1791350"/>
                    <a:gd name="connsiteY7" fmla="*/ 0 h 475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91350" h="475485">
                      <a:moveTo>
                        <a:pt x="1791350" y="0"/>
                      </a:moveTo>
                      <a:lnTo>
                        <a:pt x="998932" y="475485"/>
                      </a:lnTo>
                      <a:lnTo>
                        <a:pt x="496283" y="475485"/>
                      </a:lnTo>
                      <a:lnTo>
                        <a:pt x="496282" y="475485"/>
                      </a:lnTo>
                      <a:lnTo>
                        <a:pt x="0" y="475485"/>
                      </a:lnTo>
                      <a:lnTo>
                        <a:pt x="1075640" y="1"/>
                      </a:lnTo>
                      <a:lnTo>
                        <a:pt x="1145140" y="1"/>
                      </a:lnTo>
                      <a:lnTo>
                        <a:pt x="11451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3200"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29136D4E-A3CC-C8B0-84A4-3AA47A55D09A}"/>
                    </a:ext>
                  </a:extLst>
                </p:cNvPr>
                <p:cNvSpPr/>
                <p:nvPr/>
              </p:nvSpPr>
              <p:spPr>
                <a:xfrm>
                  <a:off x="7174939" y="2582927"/>
                  <a:ext cx="5165228" cy="1322847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365760" tIns="0" rtlCol="0" anchor="ctr"/>
                <a:lstStyle/>
                <a:p>
                  <a:endParaRPr lang="en-US" sz="4267">
                    <a:solidFill>
                      <a:srgbClr val="FFFFFF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443EEF2-7D1A-3BD7-D802-C72D201107E4}"/>
                    </a:ext>
                  </a:extLst>
                </p:cNvPr>
                <p:cNvSpPr/>
                <p:nvPr/>
              </p:nvSpPr>
              <p:spPr>
                <a:xfrm>
                  <a:off x="7174939" y="1264073"/>
                  <a:ext cx="5165228" cy="1322847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365760" tIns="0" rtlCol="0" anchor="ctr"/>
                <a:lstStyle/>
                <a:p>
                  <a:endParaRPr lang="en-US" sz="4267">
                    <a:solidFill>
                      <a:srgbClr val="FFFFFF"/>
                    </a:solidFill>
                    <a:latin typeface="Avenir Next LT Pro" panose="020B0504020202020204" pitchFamily="34" charset="77"/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800C49C-1A73-CD08-5F6B-74E206ECFE93}"/>
                    </a:ext>
                  </a:extLst>
                </p:cNvPr>
                <p:cNvSpPr/>
                <p:nvPr/>
              </p:nvSpPr>
              <p:spPr>
                <a:xfrm>
                  <a:off x="7174939" y="3900670"/>
                  <a:ext cx="5165228" cy="132284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365760" tIns="0" rtlCol="0" anchor="ctr"/>
                <a:lstStyle/>
                <a:p>
                  <a:endParaRPr lang="en-US" sz="4267">
                    <a:solidFill>
                      <a:srgbClr val="FFFFFF"/>
                    </a:solidFill>
                    <a:latin typeface="Avenir Next LT Pro" panose="020B0504020202020204" pitchFamily="34" charset="77"/>
                  </a:endParaRPr>
                </a:p>
              </p:txBody>
            </p:sp>
          </p:grp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4B9522C-5FC7-8A4A-CF2C-35C593C58ABC}"/>
                  </a:ext>
                </a:extLst>
              </p:cNvPr>
              <p:cNvSpPr/>
              <p:nvPr/>
            </p:nvSpPr>
            <p:spPr>
              <a:xfrm>
                <a:off x="7174939" y="5218050"/>
                <a:ext cx="5165228" cy="132284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365760" tIns="0" rtlCol="0" anchor="ctr"/>
              <a:lstStyle/>
              <a:p>
                <a:endParaRPr lang="en-US" sz="4267">
                  <a:solidFill>
                    <a:srgbClr val="FFFFFF"/>
                  </a:solidFill>
                  <a:latin typeface="Avenir Next LT Pro" panose="020B0504020202020204" pitchFamily="34" charset="77"/>
                </a:endParaRPr>
              </a:p>
            </p:txBody>
          </p:sp>
        </p:grpSp>
      </p:grpSp>
      <p:sp useBgFill="1">
        <p:nvSpPr>
          <p:cNvPr id="53" name="Freeform 35">
            <a:extLst>
              <a:ext uri="{FF2B5EF4-FFF2-40B4-BE49-F238E27FC236}">
                <a16:creationId xmlns:a16="http://schemas.microsoft.com/office/drawing/2014/main" id="{0D21AC47-0D72-208C-818C-5F676DB3E86D}"/>
              </a:ext>
            </a:extLst>
          </p:cNvPr>
          <p:cNvSpPr>
            <a:spLocks/>
          </p:cNvSpPr>
          <p:nvPr/>
        </p:nvSpPr>
        <p:spPr bwMode="white">
          <a:xfrm>
            <a:off x="247632" y="1147246"/>
            <a:ext cx="3337705" cy="5149993"/>
          </a:xfrm>
          <a:custGeom>
            <a:avLst/>
            <a:gdLst>
              <a:gd name="T0" fmla="*/ 901 w 1398"/>
              <a:gd name="T1" fmla="*/ 142 h 4117"/>
              <a:gd name="T2" fmla="*/ 627 w 1398"/>
              <a:gd name="T3" fmla="*/ 341 h 4117"/>
              <a:gd name="T4" fmla="*/ 477 w 1398"/>
              <a:gd name="T5" fmla="*/ 611 h 4117"/>
              <a:gd name="T6" fmla="*/ 477 w 1398"/>
              <a:gd name="T7" fmla="*/ 950 h 4117"/>
              <a:gd name="T8" fmla="*/ 608 w 1398"/>
              <a:gd name="T9" fmla="*/ 1279 h 4117"/>
              <a:gd name="T10" fmla="*/ 690 w 1398"/>
              <a:gd name="T11" fmla="*/ 1853 h 4117"/>
              <a:gd name="T12" fmla="*/ 1176 w 1398"/>
              <a:gd name="T13" fmla="*/ 1888 h 4117"/>
              <a:gd name="T14" fmla="*/ 1398 w 1398"/>
              <a:gd name="T15" fmla="*/ 2588 h 4117"/>
              <a:gd name="T16" fmla="*/ 1042 w 1398"/>
              <a:gd name="T17" fmla="*/ 3142 h 4117"/>
              <a:gd name="T18" fmla="*/ 901 w 1398"/>
              <a:gd name="T19" fmla="*/ 3441 h 4117"/>
              <a:gd name="T20" fmla="*/ 690 w 1398"/>
              <a:gd name="T21" fmla="*/ 4117 h 4117"/>
              <a:gd name="T22" fmla="*/ 0 w 1398"/>
              <a:gd name="T23" fmla="*/ 4117 h 4117"/>
              <a:gd name="T24" fmla="*/ 0 w 1398"/>
              <a:gd name="T25" fmla="*/ 0 h 4117"/>
              <a:gd name="T26" fmla="*/ 699 w 1398"/>
              <a:gd name="T27" fmla="*/ 0 h 4117"/>
              <a:gd name="T28" fmla="*/ 901 w 1398"/>
              <a:gd name="T29" fmla="*/ 142 h 4117"/>
              <a:gd name="connsiteX0" fmla="*/ 6445 w 10000"/>
              <a:gd name="connsiteY0" fmla="*/ 412 h 10067"/>
              <a:gd name="connsiteX1" fmla="*/ 4485 w 10000"/>
              <a:gd name="connsiteY1" fmla="*/ 895 h 10067"/>
              <a:gd name="connsiteX2" fmla="*/ 3412 w 10000"/>
              <a:gd name="connsiteY2" fmla="*/ 1551 h 10067"/>
              <a:gd name="connsiteX3" fmla="*/ 3412 w 10000"/>
              <a:gd name="connsiteY3" fmla="*/ 2375 h 10067"/>
              <a:gd name="connsiteX4" fmla="*/ 434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0 w 10000"/>
              <a:gd name="connsiteY12" fmla="*/ 67 h 10067"/>
              <a:gd name="connsiteX13" fmla="*/ 5315 w 10000"/>
              <a:gd name="connsiteY13" fmla="*/ 0 h 10067"/>
              <a:gd name="connsiteX14" fmla="*/ 6445 w 10000"/>
              <a:gd name="connsiteY14" fmla="*/ 412 h 10067"/>
              <a:gd name="connsiteX0" fmla="*/ 6445 w 10000"/>
              <a:gd name="connsiteY0" fmla="*/ 412 h 10067"/>
              <a:gd name="connsiteX1" fmla="*/ 4485 w 10000"/>
              <a:gd name="connsiteY1" fmla="*/ 895 h 10067"/>
              <a:gd name="connsiteX2" fmla="*/ 3412 w 10000"/>
              <a:gd name="connsiteY2" fmla="*/ 1551 h 10067"/>
              <a:gd name="connsiteX3" fmla="*/ 3412 w 10000"/>
              <a:gd name="connsiteY3" fmla="*/ 2375 h 10067"/>
              <a:gd name="connsiteX4" fmla="*/ 434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39 w 10000"/>
              <a:gd name="connsiteY12" fmla="*/ 0 h 10067"/>
              <a:gd name="connsiteX13" fmla="*/ 5315 w 10000"/>
              <a:gd name="connsiteY13" fmla="*/ 0 h 10067"/>
              <a:gd name="connsiteX14" fmla="*/ 6445 w 10000"/>
              <a:gd name="connsiteY14" fmla="*/ 412 h 10067"/>
              <a:gd name="connsiteX0" fmla="*/ 9519 w 10000"/>
              <a:gd name="connsiteY0" fmla="*/ 11 h 10067"/>
              <a:gd name="connsiteX1" fmla="*/ 4485 w 10000"/>
              <a:gd name="connsiteY1" fmla="*/ 895 h 10067"/>
              <a:gd name="connsiteX2" fmla="*/ 3412 w 10000"/>
              <a:gd name="connsiteY2" fmla="*/ 1551 h 10067"/>
              <a:gd name="connsiteX3" fmla="*/ 3412 w 10000"/>
              <a:gd name="connsiteY3" fmla="*/ 2375 h 10067"/>
              <a:gd name="connsiteX4" fmla="*/ 434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39 w 10000"/>
              <a:gd name="connsiteY12" fmla="*/ 0 h 10067"/>
              <a:gd name="connsiteX13" fmla="*/ 5315 w 10000"/>
              <a:gd name="connsiteY13" fmla="*/ 0 h 10067"/>
              <a:gd name="connsiteX14" fmla="*/ 9519 w 10000"/>
              <a:gd name="connsiteY14" fmla="*/ 11 h 10067"/>
              <a:gd name="connsiteX0" fmla="*/ 9519 w 10000"/>
              <a:gd name="connsiteY0" fmla="*/ 11 h 10067"/>
              <a:gd name="connsiteX1" fmla="*/ 4485 w 10000"/>
              <a:gd name="connsiteY1" fmla="*/ 895 h 10067"/>
              <a:gd name="connsiteX2" fmla="*/ 3412 w 10000"/>
              <a:gd name="connsiteY2" fmla="*/ 1551 h 10067"/>
              <a:gd name="connsiteX3" fmla="*/ 3412 w 10000"/>
              <a:gd name="connsiteY3" fmla="*/ 2375 h 10067"/>
              <a:gd name="connsiteX4" fmla="*/ 434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39 w 10000"/>
              <a:gd name="connsiteY12" fmla="*/ 0 h 10067"/>
              <a:gd name="connsiteX13" fmla="*/ 5315 w 10000"/>
              <a:gd name="connsiteY13" fmla="*/ 0 h 10067"/>
              <a:gd name="connsiteX14" fmla="*/ 9519 w 10000"/>
              <a:gd name="connsiteY14" fmla="*/ 11 h 10067"/>
              <a:gd name="connsiteX0" fmla="*/ 9519 w 10000"/>
              <a:gd name="connsiteY0" fmla="*/ 11 h 10067"/>
              <a:gd name="connsiteX1" fmla="*/ 4485 w 10000"/>
              <a:gd name="connsiteY1" fmla="*/ 895 h 10067"/>
              <a:gd name="connsiteX2" fmla="*/ 3412 w 10000"/>
              <a:gd name="connsiteY2" fmla="*/ 1551 h 10067"/>
              <a:gd name="connsiteX3" fmla="*/ 4438 w 10000"/>
              <a:gd name="connsiteY3" fmla="*/ 2346 h 10067"/>
              <a:gd name="connsiteX4" fmla="*/ 434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39 w 10000"/>
              <a:gd name="connsiteY12" fmla="*/ 0 h 10067"/>
              <a:gd name="connsiteX13" fmla="*/ 5315 w 10000"/>
              <a:gd name="connsiteY13" fmla="*/ 0 h 10067"/>
              <a:gd name="connsiteX14" fmla="*/ 9519 w 10000"/>
              <a:gd name="connsiteY14" fmla="*/ 11 h 10067"/>
              <a:gd name="connsiteX0" fmla="*/ 9519 w 10000"/>
              <a:gd name="connsiteY0" fmla="*/ 11 h 10067"/>
              <a:gd name="connsiteX1" fmla="*/ 4485 w 10000"/>
              <a:gd name="connsiteY1" fmla="*/ 895 h 10067"/>
              <a:gd name="connsiteX2" fmla="*/ 4123 w 10000"/>
              <a:gd name="connsiteY2" fmla="*/ 1573 h 10067"/>
              <a:gd name="connsiteX3" fmla="*/ 4438 w 10000"/>
              <a:gd name="connsiteY3" fmla="*/ 2346 h 10067"/>
              <a:gd name="connsiteX4" fmla="*/ 434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39 w 10000"/>
              <a:gd name="connsiteY12" fmla="*/ 0 h 10067"/>
              <a:gd name="connsiteX13" fmla="*/ 5315 w 10000"/>
              <a:gd name="connsiteY13" fmla="*/ 0 h 10067"/>
              <a:gd name="connsiteX14" fmla="*/ 9519 w 10000"/>
              <a:gd name="connsiteY14" fmla="*/ 11 h 10067"/>
              <a:gd name="connsiteX0" fmla="*/ 9519 w 10000"/>
              <a:gd name="connsiteY0" fmla="*/ 11 h 10067"/>
              <a:gd name="connsiteX1" fmla="*/ 5294 w 10000"/>
              <a:gd name="connsiteY1" fmla="*/ 763 h 10067"/>
              <a:gd name="connsiteX2" fmla="*/ 4123 w 10000"/>
              <a:gd name="connsiteY2" fmla="*/ 1573 h 10067"/>
              <a:gd name="connsiteX3" fmla="*/ 4438 w 10000"/>
              <a:gd name="connsiteY3" fmla="*/ 2346 h 10067"/>
              <a:gd name="connsiteX4" fmla="*/ 434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39 w 10000"/>
              <a:gd name="connsiteY12" fmla="*/ 0 h 10067"/>
              <a:gd name="connsiteX13" fmla="*/ 5315 w 10000"/>
              <a:gd name="connsiteY13" fmla="*/ 0 h 10067"/>
              <a:gd name="connsiteX14" fmla="*/ 9519 w 10000"/>
              <a:gd name="connsiteY14" fmla="*/ 11 h 10067"/>
              <a:gd name="connsiteX0" fmla="*/ 9519 w 10000"/>
              <a:gd name="connsiteY0" fmla="*/ 11 h 10067"/>
              <a:gd name="connsiteX1" fmla="*/ 5294 w 10000"/>
              <a:gd name="connsiteY1" fmla="*/ 763 h 10067"/>
              <a:gd name="connsiteX2" fmla="*/ 4123 w 10000"/>
              <a:gd name="connsiteY2" fmla="*/ 1573 h 10067"/>
              <a:gd name="connsiteX3" fmla="*/ 4438 w 10000"/>
              <a:gd name="connsiteY3" fmla="*/ 2346 h 10067"/>
              <a:gd name="connsiteX4" fmla="*/ 5079 w 10000"/>
              <a:gd name="connsiteY4" fmla="*/ 3174 h 10067"/>
              <a:gd name="connsiteX5" fmla="*/ 4936 w 10000"/>
              <a:gd name="connsiteY5" fmla="*/ 4568 h 10067"/>
              <a:gd name="connsiteX6" fmla="*/ 8412 w 10000"/>
              <a:gd name="connsiteY6" fmla="*/ 4653 h 10067"/>
              <a:gd name="connsiteX7" fmla="*/ 10000 w 10000"/>
              <a:gd name="connsiteY7" fmla="*/ 6353 h 10067"/>
              <a:gd name="connsiteX8" fmla="*/ 7454 w 10000"/>
              <a:gd name="connsiteY8" fmla="*/ 7699 h 10067"/>
              <a:gd name="connsiteX9" fmla="*/ 6445 w 10000"/>
              <a:gd name="connsiteY9" fmla="*/ 8425 h 10067"/>
              <a:gd name="connsiteX10" fmla="*/ 4936 w 10000"/>
              <a:gd name="connsiteY10" fmla="*/ 10067 h 10067"/>
              <a:gd name="connsiteX11" fmla="*/ 0 w 10000"/>
              <a:gd name="connsiteY11" fmla="*/ 10067 h 10067"/>
              <a:gd name="connsiteX12" fmla="*/ 39 w 10000"/>
              <a:gd name="connsiteY12" fmla="*/ 0 h 10067"/>
              <a:gd name="connsiteX13" fmla="*/ 5315 w 10000"/>
              <a:gd name="connsiteY13" fmla="*/ 0 h 10067"/>
              <a:gd name="connsiteX14" fmla="*/ 9519 w 10000"/>
              <a:gd name="connsiteY14" fmla="*/ 11 h 1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000" h="10067">
                <a:moveTo>
                  <a:pt x="9519" y="11"/>
                </a:moveTo>
                <a:cubicBezTo>
                  <a:pt x="6737" y="306"/>
                  <a:pt x="6972" y="468"/>
                  <a:pt x="5294" y="763"/>
                </a:cubicBezTo>
                <a:lnTo>
                  <a:pt x="4123" y="1573"/>
                </a:lnTo>
                <a:lnTo>
                  <a:pt x="4438" y="2346"/>
                </a:lnTo>
                <a:cubicBezTo>
                  <a:pt x="4408" y="2622"/>
                  <a:pt x="5109" y="2898"/>
                  <a:pt x="5079" y="3174"/>
                </a:cubicBezTo>
                <a:cubicBezTo>
                  <a:pt x="5031" y="3639"/>
                  <a:pt x="4984" y="4103"/>
                  <a:pt x="4936" y="4568"/>
                </a:cubicBezTo>
                <a:lnTo>
                  <a:pt x="8412" y="4653"/>
                </a:lnTo>
                <a:lnTo>
                  <a:pt x="10000" y="6353"/>
                </a:lnTo>
                <a:lnTo>
                  <a:pt x="7454" y="7699"/>
                </a:lnTo>
                <a:lnTo>
                  <a:pt x="6445" y="8425"/>
                </a:lnTo>
                <a:lnTo>
                  <a:pt x="4936" y="10067"/>
                </a:lnTo>
                <a:lnTo>
                  <a:pt x="0" y="10067"/>
                </a:lnTo>
                <a:cubicBezTo>
                  <a:pt x="13" y="6711"/>
                  <a:pt x="26" y="3356"/>
                  <a:pt x="39" y="0"/>
                </a:cubicBezTo>
                <a:lnTo>
                  <a:pt x="5315" y="0"/>
                </a:lnTo>
                <a:lnTo>
                  <a:pt x="9519" y="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solidFill>
                <a:srgbClr val="373737"/>
              </a:solidFill>
              <a:latin typeface="Avenir Next LT Pro" panose="020B0504020202020204" pitchFamily="34" charset="77"/>
              <a:cs typeface="Gotham Light"/>
            </a:endParaRPr>
          </a:p>
        </p:txBody>
      </p:sp>
      <p:sp>
        <p:nvSpPr>
          <p:cNvPr id="54" name="Freeform 36">
            <a:extLst>
              <a:ext uri="{FF2B5EF4-FFF2-40B4-BE49-F238E27FC236}">
                <a16:creationId xmlns:a16="http://schemas.microsoft.com/office/drawing/2014/main" id="{F788F922-3176-45B8-5584-BBB205228AAC}"/>
              </a:ext>
            </a:extLst>
          </p:cNvPr>
          <p:cNvSpPr>
            <a:spLocks noEditPoints="1"/>
          </p:cNvSpPr>
          <p:nvPr/>
        </p:nvSpPr>
        <p:spPr bwMode="auto">
          <a:xfrm>
            <a:off x="1323935" y="979138"/>
            <a:ext cx="4009585" cy="5055341"/>
          </a:xfrm>
          <a:custGeom>
            <a:avLst/>
            <a:gdLst>
              <a:gd name="T0" fmla="*/ 913 w 1589"/>
              <a:gd name="T1" fmla="*/ 29 h 2169"/>
              <a:gd name="T2" fmla="*/ 126 w 1589"/>
              <a:gd name="T3" fmla="*/ 393 h 2169"/>
              <a:gd name="T4" fmla="*/ 89 w 1589"/>
              <a:gd name="T5" fmla="*/ 690 h 2169"/>
              <a:gd name="T6" fmla="*/ 103 w 1589"/>
              <a:gd name="T7" fmla="*/ 930 h 2169"/>
              <a:gd name="T8" fmla="*/ 20 w 1589"/>
              <a:gd name="T9" fmla="*/ 1132 h 2169"/>
              <a:gd name="T10" fmla="*/ 99 w 1589"/>
              <a:gd name="T11" fmla="*/ 1174 h 2169"/>
              <a:gd name="T12" fmla="*/ 69 w 1589"/>
              <a:gd name="T13" fmla="*/ 1255 h 2169"/>
              <a:gd name="T14" fmla="*/ 107 w 1589"/>
              <a:gd name="T15" fmla="*/ 1335 h 2169"/>
              <a:gd name="T16" fmla="*/ 90 w 1589"/>
              <a:gd name="T17" fmla="*/ 1427 h 2169"/>
              <a:gd name="T18" fmla="*/ 153 w 1589"/>
              <a:gd name="T19" fmla="*/ 1482 h 2169"/>
              <a:gd name="T20" fmla="*/ 229 w 1589"/>
              <a:gd name="T21" fmla="*/ 1642 h 2169"/>
              <a:gd name="T22" fmla="*/ 583 w 1589"/>
              <a:gd name="T23" fmla="*/ 1567 h 2169"/>
              <a:gd name="T24" fmla="*/ 675 w 1589"/>
              <a:gd name="T25" fmla="*/ 1816 h 2169"/>
              <a:gd name="T26" fmla="*/ 630 w 1589"/>
              <a:gd name="T27" fmla="*/ 2057 h 2169"/>
              <a:gd name="T28" fmla="*/ 696 w 1589"/>
              <a:gd name="T29" fmla="*/ 2163 h 2169"/>
              <a:gd name="T30" fmla="*/ 1299 w 1589"/>
              <a:gd name="T31" fmla="*/ 1653 h 2169"/>
              <a:gd name="T32" fmla="*/ 1589 w 1589"/>
              <a:gd name="T33" fmla="*/ 633 h 2169"/>
              <a:gd name="T34" fmla="*/ 1216 w 1589"/>
              <a:gd name="T35" fmla="*/ 1223 h 2169"/>
              <a:gd name="T36" fmla="*/ 1103 w 1589"/>
              <a:gd name="T37" fmla="*/ 1202 h 2169"/>
              <a:gd name="T38" fmla="*/ 1051 w 1589"/>
              <a:gd name="T39" fmla="*/ 1111 h 2169"/>
              <a:gd name="T40" fmla="*/ 975 w 1589"/>
              <a:gd name="T41" fmla="*/ 1004 h 2169"/>
              <a:gd name="T42" fmla="*/ 818 w 1589"/>
              <a:gd name="T43" fmla="*/ 995 h 2169"/>
              <a:gd name="T44" fmla="*/ 630 w 1589"/>
              <a:gd name="T45" fmla="*/ 887 h 2169"/>
              <a:gd name="T46" fmla="*/ 551 w 1589"/>
              <a:gd name="T47" fmla="*/ 808 h 2169"/>
              <a:gd name="T48" fmla="*/ 442 w 1589"/>
              <a:gd name="T49" fmla="*/ 755 h 2169"/>
              <a:gd name="T50" fmla="*/ 341 w 1589"/>
              <a:gd name="T51" fmla="*/ 708 h 2169"/>
              <a:gd name="T52" fmla="*/ 171 w 1589"/>
              <a:gd name="T53" fmla="*/ 590 h 2169"/>
              <a:gd name="T54" fmla="*/ 198 w 1589"/>
              <a:gd name="T55" fmla="*/ 482 h 2169"/>
              <a:gd name="T56" fmla="*/ 244 w 1589"/>
              <a:gd name="T57" fmla="*/ 409 h 2169"/>
              <a:gd name="T58" fmla="*/ 370 w 1589"/>
              <a:gd name="T59" fmla="*/ 283 h 2169"/>
              <a:gd name="T60" fmla="*/ 457 w 1589"/>
              <a:gd name="T61" fmla="*/ 211 h 2169"/>
              <a:gd name="T62" fmla="*/ 592 w 1589"/>
              <a:gd name="T63" fmla="*/ 147 h 2169"/>
              <a:gd name="T64" fmla="*/ 782 w 1589"/>
              <a:gd name="T65" fmla="*/ 96 h 2169"/>
              <a:gd name="T66" fmla="*/ 936 w 1589"/>
              <a:gd name="T67" fmla="*/ 87 h 2169"/>
              <a:gd name="T68" fmla="*/ 1105 w 1589"/>
              <a:gd name="T69" fmla="*/ 108 h 2169"/>
              <a:gd name="T70" fmla="*/ 1373 w 1589"/>
              <a:gd name="T71" fmla="*/ 309 h 2169"/>
              <a:gd name="T72" fmla="*/ 1523 w 1589"/>
              <a:gd name="T73" fmla="*/ 620 h 2169"/>
              <a:gd name="T74" fmla="*/ 1529 w 1589"/>
              <a:gd name="T75" fmla="*/ 754 h 2169"/>
              <a:gd name="T76" fmla="*/ 1439 w 1589"/>
              <a:gd name="T77" fmla="*/ 910 h 2169"/>
              <a:gd name="T78" fmla="*/ 1297 w 1589"/>
              <a:gd name="T79" fmla="*/ 110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589" h="2169">
                <a:moveTo>
                  <a:pt x="1589" y="633"/>
                </a:moveTo>
                <a:cubicBezTo>
                  <a:pt x="1589" y="257"/>
                  <a:pt x="1275" y="0"/>
                  <a:pt x="913" y="29"/>
                </a:cubicBezTo>
                <a:cubicBezTo>
                  <a:pt x="552" y="57"/>
                  <a:pt x="378" y="162"/>
                  <a:pt x="302" y="210"/>
                </a:cubicBezTo>
                <a:cubicBezTo>
                  <a:pt x="226" y="257"/>
                  <a:pt x="152" y="341"/>
                  <a:pt x="126" y="393"/>
                </a:cubicBezTo>
                <a:cubicBezTo>
                  <a:pt x="99" y="445"/>
                  <a:pt x="83" y="542"/>
                  <a:pt x="80" y="587"/>
                </a:cubicBezTo>
                <a:cubicBezTo>
                  <a:pt x="77" y="632"/>
                  <a:pt x="82" y="660"/>
                  <a:pt x="89" y="690"/>
                </a:cubicBezTo>
                <a:cubicBezTo>
                  <a:pt x="96" y="720"/>
                  <a:pt x="126" y="769"/>
                  <a:pt x="135" y="806"/>
                </a:cubicBezTo>
                <a:cubicBezTo>
                  <a:pt x="143" y="842"/>
                  <a:pt x="120" y="904"/>
                  <a:pt x="103" y="930"/>
                </a:cubicBezTo>
                <a:cubicBezTo>
                  <a:pt x="87" y="955"/>
                  <a:pt x="29" y="1039"/>
                  <a:pt x="15" y="1060"/>
                </a:cubicBezTo>
                <a:cubicBezTo>
                  <a:pt x="0" y="1081"/>
                  <a:pt x="10" y="1109"/>
                  <a:pt x="20" y="1132"/>
                </a:cubicBezTo>
                <a:cubicBezTo>
                  <a:pt x="30" y="1156"/>
                  <a:pt x="67" y="1165"/>
                  <a:pt x="75" y="1168"/>
                </a:cubicBezTo>
                <a:cubicBezTo>
                  <a:pt x="83" y="1171"/>
                  <a:pt x="96" y="1171"/>
                  <a:pt x="99" y="1174"/>
                </a:cubicBezTo>
                <a:cubicBezTo>
                  <a:pt x="101" y="1177"/>
                  <a:pt x="97" y="1202"/>
                  <a:pt x="92" y="1217"/>
                </a:cubicBezTo>
                <a:cubicBezTo>
                  <a:pt x="88" y="1231"/>
                  <a:pt x="74" y="1247"/>
                  <a:pt x="69" y="1255"/>
                </a:cubicBezTo>
                <a:cubicBezTo>
                  <a:pt x="64" y="1264"/>
                  <a:pt x="72" y="1292"/>
                  <a:pt x="80" y="1309"/>
                </a:cubicBezTo>
                <a:cubicBezTo>
                  <a:pt x="87" y="1326"/>
                  <a:pt x="107" y="1335"/>
                  <a:pt x="107" y="1335"/>
                </a:cubicBezTo>
                <a:cubicBezTo>
                  <a:pt x="107" y="1335"/>
                  <a:pt x="79" y="1358"/>
                  <a:pt x="80" y="1384"/>
                </a:cubicBezTo>
                <a:cubicBezTo>
                  <a:pt x="80" y="1410"/>
                  <a:pt x="84" y="1423"/>
                  <a:pt x="90" y="1427"/>
                </a:cubicBezTo>
                <a:cubicBezTo>
                  <a:pt x="95" y="1431"/>
                  <a:pt x="127" y="1439"/>
                  <a:pt x="135" y="1451"/>
                </a:cubicBezTo>
                <a:cubicBezTo>
                  <a:pt x="143" y="1462"/>
                  <a:pt x="151" y="1473"/>
                  <a:pt x="153" y="1482"/>
                </a:cubicBezTo>
                <a:cubicBezTo>
                  <a:pt x="154" y="1488"/>
                  <a:pt x="150" y="1502"/>
                  <a:pt x="149" y="1511"/>
                </a:cubicBezTo>
                <a:cubicBezTo>
                  <a:pt x="145" y="1553"/>
                  <a:pt x="162" y="1638"/>
                  <a:pt x="229" y="1642"/>
                </a:cubicBezTo>
                <a:cubicBezTo>
                  <a:pt x="282" y="1645"/>
                  <a:pt x="365" y="1614"/>
                  <a:pt x="396" y="1607"/>
                </a:cubicBezTo>
                <a:cubicBezTo>
                  <a:pt x="426" y="1601"/>
                  <a:pt x="559" y="1551"/>
                  <a:pt x="583" y="1567"/>
                </a:cubicBezTo>
                <a:cubicBezTo>
                  <a:pt x="608" y="1584"/>
                  <a:pt x="612" y="1609"/>
                  <a:pt x="619" y="1632"/>
                </a:cubicBezTo>
                <a:cubicBezTo>
                  <a:pt x="627" y="1656"/>
                  <a:pt x="665" y="1773"/>
                  <a:pt x="675" y="1816"/>
                </a:cubicBezTo>
                <a:cubicBezTo>
                  <a:pt x="685" y="1858"/>
                  <a:pt x="708" y="1934"/>
                  <a:pt x="714" y="1957"/>
                </a:cubicBezTo>
                <a:cubicBezTo>
                  <a:pt x="675" y="1967"/>
                  <a:pt x="635" y="2046"/>
                  <a:pt x="630" y="2057"/>
                </a:cubicBezTo>
                <a:cubicBezTo>
                  <a:pt x="609" y="2163"/>
                  <a:pt x="609" y="2163"/>
                  <a:pt x="609" y="2163"/>
                </a:cubicBezTo>
                <a:cubicBezTo>
                  <a:pt x="609" y="2163"/>
                  <a:pt x="697" y="2169"/>
                  <a:pt x="696" y="2163"/>
                </a:cubicBezTo>
                <a:cubicBezTo>
                  <a:pt x="695" y="2158"/>
                  <a:pt x="1263" y="1721"/>
                  <a:pt x="1263" y="1721"/>
                </a:cubicBezTo>
                <a:cubicBezTo>
                  <a:pt x="1299" y="1653"/>
                  <a:pt x="1299" y="1653"/>
                  <a:pt x="1299" y="1653"/>
                </a:cubicBezTo>
                <a:cubicBezTo>
                  <a:pt x="1219" y="1406"/>
                  <a:pt x="1279" y="1307"/>
                  <a:pt x="1355" y="1193"/>
                </a:cubicBezTo>
                <a:cubicBezTo>
                  <a:pt x="1426" y="1087"/>
                  <a:pt x="1589" y="1008"/>
                  <a:pt x="1589" y="633"/>
                </a:cubicBezTo>
                <a:close/>
                <a:moveTo>
                  <a:pt x="1297" y="1119"/>
                </a:moveTo>
                <a:cubicBezTo>
                  <a:pt x="1297" y="1169"/>
                  <a:pt x="1263" y="1211"/>
                  <a:pt x="1216" y="1223"/>
                </a:cubicBezTo>
                <a:cubicBezTo>
                  <a:pt x="1208" y="1245"/>
                  <a:pt x="1187" y="1261"/>
                  <a:pt x="1162" y="1261"/>
                </a:cubicBezTo>
                <a:cubicBezTo>
                  <a:pt x="1129" y="1261"/>
                  <a:pt x="1103" y="1234"/>
                  <a:pt x="1103" y="1202"/>
                </a:cubicBezTo>
                <a:cubicBezTo>
                  <a:pt x="1103" y="1197"/>
                  <a:pt x="1104" y="1191"/>
                  <a:pt x="1106" y="1186"/>
                </a:cubicBezTo>
                <a:cubicBezTo>
                  <a:pt x="1074" y="1176"/>
                  <a:pt x="1051" y="1146"/>
                  <a:pt x="1051" y="1111"/>
                </a:cubicBezTo>
                <a:cubicBezTo>
                  <a:pt x="1051" y="1107"/>
                  <a:pt x="1052" y="1103"/>
                  <a:pt x="1052" y="1099"/>
                </a:cubicBezTo>
                <a:cubicBezTo>
                  <a:pt x="1010" y="1087"/>
                  <a:pt x="978" y="1050"/>
                  <a:pt x="975" y="1004"/>
                </a:cubicBezTo>
                <a:cubicBezTo>
                  <a:pt x="946" y="1001"/>
                  <a:pt x="920" y="993"/>
                  <a:pt x="895" y="981"/>
                </a:cubicBezTo>
                <a:cubicBezTo>
                  <a:pt x="871" y="990"/>
                  <a:pt x="845" y="995"/>
                  <a:pt x="818" y="995"/>
                </a:cubicBezTo>
                <a:cubicBezTo>
                  <a:pt x="738" y="995"/>
                  <a:pt x="668" y="952"/>
                  <a:pt x="631" y="887"/>
                </a:cubicBezTo>
                <a:cubicBezTo>
                  <a:pt x="631" y="887"/>
                  <a:pt x="630" y="887"/>
                  <a:pt x="630" y="887"/>
                </a:cubicBezTo>
                <a:cubicBezTo>
                  <a:pt x="586" y="887"/>
                  <a:pt x="551" y="852"/>
                  <a:pt x="551" y="809"/>
                </a:cubicBezTo>
                <a:cubicBezTo>
                  <a:pt x="551" y="809"/>
                  <a:pt x="551" y="809"/>
                  <a:pt x="551" y="808"/>
                </a:cubicBezTo>
                <a:cubicBezTo>
                  <a:pt x="549" y="809"/>
                  <a:pt x="547" y="809"/>
                  <a:pt x="545" y="809"/>
                </a:cubicBezTo>
                <a:cubicBezTo>
                  <a:pt x="502" y="809"/>
                  <a:pt x="465" y="787"/>
                  <a:pt x="442" y="755"/>
                </a:cubicBezTo>
                <a:cubicBezTo>
                  <a:pt x="433" y="758"/>
                  <a:pt x="424" y="760"/>
                  <a:pt x="414" y="760"/>
                </a:cubicBezTo>
                <a:cubicBezTo>
                  <a:pt x="380" y="760"/>
                  <a:pt x="352" y="738"/>
                  <a:pt x="341" y="708"/>
                </a:cubicBezTo>
                <a:cubicBezTo>
                  <a:pt x="327" y="713"/>
                  <a:pt x="312" y="716"/>
                  <a:pt x="297" y="716"/>
                </a:cubicBezTo>
                <a:cubicBezTo>
                  <a:pt x="227" y="716"/>
                  <a:pt x="171" y="660"/>
                  <a:pt x="171" y="590"/>
                </a:cubicBezTo>
                <a:cubicBezTo>
                  <a:pt x="171" y="559"/>
                  <a:pt x="183" y="530"/>
                  <a:pt x="202" y="508"/>
                </a:cubicBezTo>
                <a:cubicBezTo>
                  <a:pt x="199" y="500"/>
                  <a:pt x="198" y="491"/>
                  <a:pt x="198" y="482"/>
                </a:cubicBezTo>
                <a:cubicBezTo>
                  <a:pt x="198" y="450"/>
                  <a:pt x="217" y="422"/>
                  <a:pt x="244" y="410"/>
                </a:cubicBezTo>
                <a:cubicBezTo>
                  <a:pt x="244" y="410"/>
                  <a:pt x="244" y="409"/>
                  <a:pt x="244" y="409"/>
                </a:cubicBezTo>
                <a:cubicBezTo>
                  <a:pt x="244" y="340"/>
                  <a:pt x="300" y="283"/>
                  <a:pt x="370" y="283"/>
                </a:cubicBezTo>
                <a:cubicBezTo>
                  <a:pt x="370" y="283"/>
                  <a:pt x="370" y="283"/>
                  <a:pt x="370" y="283"/>
                </a:cubicBezTo>
                <a:cubicBezTo>
                  <a:pt x="370" y="282"/>
                  <a:pt x="370" y="281"/>
                  <a:pt x="370" y="280"/>
                </a:cubicBezTo>
                <a:cubicBezTo>
                  <a:pt x="370" y="236"/>
                  <a:pt x="414" y="211"/>
                  <a:pt x="457" y="211"/>
                </a:cubicBezTo>
                <a:cubicBezTo>
                  <a:pt x="470" y="211"/>
                  <a:pt x="481" y="214"/>
                  <a:pt x="492" y="219"/>
                </a:cubicBezTo>
                <a:cubicBezTo>
                  <a:pt x="514" y="181"/>
                  <a:pt x="545" y="147"/>
                  <a:pt x="592" y="147"/>
                </a:cubicBezTo>
                <a:cubicBezTo>
                  <a:pt x="609" y="147"/>
                  <a:pt x="626" y="151"/>
                  <a:pt x="641" y="157"/>
                </a:cubicBezTo>
                <a:cubicBezTo>
                  <a:pt x="679" y="125"/>
                  <a:pt x="728" y="96"/>
                  <a:pt x="782" y="96"/>
                </a:cubicBezTo>
                <a:cubicBezTo>
                  <a:pt x="817" y="96"/>
                  <a:pt x="841" y="99"/>
                  <a:pt x="871" y="114"/>
                </a:cubicBezTo>
                <a:cubicBezTo>
                  <a:pt x="888" y="105"/>
                  <a:pt x="916" y="87"/>
                  <a:pt x="936" y="87"/>
                </a:cubicBezTo>
                <a:cubicBezTo>
                  <a:pt x="980" y="87"/>
                  <a:pt x="1011" y="86"/>
                  <a:pt x="1033" y="120"/>
                </a:cubicBezTo>
                <a:cubicBezTo>
                  <a:pt x="1046" y="111"/>
                  <a:pt x="1088" y="108"/>
                  <a:pt x="1105" y="108"/>
                </a:cubicBezTo>
                <a:cubicBezTo>
                  <a:pt x="1139" y="108"/>
                  <a:pt x="1188" y="156"/>
                  <a:pt x="1199" y="186"/>
                </a:cubicBezTo>
                <a:cubicBezTo>
                  <a:pt x="1279" y="152"/>
                  <a:pt x="1357" y="225"/>
                  <a:pt x="1373" y="309"/>
                </a:cubicBezTo>
                <a:cubicBezTo>
                  <a:pt x="1432" y="305"/>
                  <a:pt x="1485" y="391"/>
                  <a:pt x="1462" y="442"/>
                </a:cubicBezTo>
                <a:cubicBezTo>
                  <a:pt x="1513" y="483"/>
                  <a:pt x="1523" y="549"/>
                  <a:pt x="1523" y="620"/>
                </a:cubicBezTo>
                <a:cubicBezTo>
                  <a:pt x="1523" y="645"/>
                  <a:pt x="1519" y="669"/>
                  <a:pt x="1512" y="692"/>
                </a:cubicBezTo>
                <a:cubicBezTo>
                  <a:pt x="1522" y="710"/>
                  <a:pt x="1529" y="731"/>
                  <a:pt x="1529" y="754"/>
                </a:cubicBezTo>
                <a:cubicBezTo>
                  <a:pt x="1529" y="814"/>
                  <a:pt x="1487" y="864"/>
                  <a:pt x="1432" y="877"/>
                </a:cubicBezTo>
                <a:cubicBezTo>
                  <a:pt x="1437" y="887"/>
                  <a:pt x="1439" y="898"/>
                  <a:pt x="1439" y="910"/>
                </a:cubicBezTo>
                <a:cubicBezTo>
                  <a:pt x="1439" y="946"/>
                  <a:pt x="1415" y="976"/>
                  <a:pt x="1383" y="985"/>
                </a:cubicBezTo>
                <a:cubicBezTo>
                  <a:pt x="1381" y="1040"/>
                  <a:pt x="1346" y="1087"/>
                  <a:pt x="1297" y="1105"/>
                </a:cubicBezTo>
                <a:cubicBezTo>
                  <a:pt x="1297" y="1110"/>
                  <a:pt x="1297" y="1114"/>
                  <a:pt x="1297" y="111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175"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3200">
              <a:ln>
                <a:solidFill>
                  <a:schemeClr val="accent2"/>
                </a:solidFill>
              </a:ln>
              <a:solidFill>
                <a:srgbClr val="373737"/>
              </a:solidFill>
              <a:latin typeface="Avenir Next LT Pro" panose="020B0504020202020204" pitchFamily="34" charset="77"/>
              <a:cs typeface="Gotham Ligh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51F79A-D357-DE3C-3AA0-9D75A7A4B5F1}"/>
              </a:ext>
            </a:extLst>
          </p:cNvPr>
          <p:cNvSpPr txBox="1"/>
          <p:nvPr/>
        </p:nvSpPr>
        <p:spPr>
          <a:xfrm>
            <a:off x="2360002" y="1265378"/>
            <a:ext cx="24887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>
                <a:solidFill>
                  <a:schemeClr val="bg1"/>
                </a:solidFill>
                <a:latin typeface="Georgia" panose="02040502050405020303" pitchFamily="18" charset="0"/>
              </a:rPr>
              <a:t>how </a:t>
            </a:r>
          </a:p>
          <a:p>
            <a:pPr algn="ctr"/>
            <a:r>
              <a:rPr lang="en-US" sz="4000" b="1" i="1">
                <a:solidFill>
                  <a:schemeClr val="bg1"/>
                </a:solidFill>
                <a:latin typeface="Georgia" panose="02040502050405020303" pitchFamily="18" charset="0"/>
              </a:rPr>
              <a:t>you </a:t>
            </a:r>
          </a:p>
          <a:p>
            <a:pPr algn="ctr"/>
            <a:r>
              <a:rPr lang="en-US" sz="4000" b="1" i="1">
                <a:solidFill>
                  <a:schemeClr val="bg1"/>
                </a:solidFill>
                <a:latin typeface="Georgia" panose="02040502050405020303" pitchFamily="18" charset="0"/>
              </a:rPr>
              <a:t>think 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28AE7D6-3164-074E-C0BA-ABE69429225B}"/>
              </a:ext>
            </a:extLst>
          </p:cNvPr>
          <p:cNvGrpSpPr/>
          <p:nvPr/>
        </p:nvGrpSpPr>
        <p:grpSpPr>
          <a:xfrm>
            <a:off x="7027976" y="1172946"/>
            <a:ext cx="4878255" cy="1319356"/>
            <a:chOff x="7008945" y="1172946"/>
            <a:chExt cx="4878255" cy="1319356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AE255D8-668E-21E9-48B3-D02F971D3C88}"/>
                </a:ext>
              </a:extLst>
            </p:cNvPr>
            <p:cNvSpPr/>
            <p:nvPr/>
          </p:nvSpPr>
          <p:spPr>
            <a:xfrm>
              <a:off x="8432800" y="1367881"/>
              <a:ext cx="3454400" cy="929485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3200">
                  <a:solidFill>
                    <a:srgbClr val="FFFFFF"/>
                  </a:solidFill>
                  <a:latin typeface="Avenir Next LT Pro" panose="020B0504020202020204" pitchFamily="34" charset="77"/>
                </a:rPr>
                <a:t>Quantitative Mindset</a:t>
              </a:r>
            </a:p>
          </p:txBody>
        </p:sp>
        <p:pic>
          <p:nvPicPr>
            <p:cNvPr id="61" name="Graphic 60" descr="Mathematics with solid fill">
              <a:extLst>
                <a:ext uri="{FF2B5EF4-FFF2-40B4-BE49-F238E27FC236}">
                  <a16:creationId xmlns:a16="http://schemas.microsoft.com/office/drawing/2014/main" id="{D56CB066-9BF4-E34F-4DC2-FF4AE6399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08945" y="1172946"/>
              <a:ext cx="1319356" cy="1319356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0742C0C-7464-F75D-DB72-10D303D36D57}"/>
              </a:ext>
            </a:extLst>
          </p:cNvPr>
          <p:cNvGrpSpPr/>
          <p:nvPr/>
        </p:nvGrpSpPr>
        <p:grpSpPr>
          <a:xfrm>
            <a:off x="7027976" y="2453215"/>
            <a:ext cx="4878255" cy="1319356"/>
            <a:chOff x="7008945" y="1172946"/>
            <a:chExt cx="4878255" cy="1319356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E814FBE-C865-16EE-C97E-B7B28629D9A1}"/>
                </a:ext>
              </a:extLst>
            </p:cNvPr>
            <p:cNvSpPr/>
            <p:nvPr/>
          </p:nvSpPr>
          <p:spPr>
            <a:xfrm>
              <a:off x="8432800" y="1367881"/>
              <a:ext cx="3454400" cy="929485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3200">
                  <a:solidFill>
                    <a:srgbClr val="FFFFFF"/>
                  </a:solidFill>
                  <a:latin typeface="Avenir Next LT Pro" panose="020B0504020202020204" pitchFamily="34" charset="77"/>
                </a:rPr>
                <a:t>Navigate Ambiguity</a:t>
              </a:r>
            </a:p>
          </p:txBody>
        </p:sp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540EEE53-C460-9846-06A9-9549A932B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008945" y="1172946"/>
              <a:ext cx="1319356" cy="1319356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32F2FDB-6328-4F9F-22F3-0031874F592A}"/>
              </a:ext>
            </a:extLst>
          </p:cNvPr>
          <p:cNvGrpSpPr/>
          <p:nvPr/>
        </p:nvGrpSpPr>
        <p:grpSpPr>
          <a:xfrm>
            <a:off x="7027976" y="3733484"/>
            <a:ext cx="4878255" cy="1319356"/>
            <a:chOff x="7008945" y="1172946"/>
            <a:chExt cx="4878255" cy="1319356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C9142EF-02BA-8331-DCF3-29A66CF17E08}"/>
                </a:ext>
              </a:extLst>
            </p:cNvPr>
            <p:cNvSpPr/>
            <p:nvPr/>
          </p:nvSpPr>
          <p:spPr>
            <a:xfrm>
              <a:off x="8432800" y="1367881"/>
              <a:ext cx="3454400" cy="929485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3200">
                  <a:solidFill>
                    <a:srgbClr val="FFFFFF"/>
                  </a:solidFill>
                  <a:latin typeface="Avenir Next LT Pro" panose="020B0504020202020204" pitchFamily="34" charset="77"/>
                </a:rPr>
                <a:t>Conceptualize Information</a:t>
              </a:r>
            </a:p>
          </p:txBody>
        </p:sp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83CC20CF-A1FE-329C-3635-D4EC451FB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008945" y="1172946"/>
              <a:ext cx="1319356" cy="1319356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16F4DD5-2D39-F6FA-F992-1C0910A882F4}"/>
              </a:ext>
            </a:extLst>
          </p:cNvPr>
          <p:cNvGrpSpPr/>
          <p:nvPr/>
        </p:nvGrpSpPr>
        <p:grpSpPr>
          <a:xfrm>
            <a:off x="7027976" y="5013753"/>
            <a:ext cx="4878255" cy="1319356"/>
            <a:chOff x="7008945" y="1172946"/>
            <a:chExt cx="4878255" cy="131935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9A47AF3-FFAB-0D74-4F96-B331EB15C435}"/>
                </a:ext>
              </a:extLst>
            </p:cNvPr>
            <p:cNvSpPr/>
            <p:nvPr/>
          </p:nvSpPr>
          <p:spPr>
            <a:xfrm>
              <a:off x="8432800" y="1367881"/>
              <a:ext cx="3454400" cy="929485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3200">
                  <a:solidFill>
                    <a:srgbClr val="FFFFFF"/>
                  </a:solidFill>
                  <a:latin typeface="Avenir Next LT Pro" panose="020B0504020202020204" pitchFamily="34" charset="77"/>
                </a:rPr>
                <a:t>Analytical Approach</a:t>
              </a:r>
            </a:p>
          </p:txBody>
        </p: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952AA6A5-FB75-6794-B4BD-E276D87BF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7008945" y="1172946"/>
              <a:ext cx="1319356" cy="1319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0847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CAAC1-B83B-8246-9E05-EAD6932E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Interviews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AB757-7A14-9649-AB21-3AA14F8CE6BA}"/>
              </a:ext>
            </a:extLst>
          </p:cNvPr>
          <p:cNvSpPr txBox="1"/>
          <p:nvPr/>
        </p:nvSpPr>
        <p:spPr>
          <a:xfrm>
            <a:off x="1367782" y="2274838"/>
            <a:ext cx="94564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>
                <a:latin typeface="Avenir Next LT Pro" panose="020B0504020202020204" pitchFamily="34" charset="77"/>
              </a:rPr>
              <a:t>The interviewer is looking to see </a:t>
            </a:r>
          </a:p>
          <a:p>
            <a:pPr algn="ctr"/>
            <a:r>
              <a:rPr lang="en-US" sz="9600" b="1" i="1">
                <a:solidFill>
                  <a:schemeClr val="accent2"/>
                </a:solidFill>
                <a:latin typeface="Georgia" panose="02040502050405020303" pitchFamily="18" charset="0"/>
              </a:rPr>
              <a:t>how you think</a:t>
            </a:r>
          </a:p>
        </p:txBody>
      </p:sp>
      <p:sp>
        <p:nvSpPr>
          <p:cNvPr id="50" name="Chevron 49">
            <a:extLst>
              <a:ext uri="{FF2B5EF4-FFF2-40B4-BE49-F238E27FC236}">
                <a16:creationId xmlns:a16="http://schemas.microsoft.com/office/drawing/2014/main" id="{FAD8F6B9-FC5F-FE4F-8D67-5CC6841C55EC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B58FEB-3BA6-BC49-8CAB-ED584FA92263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2998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43B5-4F47-C941-B657-1F19D52D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Cases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23E02DCB-0B69-8D40-9EEF-CED0681EAF3C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CD0E-FF06-2844-9256-D991B770F199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E3AC4A-62FC-9A5F-9953-4D642F9BA06B}"/>
              </a:ext>
            </a:extLst>
          </p:cNvPr>
          <p:cNvSpPr/>
          <p:nvPr/>
        </p:nvSpPr>
        <p:spPr>
          <a:xfrm>
            <a:off x="4705973" y="3056467"/>
            <a:ext cx="2848563" cy="2848563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BF024A-5291-EB21-5F9E-EF86436ED15F}"/>
              </a:ext>
            </a:extLst>
          </p:cNvPr>
          <p:cNvSpPr/>
          <p:nvPr/>
        </p:nvSpPr>
        <p:spPr>
          <a:xfrm>
            <a:off x="4705973" y="2397948"/>
            <a:ext cx="2848563" cy="284856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2CF2F35-DE82-81D0-7982-222856FCA949}"/>
              </a:ext>
            </a:extLst>
          </p:cNvPr>
          <p:cNvSpPr/>
          <p:nvPr/>
        </p:nvSpPr>
        <p:spPr>
          <a:xfrm>
            <a:off x="4705973" y="1739429"/>
            <a:ext cx="2848563" cy="284856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298C9C-3E07-8441-9256-8C3E83A6FA63}"/>
              </a:ext>
            </a:extLst>
          </p:cNvPr>
          <p:cNvCxnSpPr/>
          <p:nvPr/>
        </p:nvCxnSpPr>
        <p:spPr>
          <a:xfrm flipH="1">
            <a:off x="7010400" y="2399032"/>
            <a:ext cx="1475859" cy="0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0AEF540-D44D-4347-03CE-E118F827E0E9}"/>
              </a:ext>
            </a:extLst>
          </p:cNvPr>
          <p:cNvSpPr/>
          <p:nvPr/>
        </p:nvSpPr>
        <p:spPr>
          <a:xfrm>
            <a:off x="8910697" y="1893712"/>
            <a:ext cx="2438400" cy="911660"/>
          </a:xfrm>
          <a:prstGeom prst="rect">
            <a:avLst/>
          </a:prstGeom>
        </p:spPr>
        <p:txBody>
          <a:bodyPr wrap="square" lIns="243840" rIns="243840" bIns="97536">
            <a:spAutoFit/>
          </a:bodyPr>
          <a:lstStyle/>
          <a:p>
            <a:pPr>
              <a:lnSpc>
                <a:spcPct val="89000"/>
              </a:lnSpc>
            </a:pPr>
            <a:r>
              <a:rPr lang="en-US" sz="2800">
                <a:latin typeface="Avenir Next LT Pro" panose="020B0504020202020204" pitchFamily="34" charset="77"/>
              </a:rPr>
              <a:t>Market </a:t>
            </a:r>
          </a:p>
          <a:p>
            <a:pPr>
              <a:lnSpc>
                <a:spcPct val="89000"/>
              </a:lnSpc>
            </a:pPr>
            <a:r>
              <a:rPr lang="en-US" sz="2800">
                <a:latin typeface="Avenir Next LT Pro" panose="020B0504020202020204" pitchFamily="34" charset="77"/>
              </a:rPr>
              <a:t>Entry</a:t>
            </a:r>
          </a:p>
        </p:txBody>
      </p:sp>
      <p:sp>
        <p:nvSpPr>
          <p:cNvPr id="21" name="Oval 12">
            <a:extLst>
              <a:ext uri="{FF2B5EF4-FFF2-40B4-BE49-F238E27FC236}">
                <a16:creationId xmlns:a16="http://schemas.microsoft.com/office/drawing/2014/main" id="{062AA812-4930-E09B-C80C-61EC10B2A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330" y="1970404"/>
            <a:ext cx="791464" cy="791464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5400" i="1">
                <a:solidFill>
                  <a:schemeClr val="accent2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1</a:t>
            </a:r>
          </a:p>
        </p:txBody>
      </p:sp>
      <p:pic>
        <p:nvPicPr>
          <p:cNvPr id="27" name="Picture 26" descr="Supply And Demand outline">
            <a:extLst>
              <a:ext uri="{FF2B5EF4-FFF2-40B4-BE49-F238E27FC236}">
                <a16:creationId xmlns:a16="http://schemas.microsoft.com/office/drawing/2014/main" id="{569C4C20-8EF2-1D36-FA5A-8BA025A26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49334" y="2211597"/>
            <a:ext cx="1842556" cy="1842556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</p:pic>
    </p:spTree>
    <p:extLst>
      <p:ext uri="{BB962C8B-B14F-4D97-AF65-F5344CB8AC3E}">
        <p14:creationId xmlns:p14="http://schemas.microsoft.com/office/powerpoint/2010/main" val="137188207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59259E-6 L -4.375E-6 0.08426 " pathEditMode="relative" rAng="0" ptsTypes="AA">
                                      <p:cBhvr>
                                        <p:cTn id="9" dur="8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4.375E-6 2.59259E-6 L -4.375E-6 0.08426 " pathEditMode="relative" rAng="0" ptsTypes="AA">
                                      <p:cBhvr>
                                        <p:cTn id="14" dur="8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20" grpId="0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43B5-4F47-C941-B657-1F19D52D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Cases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23E02DCB-0B69-8D40-9EEF-CED0681EAF3C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CD0E-FF06-2844-9256-D991B770F199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E3AC4A-62FC-9A5F-9953-4D642F9BA06B}"/>
              </a:ext>
            </a:extLst>
          </p:cNvPr>
          <p:cNvSpPr/>
          <p:nvPr/>
        </p:nvSpPr>
        <p:spPr>
          <a:xfrm>
            <a:off x="4705973" y="3056467"/>
            <a:ext cx="2848563" cy="284856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BF024A-5291-EB21-5F9E-EF86436ED15F}"/>
              </a:ext>
            </a:extLst>
          </p:cNvPr>
          <p:cNvSpPr/>
          <p:nvPr/>
        </p:nvSpPr>
        <p:spPr>
          <a:xfrm>
            <a:off x="4705973" y="2397948"/>
            <a:ext cx="2848563" cy="2848563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2CF2F35-DE82-81D0-7982-222856FCA949}"/>
              </a:ext>
            </a:extLst>
          </p:cNvPr>
          <p:cNvSpPr/>
          <p:nvPr/>
        </p:nvSpPr>
        <p:spPr>
          <a:xfrm>
            <a:off x="4705973" y="1739429"/>
            <a:ext cx="2848563" cy="284856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298C9C-3E07-8441-9256-8C3E83A6FA63}"/>
              </a:ext>
            </a:extLst>
          </p:cNvPr>
          <p:cNvCxnSpPr/>
          <p:nvPr/>
        </p:nvCxnSpPr>
        <p:spPr>
          <a:xfrm flipH="1">
            <a:off x="7010400" y="2399032"/>
            <a:ext cx="1475859" cy="0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0AEF540-D44D-4347-03CE-E118F827E0E9}"/>
              </a:ext>
            </a:extLst>
          </p:cNvPr>
          <p:cNvSpPr/>
          <p:nvPr/>
        </p:nvSpPr>
        <p:spPr>
          <a:xfrm>
            <a:off x="8910697" y="2102057"/>
            <a:ext cx="2438400" cy="528158"/>
          </a:xfrm>
          <a:prstGeom prst="rect">
            <a:avLst/>
          </a:prstGeom>
        </p:spPr>
        <p:txBody>
          <a:bodyPr wrap="square" lIns="243840" rIns="243840" bIns="97536">
            <a:spAutoFit/>
          </a:bodyPr>
          <a:lstStyle/>
          <a:p>
            <a:pPr>
              <a:lnSpc>
                <a:spcPct val="89000"/>
              </a:lnSpc>
            </a:pPr>
            <a:r>
              <a:rPr lang="en-US" sz="2800">
                <a:latin typeface="Avenir Next LT Pro" panose="020B0504020202020204" pitchFamily="34" charset="77"/>
              </a:rPr>
              <a:t>Profitability</a:t>
            </a:r>
          </a:p>
        </p:txBody>
      </p:sp>
      <p:sp>
        <p:nvSpPr>
          <p:cNvPr id="21" name="Oval 12">
            <a:extLst>
              <a:ext uri="{FF2B5EF4-FFF2-40B4-BE49-F238E27FC236}">
                <a16:creationId xmlns:a16="http://schemas.microsoft.com/office/drawing/2014/main" id="{062AA812-4930-E09B-C80C-61EC10B2A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330" y="1970404"/>
            <a:ext cx="791464" cy="791464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5400" i="1">
                <a:solidFill>
                  <a:schemeClr val="accent4">
                    <a:lumMod val="20000"/>
                    <a:lumOff val="80000"/>
                  </a:schemeClr>
                </a:solidFill>
                <a:latin typeface="Avenir Next LT Pro" panose="020B0504020202020204" pitchFamily="34" charset="0"/>
              </a:rPr>
              <a:t>2</a:t>
            </a:r>
          </a:p>
        </p:txBody>
      </p:sp>
      <p:pic>
        <p:nvPicPr>
          <p:cNvPr id="27" name="Picture 26" descr="Money outline">
            <a:extLst>
              <a:ext uri="{FF2B5EF4-FFF2-40B4-BE49-F238E27FC236}">
                <a16:creationId xmlns:a16="http://schemas.microsoft.com/office/drawing/2014/main" id="{569C4C20-8EF2-1D36-FA5A-8BA025A26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49334" y="2211597"/>
            <a:ext cx="1842556" cy="1842556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</p:pic>
    </p:spTree>
    <p:extLst>
      <p:ext uri="{BB962C8B-B14F-4D97-AF65-F5344CB8AC3E}">
        <p14:creationId xmlns:p14="http://schemas.microsoft.com/office/powerpoint/2010/main" val="1809071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59259E-6 L -4.375E-6 0.08426 " pathEditMode="relative" rAng="0" ptsTypes="AA">
                                      <p:cBhvr>
                                        <p:cTn id="9" dur="8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4.375E-6 2.59259E-6 L -4.375E-6 0.08426 " pathEditMode="relative" rAng="0" ptsTypes="AA">
                                      <p:cBhvr>
                                        <p:cTn id="14" dur="8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20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43B5-4F47-C941-B657-1F19D52D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Cases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23E02DCB-0B69-8D40-9EEF-CED0681EAF3C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CD0E-FF06-2844-9256-D991B770F199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E3AC4A-62FC-9A5F-9953-4D642F9BA06B}"/>
              </a:ext>
            </a:extLst>
          </p:cNvPr>
          <p:cNvSpPr/>
          <p:nvPr/>
        </p:nvSpPr>
        <p:spPr>
          <a:xfrm>
            <a:off x="4705973" y="3056467"/>
            <a:ext cx="2848563" cy="2848563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BF024A-5291-EB21-5F9E-EF86436ED15F}"/>
              </a:ext>
            </a:extLst>
          </p:cNvPr>
          <p:cNvSpPr/>
          <p:nvPr/>
        </p:nvSpPr>
        <p:spPr>
          <a:xfrm>
            <a:off x="4705973" y="2397948"/>
            <a:ext cx="2848563" cy="284856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2CF2F35-DE82-81D0-7982-222856FCA949}"/>
              </a:ext>
            </a:extLst>
          </p:cNvPr>
          <p:cNvSpPr/>
          <p:nvPr/>
        </p:nvSpPr>
        <p:spPr>
          <a:xfrm>
            <a:off x="4705973" y="1739429"/>
            <a:ext cx="2848563" cy="2848563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298C9C-3E07-8441-9256-8C3E83A6FA63}"/>
              </a:ext>
            </a:extLst>
          </p:cNvPr>
          <p:cNvCxnSpPr/>
          <p:nvPr/>
        </p:nvCxnSpPr>
        <p:spPr>
          <a:xfrm flipH="1">
            <a:off x="7010400" y="2399032"/>
            <a:ext cx="1475859" cy="0"/>
          </a:xfrm>
          <a:prstGeom prst="line">
            <a:avLst/>
          </a:prstGeom>
          <a:ln w="63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0AEF540-D44D-4347-03CE-E118F827E0E9}"/>
              </a:ext>
            </a:extLst>
          </p:cNvPr>
          <p:cNvSpPr/>
          <p:nvPr/>
        </p:nvSpPr>
        <p:spPr>
          <a:xfrm>
            <a:off x="8910697" y="1893712"/>
            <a:ext cx="2438400" cy="911660"/>
          </a:xfrm>
          <a:prstGeom prst="rect">
            <a:avLst/>
          </a:prstGeom>
        </p:spPr>
        <p:txBody>
          <a:bodyPr wrap="square" lIns="243840" rIns="243840" bIns="97536">
            <a:spAutoFit/>
          </a:bodyPr>
          <a:lstStyle/>
          <a:p>
            <a:pPr>
              <a:lnSpc>
                <a:spcPct val="89000"/>
              </a:lnSpc>
            </a:pPr>
            <a:r>
              <a:rPr lang="en-US" sz="2800">
                <a:latin typeface="Avenir Next LT Pro" panose="020B0504020202020204" pitchFamily="34" charset="77"/>
              </a:rPr>
              <a:t>Merger &amp; Acquisition</a:t>
            </a:r>
          </a:p>
        </p:txBody>
      </p:sp>
      <p:sp>
        <p:nvSpPr>
          <p:cNvPr id="21" name="Oval 12">
            <a:extLst>
              <a:ext uri="{FF2B5EF4-FFF2-40B4-BE49-F238E27FC236}">
                <a16:creationId xmlns:a16="http://schemas.microsoft.com/office/drawing/2014/main" id="{062AA812-4930-E09B-C80C-61EC10B2A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330" y="1970404"/>
            <a:ext cx="791464" cy="791464"/>
          </a:xfrm>
          <a:prstGeom prst="ellips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5400" i="1">
                <a:solidFill>
                  <a:schemeClr val="accent6">
                    <a:lumMod val="10000"/>
                    <a:lumOff val="90000"/>
                  </a:schemeClr>
                </a:solidFill>
                <a:latin typeface="Avenir Next LT Pro" panose="020B0504020202020204" pitchFamily="34" charset="0"/>
              </a:rPr>
              <a:t>3</a:t>
            </a:r>
          </a:p>
        </p:txBody>
      </p:sp>
      <p:pic>
        <p:nvPicPr>
          <p:cNvPr id="27" name="Picture 26" descr="Merger with solid fill">
            <a:extLst>
              <a:ext uri="{FF2B5EF4-FFF2-40B4-BE49-F238E27FC236}">
                <a16:creationId xmlns:a16="http://schemas.microsoft.com/office/drawing/2014/main" id="{569C4C20-8EF2-1D36-FA5A-8BA025A26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249334" y="2211597"/>
            <a:ext cx="1842556" cy="1842556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 fov="2400000">
              <a:rot lat="19626000" lon="960000" rev="19092000"/>
            </a:camera>
            <a:lightRig rig="threePt" dir="t"/>
          </a:scene3d>
          <a:sp3d prstMaterial="matte"/>
        </p:spPr>
      </p:pic>
    </p:spTree>
    <p:extLst>
      <p:ext uri="{BB962C8B-B14F-4D97-AF65-F5344CB8AC3E}">
        <p14:creationId xmlns:p14="http://schemas.microsoft.com/office/powerpoint/2010/main" val="1403796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59259E-6 L -4.375E-6 0.08426 " pathEditMode="relative" rAng="0" ptsTypes="AA">
                                      <p:cBhvr>
                                        <p:cTn id="9" dur="8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4.375E-6 2.59259E-6 L -4.375E-6 0.08426 " pathEditMode="relative" rAng="0" ptsTypes="AA">
                                      <p:cBhvr>
                                        <p:cTn id="14" dur="8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20" grpId="0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823A-3555-284B-B55C-7835822E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 of a Case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2C8A5AD-55ED-9147-8A55-A5567F0A159F}"/>
              </a:ext>
            </a:extLst>
          </p:cNvPr>
          <p:cNvSpPr/>
          <p:nvPr/>
        </p:nvSpPr>
        <p:spPr>
          <a:xfrm>
            <a:off x="1199599" y="1495477"/>
            <a:ext cx="9792802" cy="1242631"/>
          </a:xfrm>
          <a:prstGeom prst="round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venir Next LT Pro" panose="020B0504020202020204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4590E6-303A-AA45-88D7-2EDB04E973F6}"/>
              </a:ext>
            </a:extLst>
          </p:cNvPr>
          <p:cNvSpPr txBox="1"/>
          <p:nvPr/>
        </p:nvSpPr>
        <p:spPr>
          <a:xfrm>
            <a:off x="3849984" y="1689182"/>
            <a:ext cx="4492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>
                <a:solidFill>
                  <a:schemeClr val="bg1"/>
                </a:solidFill>
                <a:latin typeface="Georgia" panose="02040502050405020303" pitchFamily="18" charset="0"/>
              </a:rPr>
              <a:t>Prompt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9E9A3BD-FD75-6D49-A217-0A9E7338CAB4}"/>
              </a:ext>
            </a:extLst>
          </p:cNvPr>
          <p:cNvSpPr/>
          <p:nvPr/>
        </p:nvSpPr>
        <p:spPr>
          <a:xfrm>
            <a:off x="1199599" y="3117407"/>
            <a:ext cx="9792802" cy="1242631"/>
          </a:xfrm>
          <a:prstGeom prst="round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venir Next LT Pro" panose="020B0504020202020204" pitchFamily="34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70F4CE-3A04-A041-90E0-E71211A79A88}"/>
              </a:ext>
            </a:extLst>
          </p:cNvPr>
          <p:cNvSpPr txBox="1"/>
          <p:nvPr/>
        </p:nvSpPr>
        <p:spPr>
          <a:xfrm>
            <a:off x="3681531" y="3305781"/>
            <a:ext cx="48289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>
                <a:solidFill>
                  <a:schemeClr val="bg1"/>
                </a:solidFill>
                <a:latin typeface="Georgia" panose="02040502050405020303" pitchFamily="18" charset="0"/>
              </a:rPr>
              <a:t>Body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C649BCA-8AF1-1846-A91A-751C4D82F8C2}"/>
              </a:ext>
            </a:extLst>
          </p:cNvPr>
          <p:cNvSpPr/>
          <p:nvPr/>
        </p:nvSpPr>
        <p:spPr>
          <a:xfrm>
            <a:off x="1199599" y="4739339"/>
            <a:ext cx="9792802" cy="1242631"/>
          </a:xfrm>
          <a:prstGeom prst="roundRect">
            <a:avLst/>
          </a:prstGeom>
          <a:solidFill>
            <a:schemeClr val="accent6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venir Next LT Pro" panose="020B0504020202020204" pitchFamily="34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244607-79C5-8F40-9BBB-C02C7191D7C0}"/>
              </a:ext>
            </a:extLst>
          </p:cNvPr>
          <p:cNvSpPr txBox="1"/>
          <p:nvPr/>
        </p:nvSpPr>
        <p:spPr>
          <a:xfrm>
            <a:off x="3849984" y="4927711"/>
            <a:ext cx="4492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>
                <a:solidFill>
                  <a:schemeClr val="bg1"/>
                </a:solidFill>
                <a:latin typeface="Georgia" panose="02040502050405020303" pitchFamily="18" charset="0"/>
              </a:rPr>
              <a:t>Close</a:t>
            </a:r>
          </a:p>
        </p:txBody>
      </p:sp>
      <p:sp>
        <p:nvSpPr>
          <p:cNvPr id="38" name="Chevron 37">
            <a:extLst>
              <a:ext uri="{FF2B5EF4-FFF2-40B4-BE49-F238E27FC236}">
                <a16:creationId xmlns:a16="http://schemas.microsoft.com/office/drawing/2014/main" id="{C98DE3FC-DC66-014E-9F64-85670A8A30B3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32DB-E6F3-FC4F-A9DD-21D99D9E0A63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7996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823A-3555-284B-B55C-7835822E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 of a Case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2C8A5AD-55ED-9147-8A55-A5567F0A159F}"/>
              </a:ext>
            </a:extLst>
          </p:cNvPr>
          <p:cNvSpPr/>
          <p:nvPr/>
        </p:nvSpPr>
        <p:spPr>
          <a:xfrm>
            <a:off x="951397" y="1495477"/>
            <a:ext cx="5971143" cy="1242631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venir Next LT Pro" panose="020B0504020202020204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4590E6-303A-AA45-88D7-2EDB04E973F6}"/>
              </a:ext>
            </a:extLst>
          </p:cNvPr>
          <p:cNvSpPr txBox="1"/>
          <p:nvPr/>
        </p:nvSpPr>
        <p:spPr>
          <a:xfrm>
            <a:off x="307466" y="1742168"/>
            <a:ext cx="128786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Avenir Next LT Pro" panose="020B0504020202020204" pitchFamily="34" charset="77"/>
              </a:rPr>
              <a:t>Prompt</a:t>
            </a:r>
          </a:p>
          <a:p>
            <a:pPr algn="ctr"/>
            <a:r>
              <a:rPr lang="en-US" sz="2000">
                <a:latin typeface="Avenir Next LT Pro" panose="020B0504020202020204" pitchFamily="34" charset="77"/>
              </a:rPr>
              <a:t>(5 min)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9E9A3BD-FD75-6D49-A217-0A9E7338CAB4}"/>
              </a:ext>
            </a:extLst>
          </p:cNvPr>
          <p:cNvSpPr/>
          <p:nvPr/>
        </p:nvSpPr>
        <p:spPr>
          <a:xfrm>
            <a:off x="951397" y="3117407"/>
            <a:ext cx="5971143" cy="1242631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venir Next LT Pro" panose="020B0504020202020204" pitchFamily="34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70F4CE-3A04-A041-90E0-E71211A79A88}"/>
              </a:ext>
            </a:extLst>
          </p:cNvPr>
          <p:cNvSpPr txBox="1"/>
          <p:nvPr/>
        </p:nvSpPr>
        <p:spPr>
          <a:xfrm>
            <a:off x="259168" y="3358767"/>
            <a:ext cx="138445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Avenir Next LT Pro" panose="020B0504020202020204" pitchFamily="34" charset="77"/>
              </a:rPr>
              <a:t>Body</a:t>
            </a:r>
          </a:p>
          <a:p>
            <a:pPr algn="ctr"/>
            <a:r>
              <a:rPr lang="en-US" sz="2000">
                <a:latin typeface="Avenir Next LT Pro" panose="020B0504020202020204" pitchFamily="34" charset="77"/>
              </a:rPr>
              <a:t>(20+ min)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C649BCA-8AF1-1846-A91A-751C4D82F8C2}"/>
              </a:ext>
            </a:extLst>
          </p:cNvPr>
          <p:cNvSpPr/>
          <p:nvPr/>
        </p:nvSpPr>
        <p:spPr>
          <a:xfrm>
            <a:off x="951397" y="4739339"/>
            <a:ext cx="5971143" cy="1242631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Avenir Next LT Pro" panose="020B0504020202020204" pitchFamily="34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244607-79C5-8F40-9BBB-C02C7191D7C0}"/>
              </a:ext>
            </a:extLst>
          </p:cNvPr>
          <p:cNvSpPr txBox="1"/>
          <p:nvPr/>
        </p:nvSpPr>
        <p:spPr>
          <a:xfrm>
            <a:off x="307463" y="4980697"/>
            <a:ext cx="128786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Avenir Next LT Pro" panose="020B0504020202020204" pitchFamily="34" charset="77"/>
              </a:rPr>
              <a:t>Close</a:t>
            </a:r>
          </a:p>
          <a:p>
            <a:pPr algn="ctr"/>
            <a:r>
              <a:rPr lang="en-US" sz="2000">
                <a:latin typeface="Avenir Next LT Pro" panose="020B0504020202020204" pitchFamily="34" charset="77"/>
              </a:rPr>
              <a:t>(5 min)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A45732-0882-7B47-9F68-4BC81097DBF4}"/>
              </a:ext>
            </a:extLst>
          </p:cNvPr>
          <p:cNvSpPr txBox="1"/>
          <p:nvPr/>
        </p:nvSpPr>
        <p:spPr>
          <a:xfrm>
            <a:off x="1685855" y="1576569"/>
            <a:ext cx="5236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Interviewer reads prompt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Take abundance of detailed notes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Repeat back key details to make sure you have all the necessary info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6196DF-F76F-2A4F-A233-01997D91222F}"/>
              </a:ext>
            </a:extLst>
          </p:cNvPr>
          <p:cNvSpPr txBox="1"/>
          <p:nvPr/>
        </p:nvSpPr>
        <p:spPr>
          <a:xfrm>
            <a:off x="1643619" y="3211083"/>
            <a:ext cx="5236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 b="1">
                <a:latin typeface="Avenir Next LT Pro" panose="020B0504020202020204" pitchFamily="34" charset="77"/>
              </a:rPr>
              <a:t>Interviewer-Led</a:t>
            </a:r>
            <a:r>
              <a:rPr lang="en-US" sz="1600">
                <a:latin typeface="Avenir Next LT Pro" panose="020B0504020202020204" pitchFamily="34" charset="77"/>
              </a:rPr>
              <a:t>: </a:t>
            </a:r>
          </a:p>
          <a:p>
            <a:r>
              <a:rPr lang="en-US" sz="1600">
                <a:latin typeface="Avenir Next LT Pro" panose="020B0504020202020204" pitchFamily="34" charset="77"/>
              </a:rPr>
              <a:t>	Question and answer driven case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 b="1">
                <a:latin typeface="Avenir Next LT Pro" panose="020B0504020202020204" pitchFamily="34" charset="77"/>
              </a:rPr>
              <a:t>Interviewee-Led: </a:t>
            </a:r>
          </a:p>
          <a:p>
            <a:r>
              <a:rPr lang="en-US" sz="1600" b="1">
                <a:latin typeface="Avenir Next LT Pro" panose="020B0504020202020204" pitchFamily="34" charset="77"/>
              </a:rPr>
              <a:t>	</a:t>
            </a:r>
            <a:r>
              <a:rPr lang="en-US" sz="1600">
                <a:latin typeface="Avenir Next LT Pro" panose="020B0504020202020204" pitchFamily="34" charset="77"/>
              </a:rPr>
              <a:t>You set the framework and drive the case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E88A2D-43B4-F74A-BF9B-83A231A8803B}"/>
              </a:ext>
            </a:extLst>
          </p:cNvPr>
          <p:cNvSpPr txBox="1"/>
          <p:nvPr/>
        </p:nvSpPr>
        <p:spPr>
          <a:xfrm>
            <a:off x="1643619" y="4945155"/>
            <a:ext cx="5236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Summarize case findings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Give recommended next steps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Questions for the interviewer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A9CA49-FEBD-D53F-7119-5A42B7E59610}"/>
              </a:ext>
            </a:extLst>
          </p:cNvPr>
          <p:cNvGrpSpPr/>
          <p:nvPr/>
        </p:nvGrpSpPr>
        <p:grpSpPr>
          <a:xfrm>
            <a:off x="6997131" y="1221366"/>
            <a:ext cx="4966269" cy="4696123"/>
            <a:chOff x="6997131" y="1221366"/>
            <a:chExt cx="4966269" cy="4696123"/>
          </a:xfrm>
        </p:grpSpPr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714D14A2-3E6D-434C-9621-9F92ED14248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12394" y="3715499"/>
              <a:ext cx="4387047" cy="16933"/>
            </a:xfrm>
            <a:prstGeom prst="bentConnector5">
              <a:avLst>
                <a:gd name="adj1" fmla="val 0"/>
                <a:gd name="adj2" fmla="val 4628575"/>
                <a:gd name="adj3" fmla="val 100000"/>
              </a:avLst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30A1E3-3D12-A441-9171-DBEF86CB20B3}"/>
                </a:ext>
              </a:extLst>
            </p:cNvPr>
            <p:cNvCxnSpPr>
              <a:cxnSpLocks/>
            </p:cNvCxnSpPr>
            <p:nvPr/>
          </p:nvCxnSpPr>
          <p:spPr>
            <a:xfrm>
              <a:off x="6997131" y="3745064"/>
              <a:ext cx="538205" cy="1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3F76A9E-F572-0444-91FD-0754E84FDA5E}"/>
                </a:ext>
              </a:extLst>
            </p:cNvPr>
            <p:cNvCxnSpPr/>
            <p:nvPr/>
          </p:nvCxnSpPr>
          <p:spPr>
            <a:xfrm>
              <a:off x="8580295" y="2729299"/>
              <a:ext cx="2518296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9E950CF-F07B-9042-9453-723FFEEEA911}"/>
                </a:ext>
              </a:extLst>
            </p:cNvPr>
            <p:cNvCxnSpPr/>
            <p:nvPr/>
          </p:nvCxnSpPr>
          <p:spPr>
            <a:xfrm>
              <a:off x="8580295" y="4006264"/>
              <a:ext cx="2518296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5FD0C37-BE79-564F-BFF6-E8D10AEE148A}"/>
                </a:ext>
              </a:extLst>
            </p:cNvPr>
            <p:cNvSpPr/>
            <p:nvPr/>
          </p:nvSpPr>
          <p:spPr>
            <a:xfrm>
              <a:off x="8664311" y="1221366"/>
              <a:ext cx="2350264" cy="533465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accent2"/>
                  </a:solidFill>
                  <a:latin typeface="Avenir Next LT Pro" panose="020B0504020202020204" pitchFamily="34" charset="77"/>
                </a:rPr>
                <a:t>Case Spectrum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1562F55-A316-D34D-89BD-1724383FAB4F}"/>
                </a:ext>
              </a:extLst>
            </p:cNvPr>
            <p:cNvSpPr txBox="1"/>
            <p:nvPr/>
          </p:nvSpPr>
          <p:spPr>
            <a:xfrm>
              <a:off x="8053757" y="1855034"/>
              <a:ext cx="12211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>
                  <a:latin typeface="Avenir Next LT Pro" panose="020B0504020202020204" pitchFamily="34" charset="77"/>
                </a:rPr>
                <a:t>One broad question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BFFCC09-652E-7144-896E-8CE43089676C}"/>
                </a:ext>
              </a:extLst>
            </p:cNvPr>
            <p:cNvSpPr txBox="1"/>
            <p:nvPr/>
          </p:nvSpPr>
          <p:spPr>
            <a:xfrm>
              <a:off x="10293763" y="1824270"/>
              <a:ext cx="14416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>
                  <a:latin typeface="Avenir Next LT Pro" panose="020B0504020202020204" pitchFamily="34" charset="77"/>
                </a:rPr>
                <a:t>A few specific questions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15C8ECC-731F-5B47-8E73-13032CF7FCC2}"/>
                </a:ext>
              </a:extLst>
            </p:cNvPr>
            <p:cNvSpPr txBox="1"/>
            <p:nvPr/>
          </p:nvSpPr>
          <p:spPr>
            <a:xfrm>
              <a:off x="7796093" y="2948556"/>
              <a:ext cx="168439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>
                  <a:latin typeface="Avenir Next LT Pro" panose="020B0504020202020204" pitchFamily="34" charset="77"/>
                </a:rPr>
                <a:t>Not many facts given; forced to dig for details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FFC8C8-5CA3-BB4D-823F-64B9126C2840}"/>
                </a:ext>
              </a:extLst>
            </p:cNvPr>
            <p:cNvSpPr txBox="1"/>
            <p:nvPr/>
          </p:nvSpPr>
          <p:spPr>
            <a:xfrm>
              <a:off x="10172374" y="2924668"/>
              <a:ext cx="168439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>
                  <a:latin typeface="Avenir Next LT Pro" panose="020B0504020202020204" pitchFamily="34" charset="77"/>
                </a:rPr>
                <a:t>No additional details than what is given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1B5DBC-0223-BE4A-A40F-8EBC41012076}"/>
                </a:ext>
              </a:extLst>
            </p:cNvPr>
            <p:cNvSpPr txBox="1"/>
            <p:nvPr/>
          </p:nvSpPr>
          <p:spPr>
            <a:xfrm>
              <a:off x="7796093" y="4288301"/>
              <a:ext cx="16843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>
                  <a:latin typeface="Avenir Next LT Pro" panose="020B0504020202020204" pitchFamily="34" charset="77"/>
                </a:rPr>
                <a:t>Conversational; back and forth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5F13379-6EA9-2149-B35E-9D07EAFF1934}"/>
                </a:ext>
              </a:extLst>
            </p:cNvPr>
            <p:cNvSpPr txBox="1"/>
            <p:nvPr/>
          </p:nvSpPr>
          <p:spPr>
            <a:xfrm>
              <a:off x="10081848" y="4165188"/>
              <a:ext cx="1881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>
                  <a:latin typeface="Avenir Next LT Pro" panose="020B0504020202020204" pitchFamily="34" charset="77"/>
                </a:rPr>
                <a:t>“What do you think” to any questions you ask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726306F-252E-5549-8FFA-D7317DD09157}"/>
                </a:ext>
              </a:extLst>
            </p:cNvPr>
            <p:cNvCxnSpPr/>
            <p:nvPr/>
          </p:nvCxnSpPr>
          <p:spPr>
            <a:xfrm>
              <a:off x="8580295" y="5196936"/>
              <a:ext cx="2518296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9C987D3-0028-3C4E-994A-C92F88CC9D7C}"/>
                </a:ext>
              </a:extLst>
            </p:cNvPr>
            <p:cNvSpPr txBox="1"/>
            <p:nvPr/>
          </p:nvSpPr>
          <p:spPr>
            <a:xfrm>
              <a:off x="7718625" y="5430590"/>
              <a:ext cx="189136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latin typeface="Avenir Next LT Pro" panose="020B0504020202020204" pitchFamily="34" charset="77"/>
                </a:rPr>
                <a:t>Interviewee-Led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A35E051-3244-224C-8534-266BC5F5F58A}"/>
                </a:ext>
              </a:extLst>
            </p:cNvPr>
            <p:cNvSpPr txBox="1"/>
            <p:nvPr/>
          </p:nvSpPr>
          <p:spPr>
            <a:xfrm>
              <a:off x="10101941" y="5426682"/>
              <a:ext cx="1825263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latin typeface="Avenir Next LT Pro" panose="020B0504020202020204" pitchFamily="34" charset="77"/>
                </a:rPr>
                <a:t>Interviewer-Led</a:t>
              </a:r>
            </a:p>
          </p:txBody>
        </p:sp>
      </p:grpSp>
      <p:sp>
        <p:nvSpPr>
          <p:cNvPr id="38" name="Chevron 37">
            <a:extLst>
              <a:ext uri="{FF2B5EF4-FFF2-40B4-BE49-F238E27FC236}">
                <a16:creationId xmlns:a16="http://schemas.microsoft.com/office/drawing/2014/main" id="{C98DE3FC-DC66-014E-9F64-85670A8A30B3}"/>
              </a:ext>
            </a:extLst>
          </p:cNvPr>
          <p:cNvSpPr/>
          <p:nvPr/>
        </p:nvSpPr>
        <p:spPr>
          <a:xfrm>
            <a:off x="-341376" y="6361111"/>
            <a:ext cx="215467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32DB-E6F3-FC4F-A9DD-21D99D9E0A63}"/>
              </a:ext>
            </a:extLst>
          </p:cNvPr>
          <p:cNvSpPr txBox="1"/>
          <p:nvPr/>
        </p:nvSpPr>
        <p:spPr>
          <a:xfrm>
            <a:off x="228600" y="6460120"/>
            <a:ext cx="13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00922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7A84-D862-E945-BAF3-8D8FF4201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Beginning a Case: Prompt</a:t>
            </a:r>
          </a:p>
        </p:txBody>
      </p:sp>
      <p:cxnSp>
        <p:nvCxnSpPr>
          <p:cNvPr id="6" name="Google Shape;1039;p37">
            <a:extLst>
              <a:ext uri="{FF2B5EF4-FFF2-40B4-BE49-F238E27FC236}">
                <a16:creationId xmlns:a16="http://schemas.microsoft.com/office/drawing/2014/main" id="{DAF8DED9-37D1-F94D-BF19-1B1F259722C9}"/>
              </a:ext>
            </a:extLst>
          </p:cNvPr>
          <p:cNvCxnSpPr>
            <a:cxnSpLocks/>
          </p:cNvCxnSpPr>
          <p:nvPr/>
        </p:nvCxnSpPr>
        <p:spPr>
          <a:xfrm>
            <a:off x="6096000" y="1711729"/>
            <a:ext cx="0" cy="411480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4EED4CC-AF0B-4A4D-9571-B35D48155915}"/>
              </a:ext>
            </a:extLst>
          </p:cNvPr>
          <p:cNvSpPr/>
          <p:nvPr/>
        </p:nvSpPr>
        <p:spPr>
          <a:xfrm>
            <a:off x="638961" y="3243697"/>
            <a:ext cx="4884127" cy="274043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4C395E-1B5E-A041-9F23-F6D588B4A070}"/>
              </a:ext>
            </a:extLst>
          </p:cNvPr>
          <p:cNvCxnSpPr>
            <a:cxnSpLocks/>
          </p:cNvCxnSpPr>
          <p:nvPr/>
        </p:nvCxnSpPr>
        <p:spPr>
          <a:xfrm>
            <a:off x="1789463" y="3243697"/>
            <a:ext cx="0" cy="2740439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6B9460-0C31-CB49-BB7C-448569FE9EDF}"/>
              </a:ext>
            </a:extLst>
          </p:cNvPr>
          <p:cNvCxnSpPr>
            <a:cxnSpLocks/>
          </p:cNvCxnSpPr>
          <p:nvPr/>
        </p:nvCxnSpPr>
        <p:spPr>
          <a:xfrm>
            <a:off x="1789463" y="4100731"/>
            <a:ext cx="3733624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681E80A-CB71-994E-B6BA-19EDCD4E7DFE}"/>
              </a:ext>
            </a:extLst>
          </p:cNvPr>
          <p:cNvSpPr txBox="1"/>
          <p:nvPr/>
        </p:nvSpPr>
        <p:spPr>
          <a:xfrm>
            <a:off x="719769" y="3243697"/>
            <a:ext cx="962804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>
                <a:latin typeface="Avenir Next LT Pro" panose="020B0504020202020204" pitchFamily="34" charset="77"/>
              </a:rPr>
              <a:t>Notes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F18BF-9113-9A43-BCBA-D46A32508007}"/>
              </a:ext>
            </a:extLst>
          </p:cNvPr>
          <p:cNvSpPr txBox="1"/>
          <p:nvPr/>
        </p:nvSpPr>
        <p:spPr>
          <a:xfrm>
            <a:off x="2868113" y="3244803"/>
            <a:ext cx="1890681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>
                <a:latin typeface="Avenir Next LT Pro" panose="020B0504020202020204" pitchFamily="34" charset="77"/>
              </a:rPr>
              <a:t>Objective(s)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1D707-4388-EF4A-A293-28A5F0F9F86A}"/>
              </a:ext>
            </a:extLst>
          </p:cNvPr>
          <p:cNvSpPr txBox="1"/>
          <p:nvPr/>
        </p:nvSpPr>
        <p:spPr>
          <a:xfrm>
            <a:off x="2967860" y="4134934"/>
            <a:ext cx="1691184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>
                <a:latin typeface="Avenir Next LT Pro" panose="020B0504020202020204" pitchFamily="34" charset="77"/>
              </a:rPr>
              <a:t>Framework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2B7051-4761-FE4A-B4A3-8D2000DD423A}"/>
              </a:ext>
            </a:extLst>
          </p:cNvPr>
          <p:cNvCxnSpPr>
            <a:cxnSpLocks/>
          </p:cNvCxnSpPr>
          <p:nvPr/>
        </p:nvCxnSpPr>
        <p:spPr>
          <a:xfrm>
            <a:off x="719769" y="1711729"/>
            <a:ext cx="4656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A7F6E3-198F-504A-B620-F51082CCAA4F}"/>
              </a:ext>
            </a:extLst>
          </p:cNvPr>
          <p:cNvSpPr txBox="1"/>
          <p:nvPr/>
        </p:nvSpPr>
        <p:spPr>
          <a:xfrm>
            <a:off x="1910244" y="1454864"/>
            <a:ext cx="2115232" cy="4205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>
                <a:latin typeface="Avenir Next LT Pro" panose="020B0504020202020204" pitchFamily="34" charset="77"/>
              </a:rPr>
              <a:t>Before prompt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B7F75C6-BAC9-5C45-AADC-750E2B531ADD}"/>
              </a:ext>
            </a:extLst>
          </p:cNvPr>
          <p:cNvSpPr/>
          <p:nvPr/>
        </p:nvSpPr>
        <p:spPr>
          <a:xfrm>
            <a:off x="807905" y="2116254"/>
            <a:ext cx="4480188" cy="88507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Utilize multiple pieces of paper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Organize your notes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642216-B51E-E942-868C-91A7EB8A072C}"/>
              </a:ext>
            </a:extLst>
          </p:cNvPr>
          <p:cNvCxnSpPr>
            <a:cxnSpLocks/>
          </p:cNvCxnSpPr>
          <p:nvPr/>
        </p:nvCxnSpPr>
        <p:spPr>
          <a:xfrm>
            <a:off x="6815771" y="1711729"/>
            <a:ext cx="4656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BB9E517-615F-F249-8F5A-31B4B8969C20}"/>
              </a:ext>
            </a:extLst>
          </p:cNvPr>
          <p:cNvSpPr txBox="1"/>
          <p:nvPr/>
        </p:nvSpPr>
        <p:spPr>
          <a:xfrm>
            <a:off x="8006247" y="1454864"/>
            <a:ext cx="2115232" cy="4205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>
                <a:latin typeface="Avenir Next LT Pro" panose="020B0504020202020204" pitchFamily="34" charset="77"/>
              </a:rPr>
              <a:t>During prompt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0A889E-9CA6-844E-BC29-8A3B01DC4C42}"/>
              </a:ext>
            </a:extLst>
          </p:cNvPr>
          <p:cNvCxnSpPr>
            <a:cxnSpLocks/>
          </p:cNvCxnSpPr>
          <p:nvPr/>
        </p:nvCxnSpPr>
        <p:spPr>
          <a:xfrm>
            <a:off x="6815771" y="4025167"/>
            <a:ext cx="4656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32F1639-96F7-2D45-A272-8A5750C119EE}"/>
              </a:ext>
            </a:extLst>
          </p:cNvPr>
          <p:cNvSpPr txBox="1"/>
          <p:nvPr/>
        </p:nvSpPr>
        <p:spPr>
          <a:xfrm>
            <a:off x="8006247" y="3768301"/>
            <a:ext cx="2115232" cy="4205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>
                <a:latin typeface="Avenir Next LT Pro" panose="020B0504020202020204" pitchFamily="34" charset="77"/>
              </a:rPr>
              <a:t>After prompt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C1AD760-AF39-3C4F-9088-A7A6574E07D3}"/>
              </a:ext>
            </a:extLst>
          </p:cNvPr>
          <p:cNvSpPr/>
          <p:nvPr/>
        </p:nvSpPr>
        <p:spPr>
          <a:xfrm>
            <a:off x="6903907" y="2128813"/>
            <a:ext cx="4480188" cy="139727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Identify key pieces of info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Take notes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Write neatly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Stay organized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D863AC9-11B2-9640-A299-E1FA6B962CC0}"/>
              </a:ext>
            </a:extLst>
          </p:cNvPr>
          <p:cNvSpPr/>
          <p:nvPr/>
        </p:nvSpPr>
        <p:spPr>
          <a:xfrm>
            <a:off x="6910334" y="4360637"/>
            <a:ext cx="4480188" cy="168606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Restate facts of prompt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Ask for additional goals or objectives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What constitutes success?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Clarifying questions</a:t>
            </a: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B382CDD7-FD0F-B04B-8A93-E17905F00736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76E25D-23E4-644F-92CD-9AD242F26EA4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335010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/>
      <p:bldP spid="26" grpId="0" animBg="1"/>
      <p:bldP spid="30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7257-27D4-AB46-A0EF-552267AF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5" name="Google Shape;876;p28">
            <a:extLst>
              <a:ext uri="{FF2B5EF4-FFF2-40B4-BE49-F238E27FC236}">
                <a16:creationId xmlns:a16="http://schemas.microsoft.com/office/drawing/2014/main" id="{68F9DF49-2895-FF49-B82F-9C8A40EE5EBD}"/>
              </a:ext>
            </a:extLst>
          </p:cNvPr>
          <p:cNvSpPr txBox="1"/>
          <p:nvPr/>
        </p:nvSpPr>
        <p:spPr>
          <a:xfrm>
            <a:off x="838200" y="1193176"/>
            <a:ext cx="10515600" cy="9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rgbClr val="000000"/>
                </a:solidFill>
                <a:latin typeface="Avenir Next LT Pro" panose="020B0504020202020204" pitchFamily="34" charset="77"/>
              </a:rPr>
              <a:t>After clarifying questions, ask the interviewer for a moment to gather your thoughts before moving on to the framework</a:t>
            </a:r>
            <a:endParaRPr lang="en-US" sz="2133">
              <a:solidFill>
                <a:srgbClr val="000000"/>
              </a:solidFill>
              <a:latin typeface="Avenir Next LT Pro" panose="020B0504020202020204" pitchFamily="34" charset="77"/>
            </a:endParaRPr>
          </a:p>
          <a:p>
            <a:pPr>
              <a:buClr>
                <a:srgbClr val="000000"/>
              </a:buClr>
              <a:buSzPts val="2400"/>
            </a:pPr>
            <a:endParaRPr sz="13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EECC12-87BD-9349-ABBC-3F400CA479E2}"/>
              </a:ext>
            </a:extLst>
          </p:cNvPr>
          <p:cNvSpPr/>
          <p:nvPr/>
        </p:nvSpPr>
        <p:spPr>
          <a:xfrm>
            <a:off x="1133092" y="4490329"/>
            <a:ext cx="1310833" cy="1250656"/>
          </a:xfrm>
          <a:prstGeom prst="ellips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pic>
        <p:nvPicPr>
          <p:cNvPr id="8" name="Graphic 7" descr="Left Brain with solid fill">
            <a:extLst>
              <a:ext uri="{FF2B5EF4-FFF2-40B4-BE49-F238E27FC236}">
                <a16:creationId xmlns:a16="http://schemas.microsoft.com/office/drawing/2014/main" id="{5CF3C74C-43A6-2E4D-A391-526D2E2CC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500" y="4638651"/>
            <a:ext cx="954013" cy="95401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AD9C4C8-1D05-714E-9261-448D1F5CB388}"/>
              </a:ext>
            </a:extLst>
          </p:cNvPr>
          <p:cNvSpPr/>
          <p:nvPr/>
        </p:nvSpPr>
        <p:spPr>
          <a:xfrm>
            <a:off x="6556672" y="4490329"/>
            <a:ext cx="1310833" cy="1250656"/>
          </a:xfrm>
          <a:prstGeom prst="ellips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425FC4F6-415B-864E-B668-1A17EB4A7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5080" y="4638651"/>
            <a:ext cx="954013" cy="954013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087FB4-0B76-394D-9609-58C0B6FBB8DA}"/>
              </a:ext>
            </a:extLst>
          </p:cNvPr>
          <p:cNvSpPr/>
          <p:nvPr/>
        </p:nvSpPr>
        <p:spPr>
          <a:xfrm>
            <a:off x="2111488" y="2319373"/>
            <a:ext cx="7969024" cy="1039640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5A05D-338B-2D46-B94D-C695369869A9}"/>
              </a:ext>
            </a:extLst>
          </p:cNvPr>
          <p:cNvSpPr txBox="1"/>
          <p:nvPr/>
        </p:nvSpPr>
        <p:spPr>
          <a:xfrm>
            <a:off x="2329625" y="2524495"/>
            <a:ext cx="7532748" cy="66697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US" sz="1867">
                <a:latin typeface="Avenir Next LT Pro" panose="020B0504020202020204" pitchFamily="34" charset="77"/>
              </a:rPr>
              <a:t>Demonstrates strong critical thinking skills to the interviewer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US" sz="1867">
                <a:latin typeface="Avenir Next LT Pro" panose="020B0504020202020204" pitchFamily="34" charset="77"/>
              </a:rPr>
              <a:t>Provides a roadmap for further analysis throughout the case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D44B95-03E0-7F4A-A2FF-D151C7A134B3}"/>
              </a:ext>
            </a:extLst>
          </p:cNvPr>
          <p:cNvSpPr txBox="1"/>
          <p:nvPr/>
        </p:nvSpPr>
        <p:spPr>
          <a:xfrm>
            <a:off x="4628674" y="2125487"/>
            <a:ext cx="293465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latin typeface="Avenir Next LT Pro" panose="020B0504020202020204" pitchFamily="34" charset="77"/>
              </a:rPr>
              <a:t>Why use frameworks?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2D212C-A2D8-1840-8C25-C339CB4DE553}"/>
              </a:ext>
            </a:extLst>
          </p:cNvPr>
          <p:cNvCxnSpPr>
            <a:cxnSpLocks/>
          </p:cNvCxnSpPr>
          <p:nvPr/>
        </p:nvCxnSpPr>
        <p:spPr>
          <a:xfrm>
            <a:off x="1139149" y="3920389"/>
            <a:ext cx="4656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132B547-EB78-264F-872C-F7BC5C0F6460}"/>
              </a:ext>
            </a:extLst>
          </p:cNvPr>
          <p:cNvSpPr txBox="1"/>
          <p:nvPr/>
        </p:nvSpPr>
        <p:spPr>
          <a:xfrm>
            <a:off x="2736715" y="3663524"/>
            <a:ext cx="1461327" cy="4205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>
                <a:latin typeface="Avenir Next LT Pro" panose="020B0504020202020204" pitchFamily="34" charset="77"/>
              </a:rPr>
              <a:t>Intuitive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8395FC-C8D4-0648-AF79-49253CDE3428}"/>
              </a:ext>
            </a:extLst>
          </p:cNvPr>
          <p:cNvCxnSpPr>
            <a:cxnSpLocks/>
          </p:cNvCxnSpPr>
          <p:nvPr/>
        </p:nvCxnSpPr>
        <p:spPr>
          <a:xfrm>
            <a:off x="6556671" y="3920389"/>
            <a:ext cx="4656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2B6DE9B-1C8C-A74F-A171-A06B4345B13B}"/>
              </a:ext>
            </a:extLst>
          </p:cNvPr>
          <p:cNvSpPr txBox="1"/>
          <p:nvPr/>
        </p:nvSpPr>
        <p:spPr>
          <a:xfrm>
            <a:off x="8154238" y="3674169"/>
            <a:ext cx="1461327" cy="4205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>
                <a:latin typeface="Avenir Next LT Pro" panose="020B0504020202020204" pitchFamily="34" charset="77"/>
              </a:rPr>
              <a:t>Specific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DA1DA9-40B6-F54E-A63B-E39694B23097}"/>
              </a:ext>
            </a:extLst>
          </p:cNvPr>
          <p:cNvSpPr txBox="1"/>
          <p:nvPr/>
        </p:nvSpPr>
        <p:spPr>
          <a:xfrm>
            <a:off x="2622334" y="4490329"/>
            <a:ext cx="3549785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latin typeface="Avenir Next LT Pro" panose="020B0504020202020204" pitchFamily="34" charset="77"/>
              </a:rPr>
              <a:t>Identify factors that break down the larger problem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latin typeface="Avenir Next LT Pro" panose="020B0504020202020204" pitchFamily="34" charset="77"/>
              </a:rPr>
              <a:t>Keep it M.E.C.E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41F6C5-9F55-E54F-90C8-A770683C54C0}"/>
              </a:ext>
            </a:extLst>
          </p:cNvPr>
          <p:cNvSpPr txBox="1"/>
          <p:nvPr/>
        </p:nvSpPr>
        <p:spPr>
          <a:xfrm>
            <a:off x="8041089" y="4497125"/>
            <a:ext cx="3549785" cy="152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latin typeface="Avenir Next LT Pro" panose="020B0504020202020204" pitchFamily="34" charset="77"/>
              </a:rPr>
              <a:t>Factors should be tailored to the firm and problem at hand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67">
                <a:latin typeface="Avenir Next LT Pro" panose="020B0504020202020204" pitchFamily="34" charset="77"/>
              </a:rPr>
              <a:t>Avoid “cookie-cutter” frameworks</a:t>
            </a: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87D91638-49ED-DB41-9CDC-DDAFE9B7B800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C487BE-DB69-A143-B3EC-C8A8293A0CAE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97364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21" grpId="0" animBg="1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3203-C233-D14C-8C57-049DC902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Beginning a Case: Questions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602CDE-91D3-FA47-950D-6AFBE43108D3}"/>
              </a:ext>
            </a:extLst>
          </p:cNvPr>
          <p:cNvSpPr/>
          <p:nvPr/>
        </p:nvSpPr>
        <p:spPr>
          <a:xfrm>
            <a:off x="600862" y="1554164"/>
            <a:ext cx="10990269" cy="1874837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>
              <a:latin typeface="Avenir Next LT Pro" panose="020B050402020202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B98D0-5253-E54E-9A2B-44CD640DE4B2}"/>
              </a:ext>
            </a:extLst>
          </p:cNvPr>
          <p:cNvSpPr txBox="1"/>
          <p:nvPr/>
        </p:nvSpPr>
        <p:spPr>
          <a:xfrm>
            <a:off x="906619" y="1937584"/>
            <a:ext cx="103787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Avenir Next LT Pro" panose="020B0504020202020204" pitchFamily="34" charset="77"/>
              </a:rPr>
              <a:t>Our client is a global consumer packaged goods company, called Kilaru Clean, that makes paper products such as paper towels, cleaning products, and laundry care products. The company’s CEO has set a sales target of $2B in 4 years while sales are currently at $1B. Our client would like you to develop a strategy to deliver this growth. What factors would you consider in helping Kilaru Clean attain their goal?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248E9-3AE1-E24A-8E06-0764FEB0D192}"/>
              </a:ext>
            </a:extLst>
          </p:cNvPr>
          <p:cNvSpPr txBox="1"/>
          <p:nvPr/>
        </p:nvSpPr>
        <p:spPr>
          <a:xfrm>
            <a:off x="5547416" y="1354109"/>
            <a:ext cx="109715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latin typeface="Avenir Next LT Pro" panose="020B0504020202020204" pitchFamily="34" charset="77"/>
              </a:rPr>
              <a:t>Prompt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F9368F-33B8-B346-8882-DE00B65923E2}"/>
              </a:ext>
            </a:extLst>
          </p:cNvPr>
          <p:cNvSpPr/>
          <p:nvPr/>
        </p:nvSpPr>
        <p:spPr>
          <a:xfrm>
            <a:off x="600862" y="4383056"/>
            <a:ext cx="3281813" cy="784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What regions does this company operate in?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036890-C8DC-7348-81B6-916A13E0A111}"/>
              </a:ext>
            </a:extLst>
          </p:cNvPr>
          <p:cNvSpPr/>
          <p:nvPr/>
        </p:nvSpPr>
        <p:spPr>
          <a:xfrm>
            <a:off x="4455090" y="4383056"/>
            <a:ext cx="3281813" cy="784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How does this company make money?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1BA0A-2E05-0742-A4AB-C79AC239624B}"/>
              </a:ext>
            </a:extLst>
          </p:cNvPr>
          <p:cNvSpPr/>
          <p:nvPr/>
        </p:nvSpPr>
        <p:spPr>
          <a:xfrm>
            <a:off x="2471223" y="5315702"/>
            <a:ext cx="3281813" cy="7844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Is this a firm-specific or industry-wide problem?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914F0A-E1AC-5D48-9CA0-D7DA9F005BEB}"/>
              </a:ext>
            </a:extLst>
          </p:cNvPr>
          <p:cNvSpPr/>
          <p:nvPr/>
        </p:nvSpPr>
        <p:spPr>
          <a:xfrm>
            <a:off x="8309318" y="4366424"/>
            <a:ext cx="3281813" cy="7844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How long has this problem been occurring?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D26A0F-F57A-0171-1964-9384238B6FD2}"/>
              </a:ext>
            </a:extLst>
          </p:cNvPr>
          <p:cNvGrpSpPr/>
          <p:nvPr/>
        </p:nvGrpSpPr>
        <p:grpSpPr>
          <a:xfrm>
            <a:off x="3254337" y="3644614"/>
            <a:ext cx="5683327" cy="420564"/>
            <a:chOff x="3254337" y="3644614"/>
            <a:chExt cx="5683327" cy="42056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D12DC4-3FF2-844A-BEA0-FC82B5CBD71F}"/>
                </a:ext>
              </a:extLst>
            </p:cNvPr>
            <p:cNvCxnSpPr>
              <a:cxnSpLocks/>
            </p:cNvCxnSpPr>
            <p:nvPr/>
          </p:nvCxnSpPr>
          <p:spPr>
            <a:xfrm>
              <a:off x="3254337" y="3891053"/>
              <a:ext cx="568332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59E308-A3BA-074F-8973-07B5FB7A934B}"/>
                </a:ext>
              </a:extLst>
            </p:cNvPr>
            <p:cNvSpPr txBox="1"/>
            <p:nvPr/>
          </p:nvSpPr>
          <p:spPr>
            <a:xfrm>
              <a:off x="4756702" y="3644614"/>
              <a:ext cx="2678597" cy="4205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>
                  <a:latin typeface="Avenir Next LT Pro" panose="020B0504020202020204" pitchFamily="34" charset="77"/>
                </a:rPr>
                <a:t>Things to consider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707B35D6-EA3F-D945-9F6C-FE4F9C2425A2}"/>
              </a:ext>
            </a:extLst>
          </p:cNvPr>
          <p:cNvSpPr/>
          <p:nvPr/>
        </p:nvSpPr>
        <p:spPr>
          <a:xfrm>
            <a:off x="6438964" y="5319877"/>
            <a:ext cx="3281813" cy="7844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>
                <a:solidFill>
                  <a:schemeClr val="bg1"/>
                </a:solidFill>
                <a:latin typeface="Avenir Next LT Pro" panose="020B0504020202020204" pitchFamily="34" charset="77"/>
              </a:rPr>
              <a:t>What are their main distribution channels?</a:t>
            </a: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89FD10EB-924B-BB4F-816A-903C3196A80F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50F7C6-2487-214B-8BD0-1E5A39B26633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223146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550C13-811B-20C9-0AAE-BF11DC5195C2}"/>
              </a:ext>
            </a:extLst>
          </p:cNvPr>
          <p:cNvSpPr/>
          <p:nvPr/>
        </p:nvSpPr>
        <p:spPr>
          <a:xfrm>
            <a:off x="7927838" y="2936887"/>
            <a:ext cx="3407885" cy="2586235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1D58D-3D10-E7AD-95C4-FF1663F09338}"/>
              </a:ext>
            </a:extLst>
          </p:cNvPr>
          <p:cNvSpPr/>
          <p:nvPr/>
        </p:nvSpPr>
        <p:spPr>
          <a:xfrm>
            <a:off x="4352931" y="2936887"/>
            <a:ext cx="3407885" cy="2586235"/>
          </a:xfrm>
          <a:prstGeom prst="rect">
            <a:avLst/>
          </a:prstGeom>
          <a:solidFill>
            <a:srgbClr val="1F3D8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4" name="Google Shape;876;p28">
            <a:extLst>
              <a:ext uri="{FF2B5EF4-FFF2-40B4-BE49-F238E27FC236}">
                <a16:creationId xmlns:a16="http://schemas.microsoft.com/office/drawing/2014/main" id="{44DEA7B1-9EFB-0048-98AE-CA31946F6876}"/>
              </a:ext>
            </a:extLst>
          </p:cNvPr>
          <p:cNvSpPr txBox="1"/>
          <p:nvPr/>
        </p:nvSpPr>
        <p:spPr>
          <a:xfrm>
            <a:off x="965716" y="1193177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Sample Framework</a:t>
            </a:r>
            <a:endParaRPr sz="21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6656F-AFC3-B142-94B3-27BEFF1448A3}"/>
              </a:ext>
            </a:extLst>
          </p:cNvPr>
          <p:cNvSpPr/>
          <p:nvPr/>
        </p:nvSpPr>
        <p:spPr>
          <a:xfrm>
            <a:off x="778025" y="2012416"/>
            <a:ext cx="3407884" cy="8069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498C63-8129-DB4C-B4F7-4BED49252AC9}"/>
              </a:ext>
            </a:extLst>
          </p:cNvPr>
          <p:cNvSpPr/>
          <p:nvPr/>
        </p:nvSpPr>
        <p:spPr>
          <a:xfrm>
            <a:off x="4362679" y="2012417"/>
            <a:ext cx="3407884" cy="80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CEACD-1088-6D41-BFF7-3C60710D201D}"/>
              </a:ext>
            </a:extLst>
          </p:cNvPr>
          <p:cNvSpPr txBox="1"/>
          <p:nvPr/>
        </p:nvSpPr>
        <p:spPr>
          <a:xfrm>
            <a:off x="4596573" y="2198257"/>
            <a:ext cx="2940100" cy="42056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CPG Market Outlook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9AC723-A8F4-7D4B-A705-6A20F2C2A36F}"/>
              </a:ext>
            </a:extLst>
          </p:cNvPr>
          <p:cNvSpPr/>
          <p:nvPr/>
        </p:nvSpPr>
        <p:spPr>
          <a:xfrm>
            <a:off x="7947335" y="2012416"/>
            <a:ext cx="3407884" cy="8069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43DEA-73FA-304D-A2AE-D77D533CC2FF}"/>
              </a:ext>
            </a:extLst>
          </p:cNvPr>
          <p:cNvSpPr txBox="1"/>
          <p:nvPr/>
        </p:nvSpPr>
        <p:spPr>
          <a:xfrm>
            <a:off x="8771998" y="2190204"/>
            <a:ext cx="1758558" cy="42056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Risk 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CDA35-D31A-F14A-A0D1-BDB40D6E25B2}"/>
              </a:ext>
            </a:extLst>
          </p:cNvPr>
          <p:cNvSpPr txBox="1"/>
          <p:nvPr/>
        </p:nvSpPr>
        <p:spPr>
          <a:xfrm>
            <a:off x="836781" y="2035981"/>
            <a:ext cx="3323519" cy="7487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Kilaru Internal Capabilities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B9421-7075-BB4F-9E2B-C1E1E28CC163}"/>
              </a:ext>
            </a:extLst>
          </p:cNvPr>
          <p:cNvSpPr/>
          <p:nvPr/>
        </p:nvSpPr>
        <p:spPr>
          <a:xfrm>
            <a:off x="778024" y="2936888"/>
            <a:ext cx="3407885" cy="2586235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Graphic 11" descr="Clipboard Checked with solid fill">
            <a:extLst>
              <a:ext uri="{FF2B5EF4-FFF2-40B4-BE49-F238E27FC236}">
                <a16:creationId xmlns:a16="http://schemas.microsoft.com/office/drawing/2014/main" id="{66A304AB-F9FF-A14C-B1CF-11B209BA4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012" y="3620405"/>
            <a:ext cx="1219200" cy="1219200"/>
          </a:xfrm>
          <a:prstGeom prst="rect">
            <a:avLst/>
          </a:prstGeom>
        </p:spPr>
      </p:pic>
      <p:pic>
        <p:nvPicPr>
          <p:cNvPr id="10" name="Graphic 9" descr="Business Growth with solid fill">
            <a:extLst>
              <a:ext uri="{FF2B5EF4-FFF2-40B4-BE49-F238E27FC236}">
                <a16:creationId xmlns:a16="http://schemas.microsoft.com/office/drawing/2014/main" id="{6A11A6FB-96EC-F849-A35E-ACF4B468C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5552" y="3620405"/>
            <a:ext cx="1219200" cy="1219200"/>
          </a:xfrm>
          <a:prstGeom prst="rect">
            <a:avLst/>
          </a:prstGeom>
        </p:spPr>
      </p:pic>
      <p:pic>
        <p:nvPicPr>
          <p:cNvPr id="8" name="Graphic 7" descr="Warning with solid fill">
            <a:extLst>
              <a:ext uri="{FF2B5EF4-FFF2-40B4-BE49-F238E27FC236}">
                <a16:creationId xmlns:a16="http://schemas.microsoft.com/office/drawing/2014/main" id="{9B292109-C903-0145-870D-361092A45F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41675" y="3550900"/>
            <a:ext cx="1219200" cy="12192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CEF04005-0842-F14F-A387-7F58C324F3D4}"/>
              </a:ext>
            </a:extLst>
          </p:cNvPr>
          <p:cNvSpPr/>
          <p:nvPr/>
        </p:nvSpPr>
        <p:spPr>
          <a:xfrm>
            <a:off x="1546802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4D17A4-8E10-4D42-AB11-0DC734B45EC3}"/>
              </a:ext>
            </a:extLst>
          </p:cNvPr>
          <p:cNvSpPr/>
          <p:nvPr/>
        </p:nvSpPr>
        <p:spPr>
          <a:xfrm>
            <a:off x="5141205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E24A9F-C9C3-8D44-9F05-FDE1ABAC486C}"/>
              </a:ext>
            </a:extLst>
          </p:cNvPr>
          <p:cNvSpPr/>
          <p:nvPr/>
        </p:nvSpPr>
        <p:spPr>
          <a:xfrm>
            <a:off x="8696481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D221F22D-75AB-E240-9C4E-B358EEE24894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FBA6ED-6BB9-4F4E-9E94-7077E56982D4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3679299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4" name="Google Shape;876;p28">
            <a:extLst>
              <a:ext uri="{FF2B5EF4-FFF2-40B4-BE49-F238E27FC236}">
                <a16:creationId xmlns:a16="http://schemas.microsoft.com/office/drawing/2014/main" id="{44DEA7B1-9EFB-0048-98AE-CA31946F6876}"/>
              </a:ext>
            </a:extLst>
          </p:cNvPr>
          <p:cNvSpPr txBox="1"/>
          <p:nvPr/>
        </p:nvSpPr>
        <p:spPr>
          <a:xfrm>
            <a:off x="965716" y="1193177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Sample Framework</a:t>
            </a:r>
            <a:endParaRPr sz="13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6656F-AFC3-B142-94B3-27BEFF1448A3}"/>
              </a:ext>
            </a:extLst>
          </p:cNvPr>
          <p:cNvSpPr/>
          <p:nvPr/>
        </p:nvSpPr>
        <p:spPr>
          <a:xfrm>
            <a:off x="778025" y="2012416"/>
            <a:ext cx="3407884" cy="8069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498C63-8129-DB4C-B4F7-4BED49252AC9}"/>
              </a:ext>
            </a:extLst>
          </p:cNvPr>
          <p:cNvSpPr/>
          <p:nvPr/>
        </p:nvSpPr>
        <p:spPr>
          <a:xfrm>
            <a:off x="4362679" y="2012417"/>
            <a:ext cx="3407884" cy="806985"/>
          </a:xfrm>
          <a:prstGeom prst="rect">
            <a:avLst/>
          </a:prstGeom>
          <a:solidFill>
            <a:srgbClr val="1F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CEACD-1088-6D41-BFF7-3C60710D201D}"/>
              </a:ext>
            </a:extLst>
          </p:cNvPr>
          <p:cNvSpPr txBox="1"/>
          <p:nvPr/>
        </p:nvSpPr>
        <p:spPr>
          <a:xfrm>
            <a:off x="4596571" y="2197768"/>
            <a:ext cx="2940100" cy="420564"/>
          </a:xfrm>
          <a:prstGeom prst="rect">
            <a:avLst/>
          </a:prstGeom>
          <a:solidFill>
            <a:srgbClr val="1F3D8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CPG Market Outlook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9AC723-A8F4-7D4B-A705-6A20F2C2A36F}"/>
              </a:ext>
            </a:extLst>
          </p:cNvPr>
          <p:cNvSpPr/>
          <p:nvPr/>
        </p:nvSpPr>
        <p:spPr>
          <a:xfrm>
            <a:off x="7947335" y="2012416"/>
            <a:ext cx="3407884" cy="8069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43DEA-73FA-304D-A2AE-D77D533CC2FF}"/>
              </a:ext>
            </a:extLst>
          </p:cNvPr>
          <p:cNvSpPr txBox="1"/>
          <p:nvPr/>
        </p:nvSpPr>
        <p:spPr>
          <a:xfrm>
            <a:off x="8771999" y="2197768"/>
            <a:ext cx="1758558" cy="42056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Risk 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CDA35-D31A-F14A-A0D1-BDB40D6E25B2}"/>
              </a:ext>
            </a:extLst>
          </p:cNvPr>
          <p:cNvSpPr txBox="1"/>
          <p:nvPr/>
        </p:nvSpPr>
        <p:spPr>
          <a:xfrm>
            <a:off x="832897" y="2045392"/>
            <a:ext cx="3323519" cy="7487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Kilaru Internal Capabilities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B9421-7075-BB4F-9E2B-C1E1E28CC163}"/>
              </a:ext>
            </a:extLst>
          </p:cNvPr>
          <p:cNvSpPr/>
          <p:nvPr/>
        </p:nvSpPr>
        <p:spPr>
          <a:xfrm>
            <a:off x="778024" y="2936888"/>
            <a:ext cx="10577195" cy="2586235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pic>
        <p:nvPicPr>
          <p:cNvPr id="12" name="Graphic 11" descr="Clipboard Checked with solid fill">
            <a:extLst>
              <a:ext uri="{FF2B5EF4-FFF2-40B4-BE49-F238E27FC236}">
                <a16:creationId xmlns:a16="http://schemas.microsoft.com/office/drawing/2014/main" id="{66A304AB-F9FF-A14C-B1CF-11B209BA4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012" y="3620405"/>
            <a:ext cx="1219200" cy="12192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CEF04005-0842-F14F-A387-7F58C324F3D4}"/>
              </a:ext>
            </a:extLst>
          </p:cNvPr>
          <p:cNvSpPr/>
          <p:nvPr/>
        </p:nvSpPr>
        <p:spPr>
          <a:xfrm>
            <a:off x="1546802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F682D-C389-4C4E-8975-A659AF243100}"/>
              </a:ext>
            </a:extLst>
          </p:cNvPr>
          <p:cNvSpPr txBox="1"/>
          <p:nvPr/>
        </p:nvSpPr>
        <p:spPr>
          <a:xfrm>
            <a:off x="4143724" y="3245120"/>
            <a:ext cx="6772464" cy="173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Understand Kilaru </a:t>
            </a:r>
            <a:r>
              <a:rPr lang="en-US" sz="2133" err="1">
                <a:solidFill>
                  <a:schemeClr val="bg1"/>
                </a:solidFill>
                <a:latin typeface="Avenir Next LT Pro" panose="020B0504020202020204" pitchFamily="34" charset="77"/>
              </a:rPr>
              <a:t>Clean’s</a:t>
            </a: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 background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Segment into current product lines and new product investments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Determine most profitable segments to best allocate resources</a:t>
            </a: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EB6C3D39-354A-AA44-BFEC-30D9B50D47C5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3E2C76-3768-F947-AC60-92D4885B9292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1907908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550C13-811B-20C9-0AAE-BF11DC5195C2}"/>
              </a:ext>
            </a:extLst>
          </p:cNvPr>
          <p:cNvSpPr/>
          <p:nvPr/>
        </p:nvSpPr>
        <p:spPr>
          <a:xfrm>
            <a:off x="7927838" y="2936887"/>
            <a:ext cx="3407885" cy="2586235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1D58D-3D10-E7AD-95C4-FF1663F09338}"/>
              </a:ext>
            </a:extLst>
          </p:cNvPr>
          <p:cNvSpPr/>
          <p:nvPr/>
        </p:nvSpPr>
        <p:spPr>
          <a:xfrm>
            <a:off x="4352931" y="2936887"/>
            <a:ext cx="3407885" cy="2586235"/>
          </a:xfrm>
          <a:prstGeom prst="rect">
            <a:avLst/>
          </a:prstGeom>
          <a:solidFill>
            <a:srgbClr val="1F3D8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4" name="Google Shape;876;p28">
            <a:extLst>
              <a:ext uri="{FF2B5EF4-FFF2-40B4-BE49-F238E27FC236}">
                <a16:creationId xmlns:a16="http://schemas.microsoft.com/office/drawing/2014/main" id="{44DEA7B1-9EFB-0048-98AE-CA31946F6876}"/>
              </a:ext>
            </a:extLst>
          </p:cNvPr>
          <p:cNvSpPr txBox="1"/>
          <p:nvPr/>
        </p:nvSpPr>
        <p:spPr>
          <a:xfrm>
            <a:off x="965716" y="1193177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Sample Framework</a:t>
            </a:r>
            <a:endParaRPr sz="21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6656F-AFC3-B142-94B3-27BEFF1448A3}"/>
              </a:ext>
            </a:extLst>
          </p:cNvPr>
          <p:cNvSpPr/>
          <p:nvPr/>
        </p:nvSpPr>
        <p:spPr>
          <a:xfrm>
            <a:off x="778025" y="2012416"/>
            <a:ext cx="3407884" cy="8069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498C63-8129-DB4C-B4F7-4BED49252AC9}"/>
              </a:ext>
            </a:extLst>
          </p:cNvPr>
          <p:cNvSpPr/>
          <p:nvPr/>
        </p:nvSpPr>
        <p:spPr>
          <a:xfrm>
            <a:off x="4362679" y="2012417"/>
            <a:ext cx="3407884" cy="80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CEACD-1088-6D41-BFF7-3C60710D201D}"/>
              </a:ext>
            </a:extLst>
          </p:cNvPr>
          <p:cNvSpPr txBox="1"/>
          <p:nvPr/>
        </p:nvSpPr>
        <p:spPr>
          <a:xfrm>
            <a:off x="4596572" y="2198257"/>
            <a:ext cx="2940100" cy="42056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CPG Market Outlook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9AC723-A8F4-7D4B-A705-6A20F2C2A36F}"/>
              </a:ext>
            </a:extLst>
          </p:cNvPr>
          <p:cNvSpPr/>
          <p:nvPr/>
        </p:nvSpPr>
        <p:spPr>
          <a:xfrm>
            <a:off x="7947335" y="2012416"/>
            <a:ext cx="3407884" cy="8069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43DEA-73FA-304D-A2AE-D77D533CC2FF}"/>
              </a:ext>
            </a:extLst>
          </p:cNvPr>
          <p:cNvSpPr txBox="1"/>
          <p:nvPr/>
        </p:nvSpPr>
        <p:spPr>
          <a:xfrm>
            <a:off x="8771998" y="2190204"/>
            <a:ext cx="1758558" cy="42056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Risk 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CDA35-D31A-F14A-A0D1-BDB40D6E25B2}"/>
              </a:ext>
            </a:extLst>
          </p:cNvPr>
          <p:cNvSpPr txBox="1"/>
          <p:nvPr/>
        </p:nvSpPr>
        <p:spPr>
          <a:xfrm>
            <a:off x="839837" y="2034141"/>
            <a:ext cx="3323519" cy="7487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Kilaru Internal Capabilities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B9421-7075-BB4F-9E2B-C1E1E28CC163}"/>
              </a:ext>
            </a:extLst>
          </p:cNvPr>
          <p:cNvSpPr/>
          <p:nvPr/>
        </p:nvSpPr>
        <p:spPr>
          <a:xfrm>
            <a:off x="778024" y="2936888"/>
            <a:ext cx="3407885" cy="2586235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Graphic 11" descr="Clipboard Checked with solid fill">
            <a:extLst>
              <a:ext uri="{FF2B5EF4-FFF2-40B4-BE49-F238E27FC236}">
                <a16:creationId xmlns:a16="http://schemas.microsoft.com/office/drawing/2014/main" id="{66A304AB-F9FF-A14C-B1CF-11B209BA4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012" y="3620405"/>
            <a:ext cx="1219200" cy="1219200"/>
          </a:xfrm>
          <a:prstGeom prst="rect">
            <a:avLst/>
          </a:prstGeom>
        </p:spPr>
      </p:pic>
      <p:pic>
        <p:nvPicPr>
          <p:cNvPr id="10" name="Graphic 9" descr="Business Growth with solid fill">
            <a:extLst>
              <a:ext uri="{FF2B5EF4-FFF2-40B4-BE49-F238E27FC236}">
                <a16:creationId xmlns:a16="http://schemas.microsoft.com/office/drawing/2014/main" id="{6A11A6FB-96EC-F849-A35E-ACF4B468C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5552" y="3620405"/>
            <a:ext cx="1219200" cy="1219200"/>
          </a:xfrm>
          <a:prstGeom prst="rect">
            <a:avLst/>
          </a:prstGeom>
        </p:spPr>
      </p:pic>
      <p:pic>
        <p:nvPicPr>
          <p:cNvPr id="8" name="Graphic 7" descr="Warning with solid fill">
            <a:extLst>
              <a:ext uri="{FF2B5EF4-FFF2-40B4-BE49-F238E27FC236}">
                <a16:creationId xmlns:a16="http://schemas.microsoft.com/office/drawing/2014/main" id="{9B292109-C903-0145-870D-361092A45F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41675" y="3550900"/>
            <a:ext cx="1219200" cy="12192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CEF04005-0842-F14F-A387-7F58C324F3D4}"/>
              </a:ext>
            </a:extLst>
          </p:cNvPr>
          <p:cNvSpPr/>
          <p:nvPr/>
        </p:nvSpPr>
        <p:spPr>
          <a:xfrm>
            <a:off x="1546802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4D17A4-8E10-4D42-AB11-0DC734B45EC3}"/>
              </a:ext>
            </a:extLst>
          </p:cNvPr>
          <p:cNvSpPr/>
          <p:nvPr/>
        </p:nvSpPr>
        <p:spPr>
          <a:xfrm>
            <a:off x="5141205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E24A9F-C9C3-8D44-9F05-FDE1ABAC486C}"/>
              </a:ext>
            </a:extLst>
          </p:cNvPr>
          <p:cNvSpPr/>
          <p:nvPr/>
        </p:nvSpPr>
        <p:spPr>
          <a:xfrm>
            <a:off x="8696481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D221F22D-75AB-E240-9C4E-B358EEE24894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FBA6ED-6BB9-4F4E-9E94-7077E56982D4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3325197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4" name="Google Shape;876;p28">
            <a:extLst>
              <a:ext uri="{FF2B5EF4-FFF2-40B4-BE49-F238E27FC236}">
                <a16:creationId xmlns:a16="http://schemas.microsoft.com/office/drawing/2014/main" id="{44DEA7B1-9EFB-0048-98AE-CA31946F6876}"/>
              </a:ext>
            </a:extLst>
          </p:cNvPr>
          <p:cNvSpPr txBox="1"/>
          <p:nvPr/>
        </p:nvSpPr>
        <p:spPr>
          <a:xfrm>
            <a:off x="965716" y="1193177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Sample Framework</a:t>
            </a:r>
            <a:endParaRPr sz="13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6656F-AFC3-B142-94B3-27BEFF1448A3}"/>
              </a:ext>
            </a:extLst>
          </p:cNvPr>
          <p:cNvSpPr/>
          <p:nvPr/>
        </p:nvSpPr>
        <p:spPr>
          <a:xfrm>
            <a:off x="778025" y="2012416"/>
            <a:ext cx="3407884" cy="8069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498C63-8129-DB4C-B4F7-4BED49252AC9}"/>
              </a:ext>
            </a:extLst>
          </p:cNvPr>
          <p:cNvSpPr/>
          <p:nvPr/>
        </p:nvSpPr>
        <p:spPr>
          <a:xfrm>
            <a:off x="4362679" y="2012417"/>
            <a:ext cx="3407884" cy="80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CEACD-1088-6D41-BFF7-3C60710D201D}"/>
              </a:ext>
            </a:extLst>
          </p:cNvPr>
          <p:cNvSpPr txBox="1"/>
          <p:nvPr/>
        </p:nvSpPr>
        <p:spPr>
          <a:xfrm>
            <a:off x="4596571" y="2186336"/>
            <a:ext cx="2940100" cy="42056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CPG Market Outlook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9AC723-A8F4-7D4B-A705-6A20F2C2A36F}"/>
              </a:ext>
            </a:extLst>
          </p:cNvPr>
          <p:cNvSpPr/>
          <p:nvPr/>
        </p:nvSpPr>
        <p:spPr>
          <a:xfrm>
            <a:off x="7947335" y="2012416"/>
            <a:ext cx="3407884" cy="8069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43DEA-73FA-304D-A2AE-D77D533CC2FF}"/>
              </a:ext>
            </a:extLst>
          </p:cNvPr>
          <p:cNvSpPr txBox="1"/>
          <p:nvPr/>
        </p:nvSpPr>
        <p:spPr>
          <a:xfrm>
            <a:off x="8771999" y="2190988"/>
            <a:ext cx="1758558" cy="42056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Risk 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CDA35-D31A-F14A-A0D1-BDB40D6E25B2}"/>
              </a:ext>
            </a:extLst>
          </p:cNvPr>
          <p:cNvSpPr txBox="1"/>
          <p:nvPr/>
        </p:nvSpPr>
        <p:spPr>
          <a:xfrm>
            <a:off x="820207" y="2041510"/>
            <a:ext cx="3323519" cy="7487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Kilaru Internal Capabilities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B9421-7075-BB4F-9E2B-C1E1E28CC163}"/>
              </a:ext>
            </a:extLst>
          </p:cNvPr>
          <p:cNvSpPr/>
          <p:nvPr/>
        </p:nvSpPr>
        <p:spPr>
          <a:xfrm>
            <a:off x="778024" y="2936888"/>
            <a:ext cx="10577195" cy="2586235"/>
          </a:xfrm>
          <a:prstGeom prst="rect">
            <a:avLst/>
          </a:prstGeom>
          <a:solidFill>
            <a:srgbClr val="1F3D8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F04005-0842-F14F-A387-7F58C324F3D4}"/>
              </a:ext>
            </a:extLst>
          </p:cNvPr>
          <p:cNvSpPr/>
          <p:nvPr/>
        </p:nvSpPr>
        <p:spPr>
          <a:xfrm>
            <a:off x="1546802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F682D-C389-4C4E-8975-A659AF243100}"/>
              </a:ext>
            </a:extLst>
          </p:cNvPr>
          <p:cNvSpPr txBox="1"/>
          <p:nvPr/>
        </p:nvSpPr>
        <p:spPr>
          <a:xfrm>
            <a:off x="4143724" y="3509460"/>
            <a:ext cx="6772464" cy="140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How is the market growing?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What is our current market share?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Customer/ competitor analysis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M&amp;A opportunities</a:t>
            </a:r>
          </a:p>
        </p:txBody>
      </p:sp>
      <p:pic>
        <p:nvPicPr>
          <p:cNvPr id="22" name="Graphic 21" descr="Business Growth with solid fill">
            <a:extLst>
              <a:ext uri="{FF2B5EF4-FFF2-40B4-BE49-F238E27FC236}">
                <a16:creationId xmlns:a16="http://schemas.microsoft.com/office/drawing/2014/main" id="{E72CC621-7EA0-6B4C-A4A1-E111D2A90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1259" y="3620405"/>
            <a:ext cx="1219200" cy="1219200"/>
          </a:xfrm>
          <a:prstGeom prst="rect">
            <a:avLst/>
          </a:prstGeom>
        </p:spPr>
      </p:pic>
      <p:sp>
        <p:nvSpPr>
          <p:cNvPr id="24" name="Chevron 23">
            <a:extLst>
              <a:ext uri="{FF2B5EF4-FFF2-40B4-BE49-F238E27FC236}">
                <a16:creationId xmlns:a16="http://schemas.microsoft.com/office/drawing/2014/main" id="{48992738-6ED0-F144-B2D3-4B8B419C62F7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259095-C05F-D34B-A45D-DFBAD07A037C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3188270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550C13-811B-20C9-0AAE-BF11DC5195C2}"/>
              </a:ext>
            </a:extLst>
          </p:cNvPr>
          <p:cNvSpPr/>
          <p:nvPr/>
        </p:nvSpPr>
        <p:spPr>
          <a:xfrm>
            <a:off x="7927838" y="2936887"/>
            <a:ext cx="3407885" cy="2586235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1D58D-3D10-E7AD-95C4-FF1663F09338}"/>
              </a:ext>
            </a:extLst>
          </p:cNvPr>
          <p:cNvSpPr/>
          <p:nvPr/>
        </p:nvSpPr>
        <p:spPr>
          <a:xfrm>
            <a:off x="4352931" y="2936887"/>
            <a:ext cx="3407885" cy="2586235"/>
          </a:xfrm>
          <a:prstGeom prst="rect">
            <a:avLst/>
          </a:prstGeom>
          <a:solidFill>
            <a:srgbClr val="1F3D8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4" name="Google Shape;876;p28">
            <a:extLst>
              <a:ext uri="{FF2B5EF4-FFF2-40B4-BE49-F238E27FC236}">
                <a16:creationId xmlns:a16="http://schemas.microsoft.com/office/drawing/2014/main" id="{44DEA7B1-9EFB-0048-98AE-CA31946F6876}"/>
              </a:ext>
            </a:extLst>
          </p:cNvPr>
          <p:cNvSpPr txBox="1"/>
          <p:nvPr/>
        </p:nvSpPr>
        <p:spPr>
          <a:xfrm>
            <a:off x="965716" y="1193177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Sample Framework</a:t>
            </a:r>
            <a:endParaRPr sz="21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6656F-AFC3-B142-94B3-27BEFF1448A3}"/>
              </a:ext>
            </a:extLst>
          </p:cNvPr>
          <p:cNvSpPr/>
          <p:nvPr/>
        </p:nvSpPr>
        <p:spPr>
          <a:xfrm>
            <a:off x="778025" y="2012416"/>
            <a:ext cx="3407884" cy="8069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498C63-8129-DB4C-B4F7-4BED49252AC9}"/>
              </a:ext>
            </a:extLst>
          </p:cNvPr>
          <p:cNvSpPr/>
          <p:nvPr/>
        </p:nvSpPr>
        <p:spPr>
          <a:xfrm>
            <a:off x="4362679" y="2012417"/>
            <a:ext cx="3407884" cy="80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CEACD-1088-6D41-BFF7-3C60710D201D}"/>
              </a:ext>
            </a:extLst>
          </p:cNvPr>
          <p:cNvSpPr txBox="1"/>
          <p:nvPr/>
        </p:nvSpPr>
        <p:spPr>
          <a:xfrm>
            <a:off x="4596575" y="2198257"/>
            <a:ext cx="2940100" cy="42056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CPG Market Outlook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9AC723-A8F4-7D4B-A705-6A20F2C2A36F}"/>
              </a:ext>
            </a:extLst>
          </p:cNvPr>
          <p:cNvSpPr/>
          <p:nvPr/>
        </p:nvSpPr>
        <p:spPr>
          <a:xfrm>
            <a:off x="7947335" y="2012416"/>
            <a:ext cx="3407884" cy="8069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43DEA-73FA-304D-A2AE-D77D533CC2FF}"/>
              </a:ext>
            </a:extLst>
          </p:cNvPr>
          <p:cNvSpPr txBox="1"/>
          <p:nvPr/>
        </p:nvSpPr>
        <p:spPr>
          <a:xfrm>
            <a:off x="8771998" y="2190204"/>
            <a:ext cx="1758558" cy="42056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Risk 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CDA35-D31A-F14A-A0D1-BDB40D6E25B2}"/>
              </a:ext>
            </a:extLst>
          </p:cNvPr>
          <p:cNvSpPr txBox="1"/>
          <p:nvPr/>
        </p:nvSpPr>
        <p:spPr>
          <a:xfrm>
            <a:off x="836781" y="2026088"/>
            <a:ext cx="3323519" cy="7487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Kilaru Internal Capabilities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B9421-7075-BB4F-9E2B-C1E1E28CC163}"/>
              </a:ext>
            </a:extLst>
          </p:cNvPr>
          <p:cNvSpPr/>
          <p:nvPr/>
        </p:nvSpPr>
        <p:spPr>
          <a:xfrm>
            <a:off x="778024" y="2936888"/>
            <a:ext cx="3407885" cy="2586235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Graphic 11" descr="Clipboard Checked with solid fill">
            <a:extLst>
              <a:ext uri="{FF2B5EF4-FFF2-40B4-BE49-F238E27FC236}">
                <a16:creationId xmlns:a16="http://schemas.microsoft.com/office/drawing/2014/main" id="{66A304AB-F9FF-A14C-B1CF-11B209BA4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012" y="3620405"/>
            <a:ext cx="1219200" cy="1219200"/>
          </a:xfrm>
          <a:prstGeom prst="rect">
            <a:avLst/>
          </a:prstGeom>
        </p:spPr>
      </p:pic>
      <p:pic>
        <p:nvPicPr>
          <p:cNvPr id="10" name="Graphic 9" descr="Business Growth with solid fill">
            <a:extLst>
              <a:ext uri="{FF2B5EF4-FFF2-40B4-BE49-F238E27FC236}">
                <a16:creationId xmlns:a16="http://schemas.microsoft.com/office/drawing/2014/main" id="{6A11A6FB-96EC-F849-A35E-ACF4B468C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5552" y="3620405"/>
            <a:ext cx="1219200" cy="1219200"/>
          </a:xfrm>
          <a:prstGeom prst="rect">
            <a:avLst/>
          </a:prstGeom>
        </p:spPr>
      </p:pic>
      <p:pic>
        <p:nvPicPr>
          <p:cNvPr id="8" name="Graphic 7" descr="Warning with solid fill">
            <a:extLst>
              <a:ext uri="{FF2B5EF4-FFF2-40B4-BE49-F238E27FC236}">
                <a16:creationId xmlns:a16="http://schemas.microsoft.com/office/drawing/2014/main" id="{9B292109-C903-0145-870D-361092A45F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41675" y="3550900"/>
            <a:ext cx="1219200" cy="12192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CEF04005-0842-F14F-A387-7F58C324F3D4}"/>
              </a:ext>
            </a:extLst>
          </p:cNvPr>
          <p:cNvSpPr/>
          <p:nvPr/>
        </p:nvSpPr>
        <p:spPr>
          <a:xfrm>
            <a:off x="1546802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4D17A4-8E10-4D42-AB11-0DC734B45EC3}"/>
              </a:ext>
            </a:extLst>
          </p:cNvPr>
          <p:cNvSpPr/>
          <p:nvPr/>
        </p:nvSpPr>
        <p:spPr>
          <a:xfrm>
            <a:off x="5141205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E24A9F-C9C3-8D44-9F05-FDE1ABAC486C}"/>
              </a:ext>
            </a:extLst>
          </p:cNvPr>
          <p:cNvSpPr/>
          <p:nvPr/>
        </p:nvSpPr>
        <p:spPr>
          <a:xfrm>
            <a:off x="8696481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D221F22D-75AB-E240-9C4E-B358EEE24894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FBA6ED-6BB9-4F4E-9E94-7077E56982D4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2800507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4" name="Google Shape;876;p28">
            <a:extLst>
              <a:ext uri="{FF2B5EF4-FFF2-40B4-BE49-F238E27FC236}">
                <a16:creationId xmlns:a16="http://schemas.microsoft.com/office/drawing/2014/main" id="{44DEA7B1-9EFB-0048-98AE-CA31946F6876}"/>
              </a:ext>
            </a:extLst>
          </p:cNvPr>
          <p:cNvSpPr txBox="1"/>
          <p:nvPr/>
        </p:nvSpPr>
        <p:spPr>
          <a:xfrm>
            <a:off x="965716" y="1193177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Sample Framework</a:t>
            </a:r>
            <a:endParaRPr sz="13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6656F-AFC3-B142-94B3-27BEFF1448A3}"/>
              </a:ext>
            </a:extLst>
          </p:cNvPr>
          <p:cNvSpPr/>
          <p:nvPr/>
        </p:nvSpPr>
        <p:spPr>
          <a:xfrm>
            <a:off x="778025" y="2012416"/>
            <a:ext cx="3407884" cy="8069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498C63-8129-DB4C-B4F7-4BED49252AC9}"/>
              </a:ext>
            </a:extLst>
          </p:cNvPr>
          <p:cNvSpPr/>
          <p:nvPr/>
        </p:nvSpPr>
        <p:spPr>
          <a:xfrm>
            <a:off x="4362679" y="2012417"/>
            <a:ext cx="3407884" cy="80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CEACD-1088-6D41-BFF7-3C60710D201D}"/>
              </a:ext>
            </a:extLst>
          </p:cNvPr>
          <p:cNvSpPr txBox="1"/>
          <p:nvPr/>
        </p:nvSpPr>
        <p:spPr>
          <a:xfrm>
            <a:off x="4596574" y="2196031"/>
            <a:ext cx="2940100" cy="42056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CPG Market Outlook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9AC723-A8F4-7D4B-A705-6A20F2C2A36F}"/>
              </a:ext>
            </a:extLst>
          </p:cNvPr>
          <p:cNvSpPr/>
          <p:nvPr/>
        </p:nvSpPr>
        <p:spPr>
          <a:xfrm>
            <a:off x="7947335" y="2012416"/>
            <a:ext cx="3407884" cy="8069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43DEA-73FA-304D-A2AE-D77D533CC2FF}"/>
              </a:ext>
            </a:extLst>
          </p:cNvPr>
          <p:cNvSpPr txBox="1"/>
          <p:nvPr/>
        </p:nvSpPr>
        <p:spPr>
          <a:xfrm>
            <a:off x="8771999" y="2201036"/>
            <a:ext cx="1758559" cy="42056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Risk 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CDA35-D31A-F14A-A0D1-BDB40D6E25B2}"/>
              </a:ext>
            </a:extLst>
          </p:cNvPr>
          <p:cNvSpPr txBox="1"/>
          <p:nvPr/>
        </p:nvSpPr>
        <p:spPr>
          <a:xfrm>
            <a:off x="860723" y="2041510"/>
            <a:ext cx="3323519" cy="7487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Kilaru Internal Capabilities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B9421-7075-BB4F-9E2B-C1E1E28CC163}"/>
              </a:ext>
            </a:extLst>
          </p:cNvPr>
          <p:cNvSpPr/>
          <p:nvPr/>
        </p:nvSpPr>
        <p:spPr>
          <a:xfrm>
            <a:off x="778024" y="2936888"/>
            <a:ext cx="10577195" cy="2586235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F04005-0842-F14F-A387-7F58C324F3D4}"/>
              </a:ext>
            </a:extLst>
          </p:cNvPr>
          <p:cNvSpPr/>
          <p:nvPr/>
        </p:nvSpPr>
        <p:spPr>
          <a:xfrm>
            <a:off x="1546802" y="3312917"/>
            <a:ext cx="1909591" cy="183417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Avenir Next LT Pro" panose="020B050402020202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CF682D-C389-4C4E-8975-A659AF243100}"/>
              </a:ext>
            </a:extLst>
          </p:cNvPr>
          <p:cNvSpPr txBox="1"/>
          <p:nvPr/>
        </p:nvSpPr>
        <p:spPr>
          <a:xfrm>
            <a:off x="4143724" y="3627279"/>
            <a:ext cx="6772464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Technological Risks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Cultural impact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Intangibles</a:t>
            </a: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AD6AE87E-0C19-9143-B4C4-6B4218AB6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1996" y="3592195"/>
            <a:ext cx="1219200" cy="1219200"/>
          </a:xfrm>
          <a:prstGeom prst="rect">
            <a:avLst/>
          </a:prstGeom>
        </p:spPr>
      </p:pic>
      <p:sp>
        <p:nvSpPr>
          <p:cNvPr id="21" name="Chevron 20">
            <a:extLst>
              <a:ext uri="{FF2B5EF4-FFF2-40B4-BE49-F238E27FC236}">
                <a16:creationId xmlns:a16="http://schemas.microsoft.com/office/drawing/2014/main" id="{928FFC99-1438-1D49-A64A-59D83A262D84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038E90-80F7-A64F-A8DE-3CF84F439EEA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</p:spTree>
    <p:extLst>
      <p:ext uri="{BB962C8B-B14F-4D97-AF65-F5344CB8AC3E}">
        <p14:creationId xmlns:p14="http://schemas.microsoft.com/office/powerpoint/2010/main" val="3477130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Beginning a Case: Framework</a:t>
            </a:r>
          </a:p>
        </p:txBody>
      </p:sp>
      <p:sp>
        <p:nvSpPr>
          <p:cNvPr id="4" name="Google Shape;876;p28">
            <a:extLst>
              <a:ext uri="{FF2B5EF4-FFF2-40B4-BE49-F238E27FC236}">
                <a16:creationId xmlns:a16="http://schemas.microsoft.com/office/drawing/2014/main" id="{44DEA7B1-9EFB-0048-98AE-CA31946F6876}"/>
              </a:ext>
            </a:extLst>
          </p:cNvPr>
          <p:cNvSpPr txBox="1"/>
          <p:nvPr/>
        </p:nvSpPr>
        <p:spPr>
          <a:xfrm>
            <a:off x="965716" y="1193177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Examples for all three case types</a:t>
            </a:r>
            <a:endParaRPr sz="13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928FFC99-1438-1D49-A64A-59D83A262D84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038E90-80F7-A64F-A8DE-3CF84F439EEA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949C1D6E-2FF2-9D39-5390-15635292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50" y="2587346"/>
            <a:ext cx="3154947" cy="27349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B07B84-1BE4-A566-5789-708D7ACB3046}"/>
              </a:ext>
            </a:extLst>
          </p:cNvPr>
          <p:cNvSpPr/>
          <p:nvPr/>
        </p:nvSpPr>
        <p:spPr>
          <a:xfrm>
            <a:off x="665930" y="1945804"/>
            <a:ext cx="3035986" cy="5658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Profitability</a:t>
            </a:r>
          </a:p>
        </p:txBody>
      </p:sp>
      <p:pic>
        <p:nvPicPr>
          <p:cNvPr id="9" name="Picture 8" descr="Table&#10;&#10;Description automatically generated with medium confidence">
            <a:extLst>
              <a:ext uri="{FF2B5EF4-FFF2-40B4-BE49-F238E27FC236}">
                <a16:creationId xmlns:a16="http://schemas.microsoft.com/office/drawing/2014/main" id="{3A00403E-5C9D-C89C-FACA-7A4F51DC1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659" y="2780055"/>
            <a:ext cx="4196682" cy="21341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5C4C475-4B79-7D62-BA20-A6F888BFF394}"/>
              </a:ext>
            </a:extLst>
          </p:cNvPr>
          <p:cNvSpPr/>
          <p:nvPr/>
        </p:nvSpPr>
        <p:spPr>
          <a:xfrm>
            <a:off x="4498504" y="1945803"/>
            <a:ext cx="3194991" cy="5658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Market Entry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C1CCF7-4E06-1E24-6BF2-CAC07B7F53C5}"/>
              </a:ext>
            </a:extLst>
          </p:cNvPr>
          <p:cNvSpPr/>
          <p:nvPr/>
        </p:nvSpPr>
        <p:spPr>
          <a:xfrm>
            <a:off x="8582415" y="1945803"/>
            <a:ext cx="3035986" cy="5658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 b="1">
                <a:solidFill>
                  <a:schemeClr val="bg1"/>
                </a:solidFill>
                <a:latin typeface="Avenir Next LT Pro" panose="020B0504020202020204" pitchFamily="34" charset="77"/>
              </a:rPr>
              <a:t>Merger and Acquisition</a:t>
            </a:r>
          </a:p>
        </p:txBody>
      </p:sp>
      <p:pic>
        <p:nvPicPr>
          <p:cNvPr id="1026" name="Picture 2" descr="Frameworks for the Case Interview (Part II: Mergers and Acquisitions  Framework)">
            <a:extLst>
              <a:ext uri="{FF2B5EF4-FFF2-40B4-BE49-F238E27FC236}">
                <a16:creationId xmlns:a16="http://schemas.microsoft.com/office/drawing/2014/main" id="{7FBB9587-4495-AB31-75DE-98C671F6C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603" y="2843768"/>
            <a:ext cx="3563689" cy="175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143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Beginning a Case: Recap</a:t>
            </a: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928FFC99-1438-1D49-A64A-59D83A262D84}"/>
              </a:ext>
            </a:extLst>
          </p:cNvPr>
          <p:cNvSpPr/>
          <p:nvPr/>
        </p:nvSpPr>
        <p:spPr>
          <a:xfrm>
            <a:off x="1463042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038E90-80F7-A64F-A8DE-3CF84F439EEA}"/>
              </a:ext>
            </a:extLst>
          </p:cNvPr>
          <p:cNvSpPr txBox="1"/>
          <p:nvPr/>
        </p:nvSpPr>
        <p:spPr>
          <a:xfrm>
            <a:off x="1849718" y="6460120"/>
            <a:ext cx="114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Beginning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B88560F-69A5-FE24-14F1-A94FAA154510}"/>
              </a:ext>
            </a:extLst>
          </p:cNvPr>
          <p:cNvSpPr/>
          <p:nvPr/>
        </p:nvSpPr>
        <p:spPr>
          <a:xfrm>
            <a:off x="2580502" y="1976837"/>
            <a:ext cx="7030995" cy="867761"/>
          </a:xfrm>
          <a:prstGeom prst="roundRect">
            <a:avLst/>
          </a:prstGeom>
          <a:solidFill>
            <a:srgbClr val="1C3A8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Take notes throughout reading of prompt, provide recap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4B0806-9B48-0065-9716-6657C30E565D}"/>
              </a:ext>
            </a:extLst>
          </p:cNvPr>
          <p:cNvSpPr/>
          <p:nvPr/>
        </p:nvSpPr>
        <p:spPr>
          <a:xfrm>
            <a:off x="2580502" y="2977637"/>
            <a:ext cx="7030995" cy="867761"/>
          </a:xfrm>
          <a:prstGeom prst="roundRect">
            <a:avLst/>
          </a:prstGeom>
          <a:solidFill>
            <a:srgbClr val="1C3A8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Follow up with questions (3 or more)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26EC25-E2ED-01F7-6430-C3102AC39C6A}"/>
              </a:ext>
            </a:extLst>
          </p:cNvPr>
          <p:cNvSpPr/>
          <p:nvPr/>
        </p:nvSpPr>
        <p:spPr>
          <a:xfrm>
            <a:off x="2580502" y="3972453"/>
            <a:ext cx="7030995" cy="867761"/>
          </a:xfrm>
          <a:prstGeom prst="roundRect">
            <a:avLst/>
          </a:prstGeom>
          <a:solidFill>
            <a:srgbClr val="1C3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Take a second to develop framework, then provide interviewer with explanation</a:t>
            </a:r>
          </a:p>
        </p:txBody>
      </p:sp>
    </p:spTree>
    <p:extLst>
      <p:ext uri="{BB962C8B-B14F-4D97-AF65-F5344CB8AC3E}">
        <p14:creationId xmlns:p14="http://schemas.microsoft.com/office/powerpoint/2010/main" val="118541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58F30E-F3E2-9C41-9F1F-88390B95C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9B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C3643-C853-634F-A11E-C004819900AC}"/>
              </a:ext>
            </a:extLst>
          </p:cNvPr>
          <p:cNvSpPr txBox="1"/>
          <p:nvPr/>
        </p:nvSpPr>
        <p:spPr>
          <a:xfrm>
            <a:off x="1981200" y="2921169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Rockwell" panose="02060603020205020403" pitchFamily="18" charset="77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14114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4083-E87A-3040-A9E2-73919272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Body of a Case: </a:t>
            </a:r>
            <a:r>
              <a:rPr lang="en-US" sz="5100"/>
              <a:t>Market Size and Case Math </a:t>
            </a: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43A05F88-6EF9-8940-916C-B285910E6641}"/>
              </a:ext>
            </a:extLst>
          </p:cNvPr>
          <p:cNvSpPr/>
          <p:nvPr/>
        </p:nvSpPr>
        <p:spPr>
          <a:xfrm>
            <a:off x="2995290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87742-4A6D-CB4C-8F86-ABD6D8D85BF1}"/>
              </a:ext>
            </a:extLst>
          </p:cNvPr>
          <p:cNvSpPr txBox="1"/>
          <p:nvPr/>
        </p:nvSpPr>
        <p:spPr>
          <a:xfrm>
            <a:off x="3621615" y="6460120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Body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993EF6-3A02-365E-56E1-AD928669B0EE}"/>
              </a:ext>
            </a:extLst>
          </p:cNvPr>
          <p:cNvSpPr/>
          <p:nvPr/>
        </p:nvSpPr>
        <p:spPr>
          <a:xfrm>
            <a:off x="910729" y="2107125"/>
            <a:ext cx="10358634" cy="536574"/>
          </a:xfrm>
          <a:prstGeom prst="rect">
            <a:avLst/>
          </a:prstGeom>
          <a:solidFill>
            <a:schemeClr val="accent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How to succeed: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60B3DB-EADC-DEE3-C796-A66E59726787}"/>
              </a:ext>
            </a:extLst>
          </p:cNvPr>
          <p:cNvSpPr/>
          <p:nvPr/>
        </p:nvSpPr>
        <p:spPr>
          <a:xfrm>
            <a:off x="910729" y="2916195"/>
            <a:ext cx="5020514" cy="21871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/>
          </a:p>
          <a:p>
            <a:pPr algn="ctr"/>
            <a:r>
              <a:rPr lang="en-US" sz="2400" b="1"/>
              <a:t>Market Size</a:t>
            </a:r>
            <a:r>
              <a:rPr lang="en-US" sz="2400"/>
              <a:t>: </a:t>
            </a:r>
          </a:p>
          <a:p>
            <a:pPr algn="ctr"/>
            <a:r>
              <a:rPr lang="en-US"/>
              <a:t>Explain your reasoning and decisions you make</a:t>
            </a:r>
          </a:p>
          <a:p>
            <a:pPr algn="ctr"/>
            <a:r>
              <a:rPr lang="en-US"/>
              <a:t>Be quick with math but also accurate</a:t>
            </a:r>
          </a:p>
          <a:p>
            <a:pPr algn="ctr"/>
            <a:r>
              <a:rPr lang="en-US"/>
              <a:t>If you need time to think, tell your interviewer, do not go silent </a:t>
            </a:r>
          </a:p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D5F7D8-CB40-51AB-6698-351D80C3348E}"/>
              </a:ext>
            </a:extLst>
          </p:cNvPr>
          <p:cNvSpPr/>
          <p:nvPr/>
        </p:nvSpPr>
        <p:spPr>
          <a:xfrm>
            <a:off x="6248849" y="2916195"/>
            <a:ext cx="5020514" cy="21871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Case Math</a:t>
            </a:r>
            <a:r>
              <a:rPr lang="en-US" sz="2400"/>
              <a:t>: </a:t>
            </a:r>
          </a:p>
          <a:p>
            <a:pPr algn="ctr"/>
            <a:r>
              <a:rPr lang="en-US"/>
              <a:t>Explain how you did your calculations</a:t>
            </a:r>
          </a:p>
          <a:p>
            <a:pPr algn="ctr"/>
            <a:r>
              <a:rPr lang="en-US"/>
              <a:t>Explain the importance!</a:t>
            </a:r>
          </a:p>
          <a:p>
            <a:pPr algn="ctr"/>
            <a:r>
              <a:rPr lang="en-US"/>
              <a:t>Once you get to the end of your math, always relate back to prompt</a:t>
            </a:r>
          </a:p>
        </p:txBody>
      </p:sp>
    </p:spTree>
    <p:extLst>
      <p:ext uri="{BB962C8B-B14F-4D97-AF65-F5344CB8AC3E}">
        <p14:creationId xmlns:p14="http://schemas.microsoft.com/office/powerpoint/2010/main" val="390090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BF41-2468-2A4E-8E49-76A5E4D3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Body of a Case: Brainstorming</a:t>
            </a:r>
            <a:br>
              <a:rPr lang="en-US"/>
            </a:br>
            <a:endParaRPr lang="en-US"/>
          </a:p>
        </p:txBody>
      </p:sp>
      <p:cxnSp>
        <p:nvCxnSpPr>
          <p:cNvPr id="29" name="Google Shape;1039;p37">
            <a:extLst>
              <a:ext uri="{FF2B5EF4-FFF2-40B4-BE49-F238E27FC236}">
                <a16:creationId xmlns:a16="http://schemas.microsoft.com/office/drawing/2014/main" id="{63196CCF-BC0A-0F4E-8C34-3E5EAD9DC18C}"/>
              </a:ext>
            </a:extLst>
          </p:cNvPr>
          <p:cNvCxnSpPr>
            <a:cxnSpLocks/>
          </p:cNvCxnSpPr>
          <p:nvPr/>
        </p:nvCxnSpPr>
        <p:spPr>
          <a:xfrm>
            <a:off x="6096000" y="1711729"/>
            <a:ext cx="0" cy="411480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8A00DEEC-BDC8-7A7C-990A-C4E22E0D7B72}"/>
              </a:ext>
            </a:extLst>
          </p:cNvPr>
          <p:cNvGrpSpPr/>
          <p:nvPr/>
        </p:nvGrpSpPr>
        <p:grpSpPr>
          <a:xfrm>
            <a:off x="6903905" y="1465509"/>
            <a:ext cx="4589673" cy="4353965"/>
            <a:chOff x="6903905" y="1465509"/>
            <a:chExt cx="4589673" cy="435396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33D498F-F7AD-FF41-8646-1EE7472553B8}"/>
                </a:ext>
              </a:extLst>
            </p:cNvPr>
            <p:cNvCxnSpPr>
              <a:cxnSpLocks/>
            </p:cNvCxnSpPr>
            <p:nvPr/>
          </p:nvCxnSpPr>
          <p:spPr>
            <a:xfrm>
              <a:off x="6903905" y="1711729"/>
              <a:ext cx="45896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8518953-B0D5-5743-8372-F7245D385429}"/>
                </a:ext>
              </a:extLst>
            </p:cNvPr>
            <p:cNvSpPr txBox="1"/>
            <p:nvPr/>
          </p:nvSpPr>
          <p:spPr>
            <a:xfrm>
              <a:off x="7807907" y="1465509"/>
              <a:ext cx="2781675" cy="4205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>
                  <a:latin typeface="Avenir Next LT Pro" panose="020B0504020202020204" pitchFamily="34" charset="77"/>
                </a:rPr>
                <a:t>Things to consider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6973873-3C35-5040-B8D9-6C8428324E0F}"/>
                </a:ext>
              </a:extLst>
            </p:cNvPr>
            <p:cNvSpPr/>
            <p:nvPr/>
          </p:nvSpPr>
          <p:spPr>
            <a:xfrm>
              <a:off x="7206628" y="2408025"/>
              <a:ext cx="1733320" cy="124857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33">
                  <a:solidFill>
                    <a:schemeClr val="bg1"/>
                  </a:solidFill>
                  <a:latin typeface="Avenir Next LT Pro" panose="020B0504020202020204" pitchFamily="34" charset="77"/>
                </a:rPr>
                <a:t>Take time to think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456A11B-0CF2-F749-AB26-65CBF91B2DFC}"/>
                </a:ext>
              </a:extLst>
            </p:cNvPr>
            <p:cNvSpPr/>
            <p:nvPr/>
          </p:nvSpPr>
          <p:spPr>
            <a:xfrm>
              <a:off x="9722922" y="2408024"/>
              <a:ext cx="1733320" cy="124857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33">
                  <a:solidFill>
                    <a:schemeClr val="bg1"/>
                  </a:solidFill>
                  <a:latin typeface="Avenir Next LT Pro" panose="020B0504020202020204" pitchFamily="34" charset="77"/>
                </a:rPr>
                <a:t>Write down your answers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5172297-3AE5-7741-AB77-3FB08A1D2323}"/>
                </a:ext>
              </a:extLst>
            </p:cNvPr>
            <p:cNvSpPr/>
            <p:nvPr/>
          </p:nvSpPr>
          <p:spPr>
            <a:xfrm>
              <a:off x="7206628" y="4570897"/>
              <a:ext cx="1733320" cy="124857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33">
                  <a:solidFill>
                    <a:schemeClr val="bg1"/>
                  </a:solidFill>
                  <a:latin typeface="Avenir Next LT Pro" panose="020B0504020202020204" pitchFamily="34" charset="77"/>
                </a:rPr>
                <a:t>Bucket key ideas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F0C8320-3A1E-7D4E-9D31-E204CCEFCC62}"/>
                </a:ext>
              </a:extLst>
            </p:cNvPr>
            <p:cNvSpPr/>
            <p:nvPr/>
          </p:nvSpPr>
          <p:spPr>
            <a:xfrm>
              <a:off x="9722922" y="4570896"/>
              <a:ext cx="1733320" cy="124857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33">
                  <a:solidFill>
                    <a:schemeClr val="bg1"/>
                  </a:solidFill>
                  <a:latin typeface="Avenir Next LT Pro" panose="020B0504020202020204" pitchFamily="34" charset="77"/>
                </a:rPr>
                <a:t>Top-down approach</a:t>
              </a:r>
            </a:p>
          </p:txBody>
        </p:sp>
      </p:grpSp>
      <p:sp>
        <p:nvSpPr>
          <p:cNvPr id="16" name="Chevron 15">
            <a:extLst>
              <a:ext uri="{FF2B5EF4-FFF2-40B4-BE49-F238E27FC236}">
                <a16:creationId xmlns:a16="http://schemas.microsoft.com/office/drawing/2014/main" id="{3311C4DD-00F3-9549-97EE-B40E130FF02F}"/>
              </a:ext>
            </a:extLst>
          </p:cNvPr>
          <p:cNvSpPr/>
          <p:nvPr/>
        </p:nvSpPr>
        <p:spPr>
          <a:xfrm>
            <a:off x="2995290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DDFE58-FF44-574F-9F2A-437D9CDEECB5}"/>
              </a:ext>
            </a:extLst>
          </p:cNvPr>
          <p:cNvSpPr txBox="1"/>
          <p:nvPr/>
        </p:nvSpPr>
        <p:spPr>
          <a:xfrm>
            <a:off x="3621615" y="6460120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Body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C2DB49-E30B-85AD-6E48-43F9107FC131}"/>
              </a:ext>
            </a:extLst>
          </p:cNvPr>
          <p:cNvGrpSpPr/>
          <p:nvPr/>
        </p:nvGrpSpPr>
        <p:grpSpPr>
          <a:xfrm>
            <a:off x="262153" y="1454418"/>
            <a:ext cx="5462209" cy="4365056"/>
            <a:chOff x="262153" y="1454418"/>
            <a:chExt cx="5462209" cy="436505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43F2BB5-0546-8940-9D0C-94422461A9A3}"/>
                </a:ext>
              </a:extLst>
            </p:cNvPr>
            <p:cNvCxnSpPr>
              <a:cxnSpLocks/>
            </p:cNvCxnSpPr>
            <p:nvPr/>
          </p:nvCxnSpPr>
          <p:spPr>
            <a:xfrm>
              <a:off x="698424" y="1700639"/>
              <a:ext cx="45896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96FE4A-4268-2642-B78F-17C2E94B5CD4}"/>
                </a:ext>
              </a:extLst>
            </p:cNvPr>
            <p:cNvSpPr txBox="1"/>
            <p:nvPr/>
          </p:nvSpPr>
          <p:spPr>
            <a:xfrm>
              <a:off x="1602422" y="1454418"/>
              <a:ext cx="2781673" cy="4205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>
                  <a:latin typeface="Avenir Next LT Pro" panose="020B0504020202020204" pitchFamily="34" charset="77"/>
                </a:rPr>
                <a:t>Top-down approach</a:t>
              </a:r>
            </a:p>
          </p:txBody>
        </p:sp>
        <p:graphicFrame>
          <p:nvGraphicFramePr>
            <p:cNvPr id="3" name="Content Placeholder 5">
              <a:extLst>
                <a:ext uri="{FF2B5EF4-FFF2-40B4-BE49-F238E27FC236}">
                  <a16:creationId xmlns:a16="http://schemas.microsoft.com/office/drawing/2014/main" id="{B9DA17F4-1ABA-E3F0-CFEC-B6E72AA34C3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36035200"/>
                </p:ext>
              </p:extLst>
            </p:nvPr>
          </p:nvGraphicFramePr>
          <p:xfrm>
            <a:off x="262153" y="1885258"/>
            <a:ext cx="5462209" cy="393421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81866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FAD4-D4CF-FC4E-99A9-69206D24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Body of a Case: Brainstorming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3F0C96-A75E-564C-9649-20640BD9B23B}"/>
              </a:ext>
            </a:extLst>
          </p:cNvPr>
          <p:cNvSpPr/>
          <p:nvPr/>
        </p:nvSpPr>
        <p:spPr>
          <a:xfrm>
            <a:off x="910728" y="2107124"/>
            <a:ext cx="10370545" cy="1082705"/>
          </a:xfrm>
          <a:prstGeom prst="rect">
            <a:avLst/>
          </a:prstGeom>
          <a:solidFill>
            <a:schemeClr val="accent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Identify ways in which our client, Kilaru Clean, can increase sales through internal changes within the next four years.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52A99D-D083-0046-A15B-F8AACFAA7B5F}"/>
              </a:ext>
            </a:extLst>
          </p:cNvPr>
          <p:cNvSpPr/>
          <p:nvPr/>
        </p:nvSpPr>
        <p:spPr>
          <a:xfrm>
            <a:off x="910727" y="3811831"/>
            <a:ext cx="2352715" cy="2007596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n>
                <a:solidFill>
                  <a:sysClr val="windowText" lastClr="000000"/>
                </a:solidFill>
              </a:ln>
              <a:latin typeface="Avenir Next LT Pro" panose="020B0504020202020204" pitchFamily="34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2D53249-7461-A140-96CE-7A38BB5C1F1C}"/>
              </a:ext>
            </a:extLst>
          </p:cNvPr>
          <p:cNvSpPr/>
          <p:nvPr/>
        </p:nvSpPr>
        <p:spPr>
          <a:xfrm>
            <a:off x="3570685" y="3811831"/>
            <a:ext cx="2352715" cy="2007596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1">
              <a:ln>
                <a:solidFill>
                  <a:sysClr val="windowText" lastClr="000000"/>
                </a:solidFill>
              </a:ln>
              <a:latin typeface="Avenir Next LT Pro" panose="020B0504020202020204" pitchFamily="34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2B851E-0287-6648-AB14-50157BDCA46A}"/>
              </a:ext>
            </a:extLst>
          </p:cNvPr>
          <p:cNvSpPr/>
          <p:nvPr/>
        </p:nvSpPr>
        <p:spPr>
          <a:xfrm>
            <a:off x="8928557" y="3811831"/>
            <a:ext cx="2352715" cy="2007596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n>
                <a:solidFill>
                  <a:sysClr val="windowText" lastClr="000000"/>
                </a:solidFill>
              </a:ln>
              <a:latin typeface="Avenir Next LT Pro" panose="020B0504020202020204" pitchFamily="34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5F2A1AE-3C7D-504D-B0C7-23A5ADCD6667}"/>
              </a:ext>
            </a:extLst>
          </p:cNvPr>
          <p:cNvSpPr/>
          <p:nvPr/>
        </p:nvSpPr>
        <p:spPr>
          <a:xfrm>
            <a:off x="6268599" y="3811831"/>
            <a:ext cx="2352715" cy="2007596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n>
                <a:solidFill>
                  <a:sysClr val="windowText" lastClr="000000"/>
                </a:solidFill>
              </a:ln>
              <a:latin typeface="Avenir Next LT Pro" panose="020B0504020202020204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172AF1-664A-A449-9886-01BE928D81FE}"/>
              </a:ext>
            </a:extLst>
          </p:cNvPr>
          <p:cNvSpPr txBox="1"/>
          <p:nvPr/>
        </p:nvSpPr>
        <p:spPr>
          <a:xfrm>
            <a:off x="1748690" y="3586128"/>
            <a:ext cx="676787" cy="37965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67">
                <a:latin typeface="Avenir Next LT Pro" panose="020B0504020202020204" pitchFamily="34" charset="77"/>
              </a:rPr>
              <a:t>R&amp;D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6468D4-1327-BB48-8131-1DB1064E402B}"/>
              </a:ext>
            </a:extLst>
          </p:cNvPr>
          <p:cNvSpPr txBox="1"/>
          <p:nvPr/>
        </p:nvSpPr>
        <p:spPr>
          <a:xfrm>
            <a:off x="4189934" y="3565609"/>
            <a:ext cx="1114215" cy="37965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67">
                <a:latin typeface="Avenir Next LT Pro" panose="020B0504020202020204" pitchFamily="34" charset="77"/>
              </a:rPr>
              <a:t>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3B398-D3DA-4C4B-B032-321E178A911A}"/>
              </a:ext>
            </a:extLst>
          </p:cNvPr>
          <p:cNvSpPr txBox="1"/>
          <p:nvPr/>
        </p:nvSpPr>
        <p:spPr>
          <a:xfrm>
            <a:off x="6800133" y="3592517"/>
            <a:ext cx="1289647" cy="37965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67">
                <a:latin typeface="Avenir Next LT Pro" panose="020B0504020202020204" pitchFamily="34" charset="77"/>
              </a:rPr>
              <a:t>Marketing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E4C67B-A829-2A42-821E-B0B5A8505115}"/>
              </a:ext>
            </a:extLst>
          </p:cNvPr>
          <p:cNvSpPr txBox="1"/>
          <p:nvPr/>
        </p:nvSpPr>
        <p:spPr>
          <a:xfrm>
            <a:off x="9481187" y="3429001"/>
            <a:ext cx="1247457" cy="6669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67">
                <a:latin typeface="Avenir Next LT Pro" panose="020B0504020202020204" pitchFamily="34" charset="77"/>
              </a:rPr>
              <a:t>Optimize </a:t>
            </a:r>
          </a:p>
          <a:p>
            <a:pPr algn="ctr"/>
            <a:r>
              <a:rPr lang="en-US" sz="1867">
                <a:latin typeface="Avenir Next LT Pro" panose="020B0504020202020204" pitchFamily="34" charset="77"/>
              </a:rPr>
              <a:t>Pricing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1E75A6-BEC5-BA4A-B2F9-C2719DA100D5}"/>
              </a:ext>
            </a:extLst>
          </p:cNvPr>
          <p:cNvSpPr txBox="1"/>
          <p:nvPr/>
        </p:nvSpPr>
        <p:spPr>
          <a:xfrm>
            <a:off x="910727" y="4063884"/>
            <a:ext cx="2352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Expand into new product lines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Tissues, Cleaning supplies, etc.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1E2EF5-03AF-5246-A5FF-18888D48BC9F}"/>
              </a:ext>
            </a:extLst>
          </p:cNvPr>
          <p:cNvSpPr txBox="1"/>
          <p:nvPr/>
        </p:nvSpPr>
        <p:spPr>
          <a:xfrm>
            <a:off x="3570684" y="4013385"/>
            <a:ext cx="23527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Prioritize highly profitable regions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Expand into developing markets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AF9977-C1F8-2042-8B83-EB52BF39EEE0}"/>
              </a:ext>
            </a:extLst>
          </p:cNvPr>
          <p:cNvSpPr txBox="1"/>
          <p:nvPr/>
        </p:nvSpPr>
        <p:spPr>
          <a:xfrm>
            <a:off x="6268597" y="4008346"/>
            <a:ext cx="2352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Evaluate current marketing plan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Aggressive advertising to increase brand awareness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92E5B3-4843-434B-ACE4-87D3C3FF35BF}"/>
              </a:ext>
            </a:extLst>
          </p:cNvPr>
          <p:cNvSpPr txBox="1"/>
          <p:nvPr/>
        </p:nvSpPr>
        <p:spPr>
          <a:xfrm>
            <a:off x="8928557" y="4151974"/>
            <a:ext cx="2352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Analyze competitors' prices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600">
                <a:latin typeface="Avenir Next LT Pro" panose="020B0504020202020204" pitchFamily="34" charset="77"/>
              </a:rPr>
              <a:t>Increase profitability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0E7977-BC84-6F4F-8BF1-34C7B28017D4}"/>
              </a:ext>
            </a:extLst>
          </p:cNvPr>
          <p:cNvCxnSpPr>
            <a:cxnSpLocks/>
          </p:cNvCxnSpPr>
          <p:nvPr/>
        </p:nvCxnSpPr>
        <p:spPr>
          <a:xfrm>
            <a:off x="3254335" y="1611096"/>
            <a:ext cx="56833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7BD2F30-3919-9A4C-8274-D78831963E54}"/>
              </a:ext>
            </a:extLst>
          </p:cNvPr>
          <p:cNvSpPr txBox="1"/>
          <p:nvPr/>
        </p:nvSpPr>
        <p:spPr>
          <a:xfrm>
            <a:off x="4515620" y="1364657"/>
            <a:ext cx="3160755" cy="4205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133">
                <a:latin typeface="Avenir Next LT Pro" panose="020B0504020202020204" pitchFamily="34" charset="77"/>
              </a:rPr>
              <a:t>Sample Case Practice</a:t>
            </a: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2C4B98C0-A055-2A4C-9FE8-C48F36BFA86D}"/>
              </a:ext>
            </a:extLst>
          </p:cNvPr>
          <p:cNvSpPr/>
          <p:nvPr/>
        </p:nvSpPr>
        <p:spPr>
          <a:xfrm>
            <a:off x="2995290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4999EC-080E-8E47-807D-5A613E14BE4F}"/>
              </a:ext>
            </a:extLst>
          </p:cNvPr>
          <p:cNvSpPr txBox="1"/>
          <p:nvPr/>
        </p:nvSpPr>
        <p:spPr>
          <a:xfrm>
            <a:off x="3621615" y="6460120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Body</a:t>
            </a:r>
          </a:p>
        </p:txBody>
      </p:sp>
      <p:sp>
        <p:nvSpPr>
          <p:cNvPr id="3" name="Google Shape;876;p28">
            <a:extLst>
              <a:ext uri="{FF2B5EF4-FFF2-40B4-BE49-F238E27FC236}">
                <a16:creationId xmlns:a16="http://schemas.microsoft.com/office/drawing/2014/main" id="{667DCD54-F337-6C75-65CC-C1278D3ED138}"/>
              </a:ext>
            </a:extLst>
          </p:cNvPr>
          <p:cNvSpPr txBox="1"/>
          <p:nvPr/>
        </p:nvSpPr>
        <p:spPr>
          <a:xfrm>
            <a:off x="772202" y="1042963"/>
            <a:ext cx="9950473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133" i="1">
                <a:solidFill>
                  <a:schemeClr val="dk1"/>
                </a:solidFill>
                <a:latin typeface="Avenir Next LT Pro" panose="020B0504020202020204" pitchFamily="34" charset="77"/>
                <a:ea typeface="Calibri"/>
                <a:cs typeface="Calibri"/>
                <a:sym typeface="Calibri"/>
              </a:rPr>
              <a:t>Will be prompted to brainstorm</a:t>
            </a:r>
            <a:endParaRPr sz="1333">
              <a:solidFill>
                <a:srgbClr val="000000"/>
              </a:solidFill>
              <a:latin typeface="Avenir Next LT Pro" panose="020B0504020202020204" pitchFamily="34" charset="77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508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/>
      <p:bldP spid="23" grpId="0"/>
      <p:bldP spid="24" grpId="0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4083-E87A-3040-A9E2-73919272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Body of a Case: Analytics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52F7BF8-7D6E-A4A0-97B4-0808A09FEC3A}"/>
              </a:ext>
            </a:extLst>
          </p:cNvPr>
          <p:cNvGrpSpPr/>
          <p:nvPr/>
        </p:nvGrpSpPr>
        <p:grpSpPr>
          <a:xfrm>
            <a:off x="128959" y="3738264"/>
            <a:ext cx="5733368" cy="2088266"/>
            <a:chOff x="128959" y="3738264"/>
            <a:chExt cx="5733368" cy="208826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408CF3-7991-9845-9197-C91B17087B05}"/>
                </a:ext>
              </a:extLst>
            </p:cNvPr>
            <p:cNvSpPr/>
            <p:nvPr/>
          </p:nvSpPr>
          <p:spPr>
            <a:xfrm>
              <a:off x="128959" y="4754677"/>
              <a:ext cx="1702115" cy="107185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67">
                  <a:solidFill>
                    <a:schemeClr val="bg1"/>
                  </a:solidFill>
                  <a:latin typeface="Avenir Next LT Pro" panose="020B0504020202020204" pitchFamily="34" charset="77"/>
                </a:rPr>
                <a:t>Talk through math problems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7318B2-DCD3-DE4C-AF95-761F92D272A1}"/>
                </a:ext>
              </a:extLst>
            </p:cNvPr>
            <p:cNvSpPr/>
            <p:nvPr/>
          </p:nvSpPr>
          <p:spPr>
            <a:xfrm>
              <a:off x="4160218" y="4754678"/>
              <a:ext cx="1702109" cy="107185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67">
                  <a:solidFill>
                    <a:schemeClr val="bg1"/>
                  </a:solidFill>
                  <a:latin typeface="Avenir Next LT Pro" panose="020B0504020202020204" pitchFamily="34" charset="77"/>
                </a:rPr>
                <a:t>Take time to get the math right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261153-38C6-674F-AF95-5B342B9F779F}"/>
                </a:ext>
              </a:extLst>
            </p:cNvPr>
            <p:cNvSpPr/>
            <p:nvPr/>
          </p:nvSpPr>
          <p:spPr>
            <a:xfrm>
              <a:off x="1930844" y="4754678"/>
              <a:ext cx="2129603" cy="107185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67">
                  <a:solidFill>
                    <a:schemeClr val="bg1"/>
                  </a:solidFill>
                  <a:latin typeface="Avenir Next LT Pro" panose="020B0504020202020204" pitchFamily="34" charset="77"/>
                </a:rPr>
                <a:t>Give the “so what” behind each calculation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2F46AB-9DEB-8547-B871-A3CF127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424" y="3738264"/>
              <a:ext cx="45896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8F39379-6660-CE44-93F9-FE90AA256C84}"/>
                </a:ext>
              </a:extLst>
            </p:cNvPr>
            <p:cNvSpPr/>
            <p:nvPr/>
          </p:nvSpPr>
          <p:spPr>
            <a:xfrm>
              <a:off x="1869732" y="3992914"/>
              <a:ext cx="2349957" cy="52966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67">
                  <a:latin typeface="Avenir Next LT Pro" panose="020B0504020202020204" pitchFamily="34" charset="77"/>
                </a:rPr>
                <a:t>Considerations</a:t>
              </a:r>
            </a:p>
          </p:txBody>
        </p:sp>
      </p:grpSp>
      <p:sp>
        <p:nvSpPr>
          <p:cNvPr id="23" name="Chevron 22">
            <a:extLst>
              <a:ext uri="{FF2B5EF4-FFF2-40B4-BE49-F238E27FC236}">
                <a16:creationId xmlns:a16="http://schemas.microsoft.com/office/drawing/2014/main" id="{43A05F88-6EF9-8940-916C-B285910E6641}"/>
              </a:ext>
            </a:extLst>
          </p:cNvPr>
          <p:cNvSpPr/>
          <p:nvPr/>
        </p:nvSpPr>
        <p:spPr>
          <a:xfrm>
            <a:off x="2995290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87742-4A6D-CB4C-8F86-ABD6D8D85BF1}"/>
              </a:ext>
            </a:extLst>
          </p:cNvPr>
          <p:cNvSpPr txBox="1"/>
          <p:nvPr/>
        </p:nvSpPr>
        <p:spPr>
          <a:xfrm>
            <a:off x="3621615" y="6460120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Body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0E4452-9BA1-09C1-48E1-02618D53FE36}"/>
              </a:ext>
            </a:extLst>
          </p:cNvPr>
          <p:cNvGrpSpPr/>
          <p:nvPr/>
        </p:nvGrpSpPr>
        <p:grpSpPr>
          <a:xfrm>
            <a:off x="128959" y="1465509"/>
            <a:ext cx="5733347" cy="1915148"/>
            <a:chOff x="128959" y="1465509"/>
            <a:chExt cx="5733347" cy="19151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D427A60-D50B-49E4-369F-D518D3764EF5}"/>
                </a:ext>
              </a:extLst>
            </p:cNvPr>
            <p:cNvGrpSpPr/>
            <p:nvPr/>
          </p:nvGrpSpPr>
          <p:grpSpPr>
            <a:xfrm>
              <a:off x="128959" y="1711729"/>
              <a:ext cx="5733347" cy="1668928"/>
              <a:chOff x="128959" y="1711729"/>
              <a:chExt cx="5733347" cy="1668928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72BD4939-71FB-E946-A241-EE639B1D91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" y="1711729"/>
                <a:ext cx="563370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27A2465A-B1BB-1043-87D5-0A32DBB9B979}"/>
                  </a:ext>
                </a:extLst>
              </p:cNvPr>
              <p:cNvSpPr/>
              <p:nvPr/>
            </p:nvSpPr>
            <p:spPr>
              <a:xfrm>
                <a:off x="128959" y="2206829"/>
                <a:ext cx="5733347" cy="1173828"/>
              </a:xfrm>
              <a:prstGeom prst="round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3">
                  <a:latin typeface="Avenir Next LT Pro" panose="020B0504020202020204" pitchFamily="34" charset="7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CAA1A4-3D14-3146-9D50-1EBF0CAA8A0D}"/>
                  </a:ext>
                </a:extLst>
              </p:cNvPr>
              <p:cNvSpPr txBox="1"/>
              <p:nvPr/>
            </p:nvSpPr>
            <p:spPr>
              <a:xfrm>
                <a:off x="1560714" y="2030252"/>
                <a:ext cx="2967992" cy="37965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867">
                    <a:latin typeface="Avenir Next LT Pro" panose="020B0504020202020204" pitchFamily="34" charset="77"/>
                  </a:rPr>
                  <a:t>Looking for your ability to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C8E88-37E2-5F47-8790-ACF207EA51C7}"/>
                  </a:ext>
                </a:extLst>
              </p:cNvPr>
              <p:cNvSpPr txBox="1"/>
              <p:nvPr/>
            </p:nvSpPr>
            <p:spPr>
              <a:xfrm>
                <a:off x="228600" y="2380458"/>
                <a:ext cx="498891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venir Next LT Pro" panose="020B0504020202020204" pitchFamily="34" charset="77"/>
                  </a:rPr>
                  <a:t>Work with large numbers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venir Next LT Pro" panose="020B0504020202020204" pitchFamily="34" charset="77"/>
                  </a:rPr>
                  <a:t>Structure analysis</a:t>
                </a:r>
              </a:p>
              <a:p>
                <a:pPr marL="228594" indent="-228594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Avenir Next LT Pro" panose="020B0504020202020204" pitchFamily="34" charset="77"/>
                  </a:rPr>
                  <a:t>Pay attention to detail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B38A8A-95FF-144A-AE7A-68F5BA46320C}"/>
                </a:ext>
              </a:extLst>
            </p:cNvPr>
            <p:cNvSpPr txBox="1"/>
            <p:nvPr/>
          </p:nvSpPr>
          <p:spPr>
            <a:xfrm>
              <a:off x="1351564" y="1465509"/>
              <a:ext cx="3314469" cy="4205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>
                  <a:latin typeface="Avenir Next LT Pro" panose="020B0504020202020204" pitchFamily="34" charset="77"/>
                </a:rPr>
                <a:t>Quantitative Questions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8F4B362-274E-E9AD-1A19-D911143F1982}"/>
              </a:ext>
            </a:extLst>
          </p:cNvPr>
          <p:cNvGrpSpPr/>
          <p:nvPr/>
        </p:nvGrpSpPr>
        <p:grpSpPr>
          <a:xfrm>
            <a:off x="6096000" y="1465509"/>
            <a:ext cx="5576468" cy="4383137"/>
            <a:chOff x="6096000" y="1465509"/>
            <a:chExt cx="5576468" cy="438313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66ECD2-6E90-82DB-18C1-337222A3D0DF}"/>
                </a:ext>
              </a:extLst>
            </p:cNvPr>
            <p:cNvGrpSpPr/>
            <p:nvPr/>
          </p:nvGrpSpPr>
          <p:grpSpPr>
            <a:xfrm>
              <a:off x="6096000" y="1711729"/>
              <a:ext cx="5576468" cy="4136917"/>
              <a:chOff x="6096000" y="1711729"/>
              <a:chExt cx="5576468" cy="4136917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8C807C1-F8A5-E24D-9FD5-E95F64BE75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3905" y="1711729"/>
                <a:ext cx="45896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Google Shape;1039;p37">
                <a:extLst>
                  <a:ext uri="{FF2B5EF4-FFF2-40B4-BE49-F238E27FC236}">
                    <a16:creationId xmlns:a16="http://schemas.microsoft.com/office/drawing/2014/main" id="{A5786C74-6D13-F541-863E-CF9ACDD5E2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711729"/>
                <a:ext cx="0" cy="411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232EF5A-BCB6-614B-AB3D-CE2466A96926}"/>
                  </a:ext>
                </a:extLst>
              </p:cNvPr>
              <p:cNvSpPr/>
              <p:nvPr/>
            </p:nvSpPr>
            <p:spPr>
              <a:xfrm>
                <a:off x="6615534" y="2901420"/>
                <a:ext cx="2346948" cy="124857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67">
                    <a:solidFill>
                      <a:schemeClr val="bg1"/>
                    </a:solidFill>
                    <a:latin typeface="Avenir Next LT Pro" panose="020B0504020202020204" pitchFamily="34" charset="77"/>
                  </a:rPr>
                  <a:t>What information are you looking at?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104B0A-2764-D649-8618-615A14697D4C}"/>
                  </a:ext>
                </a:extLst>
              </p:cNvPr>
              <p:cNvSpPr/>
              <p:nvPr/>
            </p:nvSpPr>
            <p:spPr>
              <a:xfrm>
                <a:off x="9325530" y="2891526"/>
                <a:ext cx="2346937" cy="124857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67">
                    <a:solidFill>
                      <a:schemeClr val="bg1"/>
                    </a:solidFill>
                    <a:latin typeface="Avenir Next LT Pro" panose="020B0504020202020204" pitchFamily="34" charset="77"/>
                  </a:rPr>
                  <a:t>What patterns do you see?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7236DD-866D-A846-868A-C9036330FC1D}"/>
                  </a:ext>
                </a:extLst>
              </p:cNvPr>
              <p:cNvSpPr/>
              <p:nvPr/>
            </p:nvSpPr>
            <p:spPr>
              <a:xfrm>
                <a:off x="6615523" y="4600069"/>
                <a:ext cx="2346959" cy="124857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67">
                    <a:solidFill>
                      <a:schemeClr val="bg1"/>
                    </a:solidFill>
                    <a:latin typeface="Avenir Next LT Pro" panose="020B0504020202020204" pitchFamily="34" charset="77"/>
                  </a:rPr>
                  <a:t>Why are these patterns changing?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A26B2A5-E1BC-FD47-9679-66B41E54D2E0}"/>
                  </a:ext>
                </a:extLst>
              </p:cNvPr>
              <p:cNvSpPr/>
              <p:nvPr/>
            </p:nvSpPr>
            <p:spPr>
              <a:xfrm>
                <a:off x="9325533" y="4577952"/>
                <a:ext cx="2346935" cy="124857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67">
                    <a:solidFill>
                      <a:schemeClr val="bg1"/>
                    </a:solidFill>
                    <a:latin typeface="Avenir Next LT Pro" panose="020B0504020202020204" pitchFamily="34" charset="77"/>
                  </a:rPr>
                  <a:t>How does this info tie into the case?</a:t>
                </a: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3C90F54F-37DE-E64E-8426-30ED3280C418}"/>
                  </a:ext>
                </a:extLst>
              </p:cNvPr>
              <p:cNvSpPr/>
              <p:nvPr/>
            </p:nvSpPr>
            <p:spPr>
              <a:xfrm>
                <a:off x="8023762" y="2125538"/>
                <a:ext cx="2349957" cy="52966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67">
                    <a:latin typeface="Avenir Next LT Pro" panose="020B0504020202020204" pitchFamily="34" charset="77"/>
                  </a:rPr>
                  <a:t>Considerations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2A3231-CE24-C845-A187-36439295B146}"/>
                </a:ext>
              </a:extLst>
            </p:cNvPr>
            <p:cNvSpPr txBox="1"/>
            <p:nvPr/>
          </p:nvSpPr>
          <p:spPr>
            <a:xfrm>
              <a:off x="7807907" y="1465509"/>
              <a:ext cx="2781675" cy="4205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>
                  <a:latin typeface="Avenir Next LT Pro" panose="020B0504020202020204" pitchFamily="34" charset="77"/>
                </a:rPr>
                <a:t>Charts and Graphs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276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58F30E-F3E2-9C41-9F1F-88390B95C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9B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C3643-C853-634F-A11E-C004819900AC}"/>
              </a:ext>
            </a:extLst>
          </p:cNvPr>
          <p:cNvSpPr txBox="1"/>
          <p:nvPr/>
        </p:nvSpPr>
        <p:spPr>
          <a:xfrm>
            <a:off x="1981200" y="2921169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Rockwell" panose="02060603020205020403" pitchFamily="18" charset="77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616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D76-48E6-2A4A-862C-34AE9D71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Ending a Case: Conclusion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062A9F-544A-E54F-A666-FDBBB51F7945}"/>
              </a:ext>
            </a:extLst>
          </p:cNvPr>
          <p:cNvCxnSpPr>
            <a:cxnSpLocks/>
          </p:cNvCxnSpPr>
          <p:nvPr/>
        </p:nvCxnSpPr>
        <p:spPr>
          <a:xfrm>
            <a:off x="1848855" y="1734095"/>
            <a:ext cx="84942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C99306D-E09B-2848-91B9-816B29210931}"/>
              </a:ext>
            </a:extLst>
          </p:cNvPr>
          <p:cNvSpPr txBox="1"/>
          <p:nvPr/>
        </p:nvSpPr>
        <p:spPr>
          <a:xfrm>
            <a:off x="4639269" y="1467355"/>
            <a:ext cx="29134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Avenir Next LT Pro" panose="020B0504020202020204" pitchFamily="34" charset="77"/>
              </a:rPr>
              <a:t>Things to consider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22E816-4609-C942-8FD5-0804DB58E9B5}"/>
              </a:ext>
            </a:extLst>
          </p:cNvPr>
          <p:cNvSpPr/>
          <p:nvPr/>
        </p:nvSpPr>
        <p:spPr>
          <a:xfrm>
            <a:off x="1044253" y="3005338"/>
            <a:ext cx="2613348" cy="15936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Clearly state your recommendation</a:t>
            </a:r>
          </a:p>
          <a:p>
            <a:pPr algn="ctr"/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“I recommend that”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2AB581-6B4B-4F4E-AB3F-80CF767AD977}"/>
              </a:ext>
            </a:extLst>
          </p:cNvPr>
          <p:cNvSpPr/>
          <p:nvPr/>
        </p:nvSpPr>
        <p:spPr>
          <a:xfrm>
            <a:off x="4789325" y="3005337"/>
            <a:ext cx="2613348" cy="15936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Be concise and don’t go into every detail of the case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D53F3E-DC37-C64B-AE8C-9F7885F9F681}"/>
              </a:ext>
            </a:extLst>
          </p:cNvPr>
          <p:cNvSpPr/>
          <p:nvPr/>
        </p:nvSpPr>
        <p:spPr>
          <a:xfrm>
            <a:off x="8534396" y="3005337"/>
            <a:ext cx="2678597" cy="15936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33">
                <a:solidFill>
                  <a:schemeClr val="bg1"/>
                </a:solidFill>
                <a:latin typeface="Avenir Next LT Pro" panose="020B0504020202020204" pitchFamily="34" charset="77"/>
              </a:rPr>
              <a:t>If applicable, include risks and next steps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48FBC60F-6DB0-CC4F-A2D5-33FD89BA1B08}"/>
              </a:ext>
            </a:extLst>
          </p:cNvPr>
          <p:cNvSpPr/>
          <p:nvPr/>
        </p:nvSpPr>
        <p:spPr>
          <a:xfrm>
            <a:off x="4552248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7256B9-FA2A-514E-AAC6-F938961CAC25}"/>
              </a:ext>
            </a:extLst>
          </p:cNvPr>
          <p:cNvSpPr txBox="1"/>
          <p:nvPr/>
        </p:nvSpPr>
        <p:spPr>
          <a:xfrm>
            <a:off x="5085600" y="646012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Ending</a:t>
            </a:r>
          </a:p>
        </p:txBody>
      </p:sp>
    </p:spTree>
    <p:extLst>
      <p:ext uri="{BB962C8B-B14F-4D97-AF65-F5344CB8AC3E}">
        <p14:creationId xmlns:p14="http://schemas.microsoft.com/office/powerpoint/2010/main" val="3091660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58F30E-F3E2-9C41-9F1F-88390B95C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9B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C3643-C853-634F-A11E-C004819900AC}"/>
              </a:ext>
            </a:extLst>
          </p:cNvPr>
          <p:cNvSpPr txBox="1"/>
          <p:nvPr/>
        </p:nvSpPr>
        <p:spPr>
          <a:xfrm>
            <a:off x="1981200" y="2921169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Rockwell" panose="02060603020205020403" pitchFamily="18" charset="77"/>
              </a:rPr>
              <a:t>Practice Case</a:t>
            </a:r>
          </a:p>
        </p:txBody>
      </p:sp>
    </p:spTree>
    <p:extLst>
      <p:ext uri="{BB962C8B-B14F-4D97-AF65-F5344CB8AC3E}">
        <p14:creationId xmlns:p14="http://schemas.microsoft.com/office/powerpoint/2010/main" val="21226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E683-D8E5-7D4D-B80D-07B44D50A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Pizzanomics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438F1-C8AB-EA4F-86DA-E6F5CCFE9F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Rockwell" panose="02060603020205020403" pitchFamily="18" charset="77"/>
              </a:rPr>
              <a:t>Adapted from the Ross Consulting Club 2010 Casebook </a:t>
            </a:r>
          </a:p>
          <a:p>
            <a:r>
              <a:rPr lang="en-US">
                <a:latin typeface="Rockwell" panose="02060603020205020403" pitchFamily="18" charset="77"/>
              </a:rPr>
              <a:t>Category: Profitability</a:t>
            </a:r>
          </a:p>
          <a:p>
            <a:r>
              <a:rPr lang="en-US">
                <a:latin typeface="Rockwell" panose="02060603020205020403" pitchFamily="18" charset="77"/>
              </a:rPr>
              <a:t>Difficulty: Easy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90D9-D22B-304A-9670-7B55798875AF}"/>
              </a:ext>
            </a:extLst>
          </p:cNvPr>
          <p:cNvSpPr txBox="1"/>
          <p:nvPr/>
        </p:nvSpPr>
        <p:spPr>
          <a:xfrm>
            <a:off x="5025161" y="4980543"/>
            <a:ext cx="2141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4"/>
                </a:solidFill>
                <a:latin typeface="+mj-lt"/>
              </a:rPr>
              <a:t>(NLCG Casebook)</a:t>
            </a:r>
          </a:p>
        </p:txBody>
      </p:sp>
    </p:spTree>
    <p:extLst>
      <p:ext uri="{BB962C8B-B14F-4D97-AF65-F5344CB8AC3E}">
        <p14:creationId xmlns:p14="http://schemas.microsoft.com/office/powerpoint/2010/main" val="3383629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C9A3-906D-3748-99ED-9429CB4B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Introduction: Pizzanomics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4FE933-9109-F74B-882B-2C21AB2BD9A1}"/>
              </a:ext>
            </a:extLst>
          </p:cNvPr>
          <p:cNvGrpSpPr/>
          <p:nvPr/>
        </p:nvGrpSpPr>
        <p:grpSpPr>
          <a:xfrm>
            <a:off x="280988" y="1193905"/>
            <a:ext cx="5643563" cy="4801313"/>
            <a:chOff x="623888" y="1123405"/>
            <a:chExt cx="5643562" cy="463732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F68498-6752-7749-93C2-B50474DD93B8}"/>
                </a:ext>
              </a:extLst>
            </p:cNvPr>
            <p:cNvSpPr/>
            <p:nvPr/>
          </p:nvSpPr>
          <p:spPr>
            <a:xfrm>
              <a:off x="623888" y="1316629"/>
              <a:ext cx="5643562" cy="4444097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0DB956-5AE5-1545-A3FC-09140E1D8442}"/>
                </a:ext>
              </a:extLst>
            </p:cNvPr>
            <p:cNvSpPr txBox="1"/>
            <p:nvPr/>
          </p:nvSpPr>
          <p:spPr>
            <a:xfrm>
              <a:off x="795337" y="1732797"/>
              <a:ext cx="5300662" cy="27645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>
                  <a:latin typeface="Avenir Next LT Pro"/>
                </a:rPr>
                <a:t>An aspiring chef, Emily </a:t>
              </a:r>
              <a:r>
                <a:rPr lang="en-US" sz="2000" err="1">
                  <a:latin typeface="Avenir Next LT Pro"/>
                </a:rPr>
                <a:t>Gernert</a:t>
              </a:r>
              <a:r>
                <a:rPr lang="en-US" sz="2000">
                  <a:latin typeface="Avenir Next LT Pro"/>
                </a:rPr>
                <a:t>, just moved to NY, and is trying to decide if it makes more sense to get in on the new fad of high-end pizza places with imported cheese and wood burning ovens, or open a more traditional pizza place.  </a:t>
              </a:r>
              <a:endParaRPr lang="en-US" sz="2000">
                <a:latin typeface="Avenir Next LT Pro" panose="020B0504020202020204" pitchFamily="34" charset="77"/>
              </a:endParaRPr>
            </a:p>
            <a:p>
              <a:endParaRPr lang="en-US" sz="2000">
                <a:latin typeface="Avenir Next LT Pro" panose="020B0504020202020204" pitchFamily="34" charset="77"/>
              </a:endParaRPr>
            </a:p>
            <a:p>
              <a:r>
                <a:rPr lang="en-US" sz="2000">
                  <a:latin typeface="Avenir Next LT Pro"/>
                </a:rPr>
                <a:t>Which type of restaurant will be more profitable?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5FCBCF-0AC8-A243-A881-5882E733DBDC}"/>
                </a:ext>
              </a:extLst>
            </p:cNvPr>
            <p:cNvSpPr txBox="1"/>
            <p:nvPr/>
          </p:nvSpPr>
          <p:spPr>
            <a:xfrm>
              <a:off x="2120504" y="1123405"/>
              <a:ext cx="2650330" cy="3864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4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>
                  <a:latin typeface="Rockwell" panose="02060603020205020403" pitchFamily="18" charset="77"/>
                </a:rPr>
                <a:t>Problem Statement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F4866-E30F-8A46-8B33-8B30EE2EAB8F}"/>
              </a:ext>
            </a:extLst>
          </p:cNvPr>
          <p:cNvSpPr/>
          <p:nvPr/>
        </p:nvSpPr>
        <p:spPr>
          <a:xfrm>
            <a:off x="6267449" y="1393959"/>
            <a:ext cx="5643563" cy="4601258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0645E5-3236-EA43-B43F-33397B4380EC}"/>
              </a:ext>
            </a:extLst>
          </p:cNvPr>
          <p:cNvSpPr txBox="1"/>
          <p:nvPr/>
        </p:nvSpPr>
        <p:spPr>
          <a:xfrm>
            <a:off x="6438898" y="1824846"/>
            <a:ext cx="5300663" cy="409342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Startup costs are the same to buy ovens and other materials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Both types of restaurants need the same amount of space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The traditional place uses locally sourced materials while the high-end places imports mozzarella from Italy.  The high-end place also offers a different set of topping options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Both markets are equally developed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Don’t let the candidate start asking for numbers yet—info on cost and revenue in future slides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D9B46E-9567-9E41-8B22-4059611B5817}"/>
              </a:ext>
            </a:extLst>
          </p:cNvPr>
          <p:cNvSpPr txBox="1"/>
          <p:nvPr/>
        </p:nvSpPr>
        <p:spPr>
          <a:xfrm>
            <a:off x="7764065" y="1193904"/>
            <a:ext cx="265033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latin typeface="Rockwell" panose="02060603020205020403" pitchFamily="18" charset="77"/>
              </a:rPr>
              <a:t>Info upon Request</a:t>
            </a:r>
          </a:p>
        </p:txBody>
      </p:sp>
      <p:sp>
        <p:nvSpPr>
          <p:cNvPr id="13" name="Chevron 12">
            <a:extLst>
              <a:ext uri="{FF2B5EF4-FFF2-40B4-BE49-F238E27FC236}">
                <a16:creationId xmlns:a16="http://schemas.microsoft.com/office/drawing/2014/main" id="{233074C4-CD5F-E24F-A552-22DCCA9A92D9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DE0A0-C56A-5E4F-8D22-A9828BDCE697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58208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3C5F-84E3-804B-AEC6-DF7E43E0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A9A3C-3473-6D4A-8813-D0E072D1EF23}"/>
              </a:ext>
            </a:extLst>
          </p:cNvPr>
          <p:cNvSpPr txBox="1"/>
          <p:nvPr/>
        </p:nvSpPr>
        <p:spPr>
          <a:xfrm>
            <a:off x="1314594" y="1754659"/>
            <a:ext cx="956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latin typeface="Avenir Next LT Pro" panose="020B0504020202020204" pitchFamily="34" charset="77"/>
              </a:rPr>
              <a:t>What kind of structure would you create for this situation?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11250-2A9F-AA44-A626-4677D5E54356}"/>
              </a:ext>
            </a:extLst>
          </p:cNvPr>
          <p:cNvSpPr txBox="1"/>
          <p:nvPr/>
        </p:nvSpPr>
        <p:spPr>
          <a:xfrm>
            <a:off x="838198" y="2951946"/>
            <a:ext cx="10515601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>
                <a:latin typeface="Avenir Next LT Pro"/>
              </a:rPr>
              <a:t>What cost drivers might you consider and how could they differ between the two types of restaurants?</a:t>
            </a: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7535DE58-5B9F-8A4E-AA86-52C9AD9A289E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02069-0551-754B-A954-24BA5B33973C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366059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B54E-BCF4-4B4E-9BDC-6B42D709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/>
              <a:t>Cost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853E2-090C-514C-952A-94C096BE2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02318"/>
            <a:ext cx="11794637" cy="3853363"/>
          </a:xfr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Labor – High end: 5,500 per week, Traditional: 3,500 per week; (52/</a:t>
            </a:r>
            <a:r>
              <a:rPr lang="en-US" err="1">
                <a:latin typeface="Avenir Next LT Pro" panose="020B0504020202020204" pitchFamily="34" charset="77"/>
              </a:rPr>
              <a:t>yr</a:t>
            </a:r>
            <a:r>
              <a:rPr lang="en-US">
                <a:latin typeface="Avenir Next LT Pro" panose="020B0504020202020204" pitchFamily="34" charset="77"/>
              </a:rPr>
              <a:t>)</a:t>
            </a:r>
          </a:p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Utilities – High end: $550 per month Traditional: $800 per month</a:t>
            </a:r>
          </a:p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Wood - $400 per cord of wood, 3 cords needed per month</a:t>
            </a:r>
          </a:p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Rent – High end: $6000 per month, Traditional: $5000 per month</a:t>
            </a:r>
          </a:p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Pizza – (materials cost per pizza) High end: $4, Traditional: $3</a:t>
            </a:r>
          </a:p>
          <a:p>
            <a:pPr lvl="1"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You estimate # of units per restaurant</a:t>
            </a:r>
          </a:p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Toppings – Volume drives price differential</a:t>
            </a:r>
          </a:p>
          <a:p>
            <a:pPr lvl="1"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How much do you think each type of restaurant would spend on toppings?</a:t>
            </a:r>
            <a:endParaRPr lang="en-US"/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38F1873A-1974-B340-B6EF-6E2711B81352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6B1B7-606D-ED40-AED7-0C23CFC3F1C8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6249442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EE5E-D396-8341-B818-0FE35820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1634-DA2E-2C41-AE3E-A02ED395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92876" y="1253332"/>
            <a:ext cx="10515600" cy="4351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u="sng">
                <a:latin typeface="+mj-lt"/>
              </a:rPr>
              <a:t>High End Pizza Place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B9DE75-17CD-9B45-B928-4E2A1BFEC294}"/>
              </a:ext>
            </a:extLst>
          </p:cNvPr>
          <p:cNvSpPr txBox="1">
            <a:spLocks/>
          </p:cNvSpPr>
          <p:nvPr/>
        </p:nvSpPr>
        <p:spPr>
          <a:xfrm>
            <a:off x="6501247" y="1253333"/>
            <a:ext cx="5257800" cy="53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>
                <a:latin typeface="+mj-lt"/>
              </a:rPr>
              <a:t>Traditional Pizza Place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4CD9740-9F2A-F04C-B609-485F1D548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878560"/>
              </p:ext>
            </p:extLst>
          </p:nvPr>
        </p:nvGraphicFramePr>
        <p:xfrm>
          <a:off x="446232" y="2020309"/>
          <a:ext cx="5231245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2309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15736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070264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672936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Labor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$5,500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86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Toppings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Misc.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 b="1" i="1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187B4F-9709-754F-9ED4-AB9B5E6C8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167459"/>
              </p:ext>
            </p:extLst>
          </p:nvPr>
        </p:nvGraphicFramePr>
        <p:xfrm>
          <a:off x="6514524" y="2020309"/>
          <a:ext cx="5231245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2309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15736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070264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672936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Labor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86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23,000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Toppings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Misc.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 b="1" i="1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sp>
        <p:nvSpPr>
          <p:cNvPr id="9" name="Chevron 8">
            <a:extLst>
              <a:ext uri="{FF2B5EF4-FFF2-40B4-BE49-F238E27FC236}">
                <a16:creationId xmlns:a16="http://schemas.microsoft.com/office/drawing/2014/main" id="{10D721EB-D37C-3C42-9214-6E250B72E0F2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34E6C-F3AF-7540-B7D0-4C0C4EE16031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609285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EE5E-D396-8341-B818-0FE35820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1634-DA2E-2C41-AE3E-A02ED395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92876" y="1253332"/>
            <a:ext cx="10515600" cy="4351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u="sng">
                <a:latin typeface="+mj-lt"/>
              </a:rPr>
              <a:t>High End Pizza Place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B9DE75-17CD-9B45-B928-4E2A1BFEC294}"/>
              </a:ext>
            </a:extLst>
          </p:cNvPr>
          <p:cNvSpPr txBox="1">
            <a:spLocks/>
          </p:cNvSpPr>
          <p:nvPr/>
        </p:nvSpPr>
        <p:spPr>
          <a:xfrm>
            <a:off x="6501247" y="1253333"/>
            <a:ext cx="5257800" cy="53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>
                <a:latin typeface="+mj-lt"/>
              </a:rPr>
              <a:t>Traditional Pizza Place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4CD9740-9F2A-F04C-B609-485F1D548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481746"/>
              </p:ext>
            </p:extLst>
          </p:nvPr>
        </p:nvGraphicFramePr>
        <p:xfrm>
          <a:off x="446232" y="2020309"/>
          <a:ext cx="5231245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2309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15736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070264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672936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Labor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$5,500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$286,000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$6,600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$72,000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86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$288,000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Toppings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Misc.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1">
                          <a:latin typeface="Avenir Next LT Pro" panose="020B0504020202020204" pitchFamily="34" charset="77"/>
                        </a:rPr>
                        <a:t>$792,000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187B4F-9709-754F-9ED4-AB9B5E6C8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926774"/>
              </p:ext>
            </p:extLst>
          </p:nvPr>
        </p:nvGraphicFramePr>
        <p:xfrm>
          <a:off x="6514524" y="2020309"/>
          <a:ext cx="5231245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2309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15736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070264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672936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Labor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$182,000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$9,600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$60,000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86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23,000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$69,000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Toppings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Misc.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1">
                          <a:latin typeface="Avenir Next LT Pro" panose="020B0504020202020204" pitchFamily="34" charset="77"/>
                        </a:rPr>
                        <a:t>$375,600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sp>
        <p:nvSpPr>
          <p:cNvPr id="9" name="Chevron 8">
            <a:extLst>
              <a:ext uri="{FF2B5EF4-FFF2-40B4-BE49-F238E27FC236}">
                <a16:creationId xmlns:a16="http://schemas.microsoft.com/office/drawing/2014/main" id="{BE344650-5EFC-D04F-A8C7-27705B74823D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36212-40CA-954B-8CAA-3D89F2EFA296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425960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3C5F-84E3-804B-AEC6-DF7E43E0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Revenue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11250-2A9F-AA44-A626-4677D5E54356}"/>
              </a:ext>
            </a:extLst>
          </p:cNvPr>
          <p:cNvSpPr txBox="1"/>
          <p:nvPr/>
        </p:nvSpPr>
        <p:spPr>
          <a:xfrm>
            <a:off x="838199" y="2951946"/>
            <a:ext cx="10515601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>
                <a:latin typeface="Avenir Next LT Pro"/>
              </a:rPr>
              <a:t>What revenue drivers might you consider and how could they differ between the two types of restaurants?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5C72AD28-4948-4A44-AF77-158CD799D0BA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2E894-A307-8B46-8F60-5E1F47DA4604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4493584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B54E-BCF4-4B4E-9BDC-6B42D709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/>
              <a:t>Revenue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853E2-090C-514C-952A-94C096BE2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Plain Pizza – High end: $10 per pizza for 22,000 pizzas, Traditional: $13 per pizza for 11,000 pizzas</a:t>
            </a:r>
          </a:p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Specialty Pizza – High end: $12 per pizza for 50,000 pizzas              Traditional: $17.50 per pizza for 12,000 pizzas</a:t>
            </a:r>
          </a:p>
          <a:p>
            <a:pPr>
              <a:buFont typeface="Wingdings" pitchFamily="2" charset="2"/>
              <a:buChar char="q"/>
            </a:pPr>
            <a:r>
              <a:rPr lang="en-US">
                <a:latin typeface="Avenir Next LT Pro" panose="020B0504020202020204" pitchFamily="34" charset="77"/>
              </a:rPr>
              <a:t>Additional: (drinks, etc.) – High end: $70,000, Traditional: $90,000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9A1F7-BB30-1C46-AA54-4383BC70FB97}"/>
              </a:ext>
            </a:extLst>
          </p:cNvPr>
          <p:cNvSpPr txBox="1"/>
          <p:nvPr/>
        </p:nvSpPr>
        <p:spPr>
          <a:xfrm>
            <a:off x="2401719" y="4920638"/>
            <a:ext cx="73885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>
                <a:latin typeface="Georgia" panose="02040502050405020303" pitchFamily="18" charset="0"/>
              </a:rPr>
              <a:t>Calculate both revenue and profit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9FB82A27-1B69-0B49-B681-28A0B19044FD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81D32-9247-104C-A778-12BA0FF876F2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740470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EE5E-D396-8341-B818-0FE35820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Revenue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1634-DA2E-2C41-AE3E-A02ED395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92876" y="1253332"/>
            <a:ext cx="10515600" cy="4351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u="sng">
                <a:latin typeface="+mj-lt"/>
              </a:rPr>
              <a:t>High End Pizza Place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B9DE75-17CD-9B45-B928-4E2A1BFEC294}"/>
              </a:ext>
            </a:extLst>
          </p:cNvPr>
          <p:cNvSpPr txBox="1">
            <a:spLocks/>
          </p:cNvSpPr>
          <p:nvPr/>
        </p:nvSpPr>
        <p:spPr>
          <a:xfrm>
            <a:off x="6501247" y="1253333"/>
            <a:ext cx="5257800" cy="53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>
                <a:latin typeface="+mj-lt"/>
              </a:rPr>
              <a:t>Traditional Pizza Place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4CD9740-9F2A-F04C-B609-485F1D548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73741"/>
              </p:ext>
            </p:extLst>
          </p:nvPr>
        </p:nvGraphicFramePr>
        <p:xfrm>
          <a:off x="446232" y="2020309"/>
          <a:ext cx="5231245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568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257877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Plain 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Specialty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Additional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(drinks,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latin typeface="Avenir Next LT Pro" panose="020B0504020202020204" pitchFamily="34" charset="77"/>
                        </a:rPr>
                        <a:t>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u="sng">
                          <a:latin typeface="Avenir Next LT Pro" panose="020B0504020202020204" pitchFamily="34" charset="77"/>
                        </a:rPr>
                        <a:t>$70,000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sng" strike="noStrike" noProof="0">
                          <a:latin typeface="Avenir Next LT Pro" panose="020B0504020202020204" pitchFamily="34" charset="77"/>
                        </a:rPr>
                        <a:t>$792,000</a:t>
                      </a:r>
                      <a:endParaRPr lang="en-US" sz="1800" b="0" i="0" u="none" strike="noStrike" noProof="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 b="1" i="1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A69E1990-A243-0D48-A2AE-3A655CF65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277581"/>
              </p:ext>
            </p:extLst>
          </p:nvPr>
        </p:nvGraphicFramePr>
        <p:xfrm>
          <a:off x="6514524" y="2020309"/>
          <a:ext cx="5231245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568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257877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Plain 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Specialty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Additional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(drinks,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latin typeface="Avenir Next LT Pro" panose="020B0504020202020204" pitchFamily="34" charset="77"/>
                        </a:rPr>
                        <a:t>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u="sng">
                          <a:latin typeface="Avenir Next LT Pro" panose="020B0504020202020204" pitchFamily="34" charset="77"/>
                        </a:rPr>
                        <a:t>$90,000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u="sng">
                          <a:latin typeface="Avenir Next LT Pro" panose="020B0504020202020204" pitchFamily="34" charset="77"/>
                        </a:rPr>
                        <a:t>$375,600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 b="1" i="1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sp>
        <p:nvSpPr>
          <p:cNvPr id="11" name="Chevron 10">
            <a:extLst>
              <a:ext uri="{FF2B5EF4-FFF2-40B4-BE49-F238E27FC236}">
                <a16:creationId xmlns:a16="http://schemas.microsoft.com/office/drawing/2014/main" id="{51D34865-3B49-B44A-B120-316813E4F81D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CD51B-1EBF-3E43-A080-6BE7191E26D8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9086479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EE5E-D396-8341-B818-0FE35820F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Revenue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1634-DA2E-2C41-AE3E-A02ED395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92876" y="1253332"/>
            <a:ext cx="10515600" cy="4351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u="sng">
                <a:latin typeface="+mj-lt"/>
              </a:rPr>
              <a:t>High End Pizza Place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B9DE75-17CD-9B45-B928-4E2A1BFEC294}"/>
              </a:ext>
            </a:extLst>
          </p:cNvPr>
          <p:cNvSpPr txBox="1">
            <a:spLocks/>
          </p:cNvSpPr>
          <p:nvPr/>
        </p:nvSpPr>
        <p:spPr>
          <a:xfrm>
            <a:off x="6501247" y="1253333"/>
            <a:ext cx="5257800" cy="533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>
                <a:latin typeface="+mj-lt"/>
              </a:rPr>
              <a:t>Traditional Pizza Place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4CD9740-9F2A-F04C-B609-485F1D548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08332"/>
              </p:ext>
            </p:extLst>
          </p:nvPr>
        </p:nvGraphicFramePr>
        <p:xfrm>
          <a:off x="446232" y="2020309"/>
          <a:ext cx="5231245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568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257877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Plain 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Specialty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$600,000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$820,000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Additional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(drinks,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latin typeface="Avenir Next LT Pro" panose="020B0504020202020204" pitchFamily="34" charset="77"/>
                        </a:rPr>
                        <a:t>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u="sng">
                          <a:latin typeface="Avenir Next LT Pro" panose="020B0504020202020204" pitchFamily="34" charset="77"/>
                        </a:rPr>
                        <a:t>$70,000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$890,000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u="sng">
                          <a:latin typeface="Avenir Next LT Pro" panose="020B0504020202020204" pitchFamily="34" charset="77"/>
                        </a:rPr>
                        <a:t>$792,000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1">
                          <a:latin typeface="Avenir Next LT Pro" panose="020B0504020202020204" pitchFamily="34" charset="77"/>
                        </a:rPr>
                        <a:t>$98,000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A69E1990-A243-0D48-A2AE-3A655CF65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508824"/>
              </p:ext>
            </p:extLst>
          </p:nvPr>
        </p:nvGraphicFramePr>
        <p:xfrm>
          <a:off x="6514524" y="2020309"/>
          <a:ext cx="5231245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568">
                  <a:extLst>
                    <a:ext uri="{9D8B030D-6E8A-4147-A177-3AD203B41FA5}">
                      <a16:colId xmlns:a16="http://schemas.microsoft.com/office/drawing/2014/main" val="185677724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42802906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3021266697"/>
                    </a:ext>
                  </a:extLst>
                </a:gridCol>
                <a:gridCol w="1257877">
                  <a:extLst>
                    <a:ext uri="{9D8B030D-6E8A-4147-A177-3AD203B41FA5}">
                      <a16:colId xmlns:a16="http://schemas.microsoft.com/office/drawing/2014/main" val="418656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9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Plain 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$143,000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7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Specialty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$17.50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$210,000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72,000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$353,000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47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Additional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(drinks,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latin typeface="Avenir Next LT Pro" panose="020B0504020202020204" pitchFamily="34" charset="77"/>
                        </a:rPr>
                        <a:t>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u="sng">
                          <a:latin typeface="Avenir Next LT Pro" panose="020B0504020202020204" pitchFamily="34" charset="77"/>
                        </a:rPr>
                        <a:t>$90,000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5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Rev.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>
                          <a:latin typeface="Avenir Next LT Pro" panose="020B0504020202020204" pitchFamily="34" charset="77"/>
                        </a:rPr>
                        <a:t>$443,000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384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>
                          <a:latin typeface="Avenir Next LT Pro" panose="020B0504020202020204" pitchFamily="34" charset="77"/>
                        </a:rP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u="sng">
                          <a:latin typeface="Avenir Next LT Pro" panose="020B0504020202020204" pitchFamily="34" charset="77"/>
                        </a:rPr>
                        <a:t>$375,600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9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venir Next LT Pro" panose="020B0504020202020204" pitchFamily="34" charset="77"/>
                        </a:rP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>
                        <a:latin typeface="Avenir Next LT Pro" panose="020B0504020202020204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1">
                          <a:latin typeface="Avenir Next LT Pro" panose="020B0504020202020204" pitchFamily="34" charset="77"/>
                        </a:rPr>
                        <a:t>$67,400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388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29E1BC-5766-6249-8DA0-D1580223FBD6}"/>
              </a:ext>
            </a:extLst>
          </p:cNvPr>
          <p:cNvSpPr txBox="1"/>
          <p:nvPr/>
        </p:nvSpPr>
        <p:spPr>
          <a:xfrm>
            <a:off x="1042712" y="5320218"/>
            <a:ext cx="10106581" cy="83099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1600" i="1">
                <a:latin typeface="Rockwell"/>
              </a:rPr>
              <a:t>The high-end pizza place sells many more pizzas, especially specialty.  Strong candidates will notice that the high-end place doesn’t make any additional profit on specialty, since there is no extra margin put in, only enough to cover the cost of toppings.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96D5D840-7916-3E4B-91BB-FA9DCD91208B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3329F9-E1FC-8B4E-A1A5-F3BACD034094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50779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B1982-432A-2144-82EB-4B7B89EF3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/>
              <a:t>Market 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5A51D-2FE5-CF43-A245-D3D1E2842829}"/>
              </a:ext>
            </a:extLst>
          </p:cNvPr>
          <p:cNvSpPr txBox="1"/>
          <p:nvPr/>
        </p:nvSpPr>
        <p:spPr>
          <a:xfrm>
            <a:off x="838198" y="1317467"/>
            <a:ext cx="10515600" cy="461665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>
                <a:latin typeface="Rockwell" panose="02060603020205020403" pitchFamily="18" charset="77"/>
              </a:rPr>
              <a:t>What is the market size for all pizza sold in New York City in 2020 in dollars?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92C59-A96D-904D-9BB2-31EFBD138FCC}"/>
              </a:ext>
            </a:extLst>
          </p:cNvPr>
          <p:cNvSpPr txBox="1"/>
          <p:nvPr/>
        </p:nvSpPr>
        <p:spPr>
          <a:xfrm>
            <a:off x="602454" y="2047707"/>
            <a:ext cx="109870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venir Next LT Pro" panose="020B0504020202020204" pitchFamily="34" charset="77"/>
              </a:rPr>
              <a:t>A strong approach should: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Consider different types of pizza places, like the ones discussed in this 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Utilize the population of New York City, which can be estimated as 8 million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Be clearly communicated and well organized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730B8-719B-6A43-9FC7-089521D7FB84}"/>
              </a:ext>
            </a:extLst>
          </p:cNvPr>
          <p:cNvSpPr txBox="1"/>
          <p:nvPr/>
        </p:nvSpPr>
        <p:spPr>
          <a:xfrm>
            <a:off x="0" y="3371463"/>
            <a:ext cx="77571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latin typeface="+mj-lt"/>
              </a:rPr>
              <a:t>Population 8,000,000</a:t>
            </a:r>
          </a:p>
          <a:p>
            <a:pPr algn="r"/>
            <a:r>
              <a:rPr lang="en-US" sz="2400">
                <a:latin typeface="+mj-lt"/>
              </a:rPr>
              <a:t>How many eat pizza? 80%</a:t>
            </a:r>
          </a:p>
          <a:p>
            <a:pPr algn="r"/>
            <a:r>
              <a:rPr lang="en-US" sz="2400">
                <a:latin typeface="+mj-lt"/>
              </a:rPr>
              <a:t>Avg Slice/week 1</a:t>
            </a:r>
          </a:p>
          <a:p>
            <a:pPr algn="r"/>
            <a:r>
              <a:rPr lang="en-US" sz="2400">
                <a:latin typeface="+mj-lt"/>
              </a:rPr>
              <a:t>Cost/slice $2</a:t>
            </a:r>
          </a:p>
          <a:p>
            <a:pPr algn="r"/>
            <a:r>
              <a:rPr lang="en-US" sz="2400">
                <a:latin typeface="+mj-lt"/>
              </a:rPr>
              <a:t>Weeks/year ~50</a:t>
            </a:r>
          </a:p>
          <a:p>
            <a:pPr algn="r"/>
            <a:r>
              <a:rPr lang="en-US" sz="2400">
                <a:latin typeface="+mj-lt"/>
              </a:rPr>
              <a:t>Total Market Size= 8,000,000*0.80*1*$2*50=$640,000,000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E8096E6C-31FB-6344-BFD3-03D32E347AC1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FDA2B-B21A-6645-8C74-82FA2C73682A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51944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D416-BF83-6741-A59D-6CB0DAF47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/>
              <a:t>Brainstorm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5FF996-71A2-4D4E-8972-4ED57DECE1A8}"/>
              </a:ext>
            </a:extLst>
          </p:cNvPr>
          <p:cNvGrpSpPr/>
          <p:nvPr/>
        </p:nvGrpSpPr>
        <p:grpSpPr>
          <a:xfrm>
            <a:off x="759616" y="1316413"/>
            <a:ext cx="10672763" cy="475500"/>
            <a:chOff x="759618" y="1605123"/>
            <a:chExt cx="10672763" cy="8787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1233AB4-22FB-B944-87A6-22923B4603A7}"/>
                </a:ext>
              </a:extLst>
            </p:cNvPr>
            <p:cNvSpPr txBox="1"/>
            <p:nvPr/>
          </p:nvSpPr>
          <p:spPr>
            <a:xfrm>
              <a:off x="759618" y="1605123"/>
              <a:ext cx="10672763" cy="85322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i="1">
                  <a:latin typeface="Rockwell" panose="02060603020205020403" pitchFamily="18" charset="77"/>
                </a:rPr>
                <a:t>What are some ways that Emily can create more profit at his pizza place?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F259D8-B920-794F-9589-90D7878C3819}"/>
                </a:ext>
              </a:extLst>
            </p:cNvPr>
            <p:cNvSpPr/>
            <p:nvPr/>
          </p:nvSpPr>
          <p:spPr>
            <a:xfrm>
              <a:off x="759618" y="1605123"/>
              <a:ext cx="10672763" cy="878798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506E7E-FE66-DD44-AA07-E1271A0209B5}"/>
              </a:ext>
            </a:extLst>
          </p:cNvPr>
          <p:cNvSpPr txBox="1"/>
          <p:nvPr/>
        </p:nvSpPr>
        <p:spPr>
          <a:xfrm>
            <a:off x="563014" y="3429000"/>
            <a:ext cx="475995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Charge more, especially for specialty pizza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Enter delivery business (may damage brand)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Sell other items (drinks merchandise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4AF73-A2DC-8E40-9795-0D8BE510CC10}"/>
              </a:ext>
            </a:extLst>
          </p:cNvPr>
          <p:cNvSpPr txBox="1"/>
          <p:nvPr/>
        </p:nvSpPr>
        <p:spPr>
          <a:xfrm>
            <a:off x="6640801" y="3429000"/>
            <a:ext cx="447071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Decrease price on plain/specialty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Start Marketing program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FDB47-425F-AD47-B812-42749A9FF651}"/>
              </a:ext>
            </a:extLst>
          </p:cNvPr>
          <p:cNvSpPr txBox="1"/>
          <p:nvPr/>
        </p:nvSpPr>
        <p:spPr>
          <a:xfrm>
            <a:off x="1880844" y="2622252"/>
            <a:ext cx="2124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Avenir Next LT Pro" panose="020B0504020202020204" pitchFamily="34" charset="77"/>
              </a:rPr>
              <a:t>High End?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C5FAB-0E9C-E643-8555-C390771D7EBC}"/>
              </a:ext>
            </a:extLst>
          </p:cNvPr>
          <p:cNvSpPr txBox="1"/>
          <p:nvPr/>
        </p:nvSpPr>
        <p:spPr>
          <a:xfrm>
            <a:off x="6640801" y="2622251"/>
            <a:ext cx="4470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Avenir Next LT Pro" panose="020B0504020202020204" pitchFamily="34" charset="77"/>
              </a:rPr>
              <a:t>Traditional Pizza Place?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6F48C4FC-AF40-8745-98F7-C0F6C0A54D67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73248-CD1C-D94E-9A57-39F94072BE0F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F47ED-9A31-F942-B9FA-BC3DFCB6DA17}"/>
              </a:ext>
            </a:extLst>
          </p:cNvPr>
          <p:cNvSpPr txBox="1"/>
          <p:nvPr/>
        </p:nvSpPr>
        <p:spPr>
          <a:xfrm>
            <a:off x="1650124" y="27221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6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3B02-D399-7C4E-BD52-C9F592A84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/>
              <a:t>Conclusion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FF3FB4-EAE2-C744-93EA-E1733DD93796}"/>
              </a:ext>
            </a:extLst>
          </p:cNvPr>
          <p:cNvGrpSpPr/>
          <p:nvPr/>
        </p:nvGrpSpPr>
        <p:grpSpPr>
          <a:xfrm>
            <a:off x="759618" y="1262097"/>
            <a:ext cx="10672763" cy="928688"/>
            <a:chOff x="628649" y="1146928"/>
            <a:chExt cx="10672763" cy="92868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1B13AD4-945D-5F4D-B1ED-F1095E823B8D}"/>
                </a:ext>
              </a:extLst>
            </p:cNvPr>
            <p:cNvSpPr txBox="1"/>
            <p:nvPr/>
          </p:nvSpPr>
          <p:spPr>
            <a:xfrm>
              <a:off x="628649" y="1195774"/>
              <a:ext cx="10672763" cy="83099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i="1">
                  <a:latin typeface="Rockwell" panose="02060603020205020403" pitchFamily="18" charset="77"/>
                </a:rPr>
                <a:t>Emily </a:t>
              </a:r>
              <a:r>
                <a:rPr lang="en-US" sz="2400" i="1" err="1">
                  <a:latin typeface="Rockwell" panose="02060603020205020403" pitchFamily="18" charset="77"/>
                </a:rPr>
                <a:t>Gernert</a:t>
              </a:r>
              <a:r>
                <a:rPr lang="en-US" sz="2400" i="1">
                  <a:latin typeface="Rockwell" panose="02060603020205020403" pitchFamily="18" charset="77"/>
                </a:rPr>
                <a:t> is coming to meet with us today.  Would you walk her through what we covered today as well as your recommendation?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2C977B-B158-EA4C-8EA4-B3139A82F02E}"/>
                </a:ext>
              </a:extLst>
            </p:cNvPr>
            <p:cNvSpPr/>
            <p:nvPr/>
          </p:nvSpPr>
          <p:spPr>
            <a:xfrm>
              <a:off x="628649" y="1146928"/>
              <a:ext cx="10672763" cy="928688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D36A53E-1571-8147-A262-132FB1AACC7A}"/>
              </a:ext>
            </a:extLst>
          </p:cNvPr>
          <p:cNvSpPr txBox="1"/>
          <p:nvPr/>
        </p:nvSpPr>
        <p:spPr>
          <a:xfrm>
            <a:off x="602455" y="2435847"/>
            <a:ext cx="109870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Avenir Next LT Pro" panose="020B0504020202020204" pitchFamily="34" charset="77"/>
              </a:rPr>
              <a:t>A strong conclusion should:</a:t>
            </a:r>
          </a:p>
          <a:p>
            <a:endParaRPr lang="en-US" sz="2000">
              <a:latin typeface="Avenir Next LT Pro" panose="020B0504020202020204" pitchFamily="34" charset="77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latin typeface="Avenir Next LT Pro" panose="020B0504020202020204" pitchFamily="34" charset="77"/>
              </a:rPr>
              <a:t>Summarize the key takeaways from each portion of the interview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latin typeface="Avenir Next LT Pro" panose="020B0504020202020204" pitchFamily="34" charset="77"/>
              </a:rPr>
              <a:t>Provide a conclusive recommendation on which type of pizza place Emily should open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latin typeface="Avenir Next LT Pro" panose="020B0504020202020204" pitchFamily="34" charset="77"/>
              </a:rPr>
              <a:t>Likely should choose High End as it is more profitable unless very strong risks are identified with a high-end place that outweigh the additional profits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latin typeface="Avenir Next LT Pro" panose="020B0504020202020204" pitchFamily="34" charset="77"/>
              </a:rPr>
              <a:t>Address risks associated with the recommendation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latin typeface="Avenir Next LT Pro" panose="020B0504020202020204" pitchFamily="34" charset="77"/>
              </a:rPr>
              <a:t>Include Next Steps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B470EB21-CF72-4448-9C80-08EDB5BE80FF}"/>
              </a:ext>
            </a:extLst>
          </p:cNvPr>
          <p:cNvSpPr/>
          <p:nvPr/>
        </p:nvSpPr>
        <p:spPr>
          <a:xfrm>
            <a:off x="6098653" y="6361111"/>
            <a:ext cx="1923029" cy="536573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7C643-C430-F946-94D4-E367AAB0D0A9}"/>
              </a:ext>
            </a:extLst>
          </p:cNvPr>
          <p:cNvSpPr txBox="1"/>
          <p:nvPr/>
        </p:nvSpPr>
        <p:spPr>
          <a:xfrm>
            <a:off x="6603698" y="6460120"/>
            <a:ext cx="912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venir Next LT Pro" panose="020B0504020202020204" pitchFamily="34" charset="7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404171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58F30E-F3E2-9C41-9F1F-88390B95C3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9B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C3643-C853-634F-A11E-C004819900AC}"/>
              </a:ext>
            </a:extLst>
          </p:cNvPr>
          <p:cNvSpPr txBox="1"/>
          <p:nvPr/>
        </p:nvSpPr>
        <p:spPr>
          <a:xfrm>
            <a:off x="1981200" y="2921169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Avenir Next LT Pro" panose="020B0504020202020204" pitchFamily="34" charset="77"/>
              </a:rPr>
              <a:t>Market Sizing</a:t>
            </a:r>
          </a:p>
        </p:txBody>
      </p:sp>
    </p:spTree>
    <p:extLst>
      <p:ext uri="{BB962C8B-B14F-4D97-AF65-F5344CB8AC3E}">
        <p14:creationId xmlns:p14="http://schemas.microsoft.com/office/powerpoint/2010/main" val="75499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5E5B-F440-4C90-82B0-4F1E5C4C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Size Exercise </a:t>
            </a:r>
          </a:p>
        </p:txBody>
      </p:sp>
      <p:pic>
        <p:nvPicPr>
          <p:cNvPr id="7" name="Picture 7" descr="Logo&#10;&#10;Description automatically generated">
            <a:extLst>
              <a:ext uri="{FF2B5EF4-FFF2-40B4-BE49-F238E27FC236}">
                <a16:creationId xmlns:a16="http://schemas.microsoft.com/office/drawing/2014/main" id="{5E1F86CC-7F76-4B8F-8E14-900C66516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60" y="2356119"/>
            <a:ext cx="4089214" cy="203451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F281C0-893D-48A6-B2EA-58A30808A213}"/>
              </a:ext>
            </a:extLst>
          </p:cNvPr>
          <p:cNvCxnSpPr/>
          <p:nvPr/>
        </p:nvCxnSpPr>
        <p:spPr>
          <a:xfrm flipH="1">
            <a:off x="6000332" y="1403302"/>
            <a:ext cx="16685" cy="405473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903A1A-071B-4A99-BF21-3D25207A84D0}"/>
              </a:ext>
            </a:extLst>
          </p:cNvPr>
          <p:cNvSpPr txBox="1"/>
          <p:nvPr/>
        </p:nvSpPr>
        <p:spPr>
          <a:xfrm>
            <a:off x="7015962" y="2432838"/>
            <a:ext cx="447855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venir Next LT Pro"/>
                <a:ea typeface="+mn-lt"/>
                <a:cs typeface="+mn-lt"/>
              </a:rPr>
              <a:t>What is the market size of traditional toothbrushes in the United States in one year?</a:t>
            </a:r>
            <a:endParaRPr lang="en-US" sz="2800">
              <a:latin typeface="Avenir Next LT Pro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AB3CD3-4236-CDC6-E396-C4121D337482}"/>
              </a:ext>
            </a:extLst>
          </p:cNvPr>
          <p:cNvGrpSpPr/>
          <p:nvPr/>
        </p:nvGrpSpPr>
        <p:grpSpPr>
          <a:xfrm>
            <a:off x="7743825" y="6361113"/>
            <a:ext cx="1963781" cy="536573"/>
            <a:chOff x="7741715" y="6361110"/>
            <a:chExt cx="1923029" cy="536573"/>
          </a:xfrm>
        </p:grpSpPr>
        <p:sp>
          <p:nvSpPr>
            <p:cNvPr id="6" name="Chevron 5">
              <a:extLst>
                <a:ext uri="{FF2B5EF4-FFF2-40B4-BE49-F238E27FC236}">
                  <a16:creationId xmlns:a16="http://schemas.microsoft.com/office/drawing/2014/main" id="{ADEFEE31-A780-9A43-B8DD-4CCCA5D42A33}"/>
                </a:ext>
              </a:extLst>
            </p:cNvPr>
            <p:cNvSpPr/>
            <p:nvPr/>
          </p:nvSpPr>
          <p:spPr>
            <a:xfrm>
              <a:off x="7741715" y="6361110"/>
              <a:ext cx="1923029" cy="536573"/>
            </a:xfrm>
            <a:prstGeom prst="chevron">
              <a:avLst/>
            </a:prstGeom>
            <a:solidFill>
              <a:schemeClr val="accent4"/>
            </a:solidFill>
            <a:ln w="127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5AE15B-BC6C-8E42-A5C7-92E5AA17EF83}"/>
                </a:ext>
              </a:extLst>
            </p:cNvPr>
            <p:cNvSpPr txBox="1"/>
            <p:nvPr/>
          </p:nvSpPr>
          <p:spPr>
            <a:xfrm>
              <a:off x="8074145" y="6460119"/>
              <a:ext cx="12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>
                  <a:solidFill>
                    <a:schemeClr val="bg1"/>
                  </a:solidFill>
                  <a:latin typeface="Avenir Next LT Pro" panose="020B0504020202020204" pitchFamily="34" charset="77"/>
                </a:rPr>
                <a:t>Market Size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4709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946D-7608-4BD7-A4F6-DE67368A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Size 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C452-6684-4272-9982-9CE939E97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20" y="1363129"/>
            <a:ext cx="1186028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latin typeface="Avenir Next LT Pro"/>
              </a:rPr>
              <a:t>Step 1: Assume 330 million people in the United States</a:t>
            </a:r>
          </a:p>
          <a:p>
            <a:pPr marL="457200" lvl="1" indent="0">
              <a:buNone/>
            </a:pPr>
            <a:r>
              <a:rPr lang="en-US" sz="1600">
                <a:latin typeface="Avenir Next LT Pro"/>
              </a:rPr>
              <a:t> </a:t>
            </a:r>
            <a:r>
              <a:rPr lang="en-US" sz="1600" b="1">
                <a:latin typeface="Avenir Next LT Pro"/>
              </a:rPr>
              <a:t>= 330 Million</a:t>
            </a:r>
            <a:endParaRPr lang="en-US" sz="1600">
              <a:latin typeface="Avenir Next LT Pro"/>
            </a:endParaRPr>
          </a:p>
          <a:p>
            <a:r>
              <a:rPr lang="en-US" sz="1600">
                <a:latin typeface="Avenir Next LT Pro"/>
              </a:rPr>
              <a:t>Step 2:  Assume 90% of people DO brush their teeth (babies, people that have teeth and choose not to brush them make up other 10%). 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(0.9 * 330 million)</a:t>
            </a:r>
            <a:r>
              <a:rPr lang="en-US" sz="1600">
                <a:latin typeface="Avenir Next LT Pro"/>
              </a:rPr>
              <a:t>            </a:t>
            </a:r>
          </a:p>
          <a:p>
            <a:pPr marL="457200" lvl="1" indent="0">
              <a:buNone/>
            </a:pPr>
            <a:r>
              <a:rPr lang="en-US" sz="1600">
                <a:latin typeface="Avenir Next LT Pro"/>
              </a:rPr>
              <a:t> </a:t>
            </a:r>
            <a:r>
              <a:rPr lang="en-US" sz="1600" b="1">
                <a:latin typeface="Avenir Next LT Pro"/>
              </a:rPr>
              <a:t> = 297 Million</a:t>
            </a:r>
            <a:endParaRPr lang="en-US" sz="1600">
              <a:latin typeface="Avenir Next LT Pro"/>
            </a:endParaRPr>
          </a:p>
          <a:p>
            <a:pPr marL="171450" indent="-171450"/>
            <a:r>
              <a:rPr lang="en-US" sz="1600">
                <a:latin typeface="Avenir Next LT Pro"/>
              </a:rPr>
              <a:t>Step 3: About 75% of the 297 million use regular toothbrushes.</a:t>
            </a:r>
            <a:r>
              <a:rPr lang="en-US" sz="1600" b="1">
                <a:latin typeface="Avenir Next LT Pro"/>
              </a:rPr>
              <a:t> 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(0.75 * 297 million)</a:t>
            </a:r>
            <a:r>
              <a:rPr lang="en-US" sz="1600">
                <a:latin typeface="Avenir Next LT Pro"/>
              </a:rPr>
              <a:t>                                      </a:t>
            </a:r>
            <a:r>
              <a:rPr lang="en-US" sz="1600" b="1">
                <a:latin typeface="Avenir Next LT Pro"/>
              </a:rPr>
              <a:t> </a:t>
            </a:r>
            <a:endParaRPr lang="en-US" sz="1600">
              <a:latin typeface="Avenir Next LT Pro"/>
            </a:endParaRP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        ~ 223 million</a:t>
            </a:r>
            <a:endParaRPr lang="en-US" sz="1600">
              <a:latin typeface="Avenir Next LT Pro"/>
            </a:endParaRPr>
          </a:p>
          <a:p>
            <a:pPr marL="171450" indent="-171450"/>
            <a:r>
              <a:rPr lang="en-US" sz="1600">
                <a:latin typeface="Avenir Next LT Pro"/>
              </a:rPr>
              <a:t>Step 4: Individuals use a new toothbrush about once a month, we'll say 10 for easier math. 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(10*220million) </a:t>
            </a:r>
            <a:r>
              <a:rPr lang="en-US" sz="1600">
                <a:latin typeface="Avenir Next LT Pro"/>
              </a:rPr>
              <a:t>                                                                                                        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         ~ 2.23 billion</a:t>
            </a:r>
            <a:endParaRPr lang="en-US" sz="1600">
              <a:latin typeface="Avenir Next LT Pro"/>
            </a:endParaRPr>
          </a:p>
          <a:p>
            <a:pPr marL="171450" indent="-171450"/>
            <a:r>
              <a:rPr lang="en-US" sz="1600">
                <a:latin typeface="Avenir Next LT Pro"/>
              </a:rPr>
              <a:t>Step 5: Average toothbrush price is about $2. </a:t>
            </a:r>
          </a:p>
          <a:p>
            <a:pPr marL="0" indent="0">
              <a:buNone/>
            </a:pPr>
            <a:r>
              <a:rPr lang="en-US" sz="1600" b="1">
                <a:latin typeface="Avenir Next LT Pro"/>
              </a:rPr>
              <a:t>($2 * 2.23 billion)</a:t>
            </a:r>
          </a:p>
          <a:p>
            <a:pPr marL="0" indent="0">
              <a:buNone/>
            </a:pPr>
            <a:r>
              <a:rPr lang="en-US" sz="1600">
                <a:latin typeface="Avenir Next LT Pro"/>
              </a:rPr>
              <a:t>      </a:t>
            </a:r>
            <a:r>
              <a:rPr lang="en-US" sz="1600" b="1">
                <a:highlight>
                  <a:srgbClr val="FFFF00"/>
                </a:highlight>
                <a:latin typeface="Avenir Next LT Pro"/>
              </a:rPr>
              <a:t>~ $4.5 billion </a:t>
            </a:r>
            <a:endParaRPr lang="en-US" sz="1600">
              <a:latin typeface="Avenir Next LT Pr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4817AB-D518-EE18-A710-0949E577C293}"/>
              </a:ext>
            </a:extLst>
          </p:cNvPr>
          <p:cNvGrpSpPr/>
          <p:nvPr/>
        </p:nvGrpSpPr>
        <p:grpSpPr>
          <a:xfrm>
            <a:off x="7743825" y="6361113"/>
            <a:ext cx="1963781" cy="536573"/>
            <a:chOff x="7741715" y="6361110"/>
            <a:chExt cx="1923029" cy="536573"/>
          </a:xfrm>
        </p:grpSpPr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CDB7A94A-7988-0A23-7F2E-1C8CBA8B0608}"/>
                </a:ext>
              </a:extLst>
            </p:cNvPr>
            <p:cNvSpPr/>
            <p:nvPr/>
          </p:nvSpPr>
          <p:spPr>
            <a:xfrm>
              <a:off x="7741715" y="6361110"/>
              <a:ext cx="1923029" cy="536573"/>
            </a:xfrm>
            <a:prstGeom prst="chevron">
              <a:avLst/>
            </a:prstGeom>
            <a:solidFill>
              <a:schemeClr val="accent4"/>
            </a:solidFill>
            <a:ln w="12700"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6CAAE9-DF2C-A3E1-FFA2-7D4C6CE97BCA}"/>
                </a:ext>
              </a:extLst>
            </p:cNvPr>
            <p:cNvSpPr txBox="1"/>
            <p:nvPr/>
          </p:nvSpPr>
          <p:spPr>
            <a:xfrm>
              <a:off x="8074145" y="6460119"/>
              <a:ext cx="12581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>
                  <a:solidFill>
                    <a:schemeClr val="bg1"/>
                  </a:solidFill>
                  <a:latin typeface="Avenir Next LT Pro" panose="020B0504020202020204" pitchFamily="34" charset="77"/>
                </a:rPr>
                <a:t>Market Size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8788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1D562E-8E3C-EC1C-9710-721FBE711A5C}"/>
              </a:ext>
            </a:extLst>
          </p:cNvPr>
          <p:cNvSpPr txBox="1">
            <a:spLocks/>
          </p:cNvSpPr>
          <p:nvPr/>
        </p:nvSpPr>
        <p:spPr>
          <a:xfrm>
            <a:off x="851451" y="2278120"/>
            <a:ext cx="10684565" cy="22938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Monem Rizvi (bald one) – </a:t>
            </a:r>
          </a:p>
          <a:p>
            <a:r>
              <a:rPr lang="en-US"/>
              <a:t>Mar6718@psu.edu</a:t>
            </a:r>
          </a:p>
          <a:p>
            <a:endParaRPr lang="en-US"/>
          </a:p>
          <a:p>
            <a:r>
              <a:rPr lang="en-US"/>
              <a:t>Keanu Yazdjerd –</a:t>
            </a:r>
          </a:p>
          <a:p>
            <a:r>
              <a:rPr lang="en-US"/>
              <a:t>Kmy5230@psu.edu</a:t>
            </a:r>
          </a:p>
        </p:txBody>
      </p:sp>
    </p:spTree>
    <p:extLst>
      <p:ext uri="{BB962C8B-B14F-4D97-AF65-F5344CB8AC3E}">
        <p14:creationId xmlns:p14="http://schemas.microsoft.com/office/powerpoint/2010/main" val="20403264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59C31E0-884C-838F-260A-F792B0519646}"/>
              </a:ext>
            </a:extLst>
          </p:cNvPr>
          <p:cNvGrpSpPr/>
          <p:nvPr/>
        </p:nvGrpSpPr>
        <p:grpSpPr>
          <a:xfrm>
            <a:off x="10515097" y="2061464"/>
            <a:ext cx="1525937" cy="1364576"/>
            <a:chOff x="1791478" y="1314439"/>
            <a:chExt cx="2160717" cy="204921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6FBFDF8-8670-2242-C88F-FEC11C1012E3}"/>
                </a:ext>
              </a:extLst>
            </p:cNvPr>
            <p:cNvSpPr/>
            <p:nvPr/>
          </p:nvSpPr>
          <p:spPr>
            <a:xfrm>
              <a:off x="2285633" y="1314439"/>
              <a:ext cx="1152094" cy="11089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7" b="1">
                <a:latin typeface="Avenir Next LT Pro" panose="020B0504020202020204" pitchFamily="34" charset="77"/>
              </a:endParaRPr>
            </a:p>
          </p:txBody>
        </p:sp>
        <p:pic>
          <p:nvPicPr>
            <p:cNvPr id="14" name="Graphic 13" descr="Document with solid fill">
              <a:extLst>
                <a:ext uri="{FF2B5EF4-FFF2-40B4-BE49-F238E27FC236}">
                  <a16:creationId xmlns:a16="http://schemas.microsoft.com/office/drawing/2014/main" id="{3D60C075-1DB5-CB1B-A46F-77F7E12C8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16154" y="1498092"/>
              <a:ext cx="711366" cy="71136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D73ADF-C564-B1F4-D113-5DD2E27BA0E0}"/>
                </a:ext>
              </a:extLst>
            </p:cNvPr>
            <p:cNvSpPr txBox="1"/>
            <p:nvPr/>
          </p:nvSpPr>
          <p:spPr>
            <a:xfrm>
              <a:off x="1791478" y="2485192"/>
              <a:ext cx="2160717" cy="87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67">
                  <a:latin typeface="Avenir Next LT Pro" panose="020B0504020202020204" pitchFamily="34" charset="77"/>
                </a:rPr>
                <a:t>Complete the individual case assignment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8BE05F-001B-8693-EA58-6475492E22E5}"/>
              </a:ext>
            </a:extLst>
          </p:cNvPr>
          <p:cNvGrpSpPr/>
          <p:nvPr/>
        </p:nvGrpSpPr>
        <p:grpSpPr>
          <a:xfrm>
            <a:off x="10515097" y="3456899"/>
            <a:ext cx="1525937" cy="1356535"/>
            <a:chOff x="4181264" y="1326516"/>
            <a:chExt cx="2160717" cy="203713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BD3DFF-2479-9371-1D75-9B2B056C6A8F}"/>
                </a:ext>
              </a:extLst>
            </p:cNvPr>
            <p:cNvSpPr/>
            <p:nvPr/>
          </p:nvSpPr>
          <p:spPr>
            <a:xfrm>
              <a:off x="4685576" y="1326516"/>
              <a:ext cx="1152094" cy="11089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7" b="1">
                <a:latin typeface="Avenir Next LT Pro" panose="020B0504020202020204" pitchFamily="34" charset="77"/>
              </a:endParaRPr>
            </a:p>
          </p:txBody>
        </p:sp>
        <p:pic>
          <p:nvPicPr>
            <p:cNvPr id="18" name="Graphic 17" descr="Classroom with solid fill">
              <a:extLst>
                <a:ext uri="{FF2B5EF4-FFF2-40B4-BE49-F238E27FC236}">
                  <a16:creationId xmlns:a16="http://schemas.microsoft.com/office/drawing/2014/main" id="{E4C90894-F7E4-BA9D-B4F8-8431F79A4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05586" y="1510169"/>
              <a:ext cx="721531" cy="72153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706F86-3F00-6112-2DA3-9564CBBF3557}"/>
                </a:ext>
              </a:extLst>
            </p:cNvPr>
            <p:cNvSpPr txBox="1"/>
            <p:nvPr/>
          </p:nvSpPr>
          <p:spPr>
            <a:xfrm>
              <a:off x="4181264" y="2485194"/>
              <a:ext cx="2160717" cy="878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67">
                  <a:latin typeface="Avenir Next LT Pro" panose="020B0504020202020204" pitchFamily="34" charset="77"/>
                </a:rPr>
                <a:t>Participate in the team case assignment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072FDA-C6D1-8944-8EB1-ADBD2F2A4A26}"/>
              </a:ext>
            </a:extLst>
          </p:cNvPr>
          <p:cNvGrpSpPr/>
          <p:nvPr/>
        </p:nvGrpSpPr>
        <p:grpSpPr>
          <a:xfrm>
            <a:off x="10555119" y="4844017"/>
            <a:ext cx="1445892" cy="1203833"/>
            <a:chOff x="6630137" y="1309230"/>
            <a:chExt cx="2047373" cy="180782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5A97014-3E06-D7BC-8A01-822CA7BA0BDB}"/>
                </a:ext>
              </a:extLst>
            </p:cNvPr>
            <p:cNvSpPr/>
            <p:nvPr/>
          </p:nvSpPr>
          <p:spPr>
            <a:xfrm>
              <a:off x="7085519" y="1309230"/>
              <a:ext cx="1152094" cy="11089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7" b="1">
                <a:latin typeface="Avenir Next LT Pro" panose="020B0504020202020204" pitchFamily="34" charset="77"/>
              </a:endParaRPr>
            </a:p>
          </p:txBody>
        </p:sp>
        <p:pic>
          <p:nvPicPr>
            <p:cNvPr id="22" name="Graphic 21" descr="Boardroom with solid fill">
              <a:extLst>
                <a:ext uri="{FF2B5EF4-FFF2-40B4-BE49-F238E27FC236}">
                  <a16:creationId xmlns:a16="http://schemas.microsoft.com/office/drawing/2014/main" id="{9C21B397-A26B-8BE7-1012-697750AC0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73998" y="1472048"/>
              <a:ext cx="759652" cy="75965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00702C-1D2A-25A1-8AAA-2FD1A5A4F7C7}"/>
                </a:ext>
              </a:extLst>
            </p:cNvPr>
            <p:cNvSpPr txBox="1"/>
            <p:nvPr/>
          </p:nvSpPr>
          <p:spPr>
            <a:xfrm>
              <a:off x="6630137" y="2485193"/>
              <a:ext cx="2047373" cy="631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67">
                  <a:latin typeface="Avenir Next LT Pro" panose="020B0504020202020204" pitchFamily="34" charset="77"/>
                </a:rPr>
                <a:t>Complete </a:t>
              </a:r>
              <a:r>
                <a:rPr lang="en-US" sz="1067" i="1">
                  <a:latin typeface="Avenir Next LT Pro" panose="020B0504020202020204" pitchFamily="34" charset="77"/>
                </a:rPr>
                <a:t>at least </a:t>
              </a:r>
              <a:r>
                <a:rPr lang="en-US" sz="1067">
                  <a:latin typeface="Avenir Next LT Pro" panose="020B0504020202020204" pitchFamily="34" charset="77"/>
                </a:rPr>
                <a:t>4 mock interviews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8045F4-399B-11AA-2AFE-0481D7FF0526}"/>
              </a:ext>
            </a:extLst>
          </p:cNvPr>
          <p:cNvGrpSpPr/>
          <p:nvPr/>
        </p:nvGrpSpPr>
        <p:grpSpPr>
          <a:xfrm>
            <a:off x="10515097" y="508314"/>
            <a:ext cx="1525937" cy="1036153"/>
            <a:chOff x="67280" y="1287583"/>
            <a:chExt cx="2160717" cy="155601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22E6DA0-46D7-75FF-4F11-17FC9AA08E45}"/>
                </a:ext>
              </a:extLst>
            </p:cNvPr>
            <p:cNvSpPr/>
            <p:nvPr/>
          </p:nvSpPr>
          <p:spPr>
            <a:xfrm>
              <a:off x="561435" y="1287583"/>
              <a:ext cx="1152094" cy="11089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7" b="1">
                <a:latin typeface="Avenir Next LT Pro" panose="020B0504020202020204" pitchFamily="34" charset="77"/>
              </a:endParaRPr>
            </a:p>
          </p:txBody>
        </p:sp>
        <p:pic>
          <p:nvPicPr>
            <p:cNvPr id="26" name="Graphic 25" descr="Money outline">
              <a:extLst>
                <a:ext uri="{FF2B5EF4-FFF2-40B4-BE49-F238E27FC236}">
                  <a16:creationId xmlns:a16="http://schemas.microsoft.com/office/drawing/2014/main" id="{F14BDED3-95BA-848A-73C3-4D9311E26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91956" y="1471236"/>
              <a:ext cx="711366" cy="71136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BE579D-18CA-97AF-3DA9-205EF001CF0D}"/>
                </a:ext>
              </a:extLst>
            </p:cNvPr>
            <p:cNvSpPr txBox="1"/>
            <p:nvPr/>
          </p:nvSpPr>
          <p:spPr>
            <a:xfrm>
              <a:off x="67280" y="2458337"/>
              <a:ext cx="2160717" cy="385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67">
                  <a:latin typeface="Avenir Next LT Pro" panose="020B0504020202020204" pitchFamily="34" charset="77"/>
                </a:rPr>
                <a:t>Submit Dues ($20)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BCAB78A-0331-66D2-8FBE-CF2E3538E4AE}"/>
              </a:ext>
            </a:extLst>
          </p:cNvPr>
          <p:cNvSpPr txBox="1"/>
          <p:nvPr/>
        </p:nvSpPr>
        <p:spPr>
          <a:xfrm>
            <a:off x="361416" y="2548958"/>
            <a:ext cx="10193703" cy="1323439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/>
              </a:rPr>
              <a:t>This week: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Individual Case released (due 3/14)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NLCG Buddy pairings released tomorrow (introductory email by EOW)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/>
              </a:rPr>
              <a:t>Next week: 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venir Next LT Pro"/>
              </a:rPr>
              <a:t>Week 4: “Leadership”  (2/21 in 102 Animal Science)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8B0B8-25BC-6B69-217D-BE35778DECC1}"/>
              </a:ext>
            </a:extLst>
          </p:cNvPr>
          <p:cNvSpPr/>
          <p:nvPr/>
        </p:nvSpPr>
        <p:spPr>
          <a:xfrm>
            <a:off x="3540257" y="2457486"/>
            <a:ext cx="3836017" cy="3544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>
                <a:solidFill>
                  <a:schemeClr val="tx1"/>
                </a:solidFill>
                <a:latin typeface="Avenir Next LT Pro" panose="020B0504020202020204" pitchFamily="34" charset="77"/>
              </a:rPr>
              <a:t>Important Reminders this Week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A92B21-B567-84BB-BBF4-56512DD07E9E}"/>
              </a:ext>
            </a:extLst>
          </p:cNvPr>
          <p:cNvSpPr/>
          <p:nvPr/>
        </p:nvSpPr>
        <p:spPr>
          <a:xfrm>
            <a:off x="10610121" y="313132"/>
            <a:ext cx="1452886" cy="1463797"/>
          </a:xfrm>
          <a:prstGeom prst="rect">
            <a:avLst/>
          </a:prstGeom>
          <a:solidFill>
            <a:schemeClr val="bg1">
              <a:alpha val="8137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4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NLCG Color">
      <a:dk1>
        <a:srgbClr val="000000"/>
      </a:dk1>
      <a:lt1>
        <a:srgbClr val="FFFFFF"/>
      </a:lt1>
      <a:dk2>
        <a:srgbClr val="384F83"/>
      </a:dk2>
      <a:lt2>
        <a:srgbClr val="E9E9E9"/>
      </a:lt2>
      <a:accent1>
        <a:srgbClr val="305068"/>
      </a:accent1>
      <a:accent2>
        <a:srgbClr val="05A7A0"/>
      </a:accent2>
      <a:accent3>
        <a:srgbClr val="70737B"/>
      </a:accent3>
      <a:accent4>
        <a:srgbClr val="059BE3"/>
      </a:accent4>
      <a:accent5>
        <a:srgbClr val="203D83"/>
      </a:accent5>
      <a:accent6>
        <a:srgbClr val="061D47"/>
      </a:accent6>
      <a:hlink>
        <a:srgbClr val="9A9B9F"/>
      </a:hlink>
      <a:folHlink>
        <a:srgbClr val="DFA82C"/>
      </a:folHlink>
    </a:clrScheme>
    <a:fontScheme name="NLCG PowerPoint Font">
      <a:majorFont>
        <a:latin typeface="Rockwell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C3A8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1" id="{674F06EC-5D01-6846-A9B9-7D3373D349D2}" vid="{BE55B93E-CF32-0F46-8AEC-AF3D61042A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be51335-2bf1-43e2-a6cc-58fbc1a301be">
      <UserInfo>
        <DisplayName/>
        <AccountId xsi:nil="true"/>
        <AccountType/>
      </UserInfo>
    </SharedWithUsers>
    <lcf76f155ced4ddcb4097134ff3c332f xmlns="734ec5b5-b059-4fc8-b133-904d5f5797bc">
      <Terms xmlns="http://schemas.microsoft.com/office/infopath/2007/PartnerControls"/>
    </lcf76f155ced4ddcb4097134ff3c332f>
    <TaxCatchAll xmlns="3be51335-2bf1-43e2-a6cc-58fbc1a301b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83E2CC872B5E4DADEF10BD199B1BFE" ma:contentTypeVersion="12" ma:contentTypeDescription="Create a new document." ma:contentTypeScope="" ma:versionID="928a97d2e9b3b85c5a0e93371b86be38">
  <xsd:schema xmlns:xsd="http://www.w3.org/2001/XMLSchema" xmlns:xs="http://www.w3.org/2001/XMLSchema" xmlns:p="http://schemas.microsoft.com/office/2006/metadata/properties" xmlns:ns2="734ec5b5-b059-4fc8-b133-904d5f5797bc" xmlns:ns3="3be51335-2bf1-43e2-a6cc-58fbc1a301be" targetNamespace="http://schemas.microsoft.com/office/2006/metadata/properties" ma:root="true" ma:fieldsID="043d73443bd33eff98451f58a7ff9747" ns2:_="" ns3:_="">
    <xsd:import namespace="734ec5b5-b059-4fc8-b133-904d5f5797bc"/>
    <xsd:import namespace="3be51335-2bf1-43e2-a6cc-58fbc1a301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ec5b5-b059-4fc8-b133-904d5f5797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e51335-2bf1-43e2-a6cc-58fbc1a301b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17ffbd-7ffc-4ce7-a4b2-a3ae9d02debe}" ma:internalName="TaxCatchAll" ma:showField="CatchAllData" ma:web="3be51335-2bf1-43e2-a6cc-58fbc1a301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C44AAC-2D2D-4446-BF17-AC92551F98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37062-DC4E-4E2E-99DA-2307C50D069F}">
  <ds:schemaRefs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3be51335-2bf1-43e2-a6cc-58fbc1a301be"/>
    <ds:schemaRef ds:uri="734ec5b5-b059-4fc8-b133-904d5f5797b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A59F459-A3DB-4CE1-B584-DDF08E427AF7}">
  <ds:schemaRefs>
    <ds:schemaRef ds:uri="3be51335-2bf1-43e2-a6cc-58fbc1a301be"/>
    <ds:schemaRef ds:uri="734ec5b5-b059-4fc8-b133-904d5f5797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2450</Words>
  <Application>Microsoft Macintosh PowerPoint</Application>
  <PresentationFormat>Widescreen</PresentationFormat>
  <Paragraphs>583</Paragraphs>
  <Slides>52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Avenir Next LT Pro</vt:lpstr>
      <vt:lpstr>Calibri</vt:lpstr>
      <vt:lpstr>Franklin Gothic Book</vt:lpstr>
      <vt:lpstr>Georgia</vt:lpstr>
      <vt:lpstr>Rockwell</vt:lpstr>
      <vt:lpstr>Wingdings</vt:lpstr>
      <vt:lpstr>Theme1</vt:lpstr>
      <vt:lpstr>PowerPoint Presentation</vt:lpstr>
      <vt:lpstr>If you could teach a class on one thing, what would it be?</vt:lpstr>
      <vt:lpstr>Tenured Member – Keanu Yazdjerd</vt:lpstr>
      <vt:lpstr>Tenured Member – Monem Rizvi</vt:lpstr>
      <vt:lpstr>PowerPoint Presentation</vt:lpstr>
      <vt:lpstr>Agenda</vt:lpstr>
      <vt:lpstr>Consulting Interviews</vt:lpstr>
      <vt:lpstr>Consulting Interviews</vt:lpstr>
      <vt:lpstr>Case Interviews</vt:lpstr>
      <vt:lpstr>Case Interviews</vt:lpstr>
      <vt:lpstr>Types of Cases</vt:lpstr>
      <vt:lpstr>Types of Cases</vt:lpstr>
      <vt:lpstr>Types of Cases</vt:lpstr>
      <vt:lpstr>Format of a Case</vt:lpstr>
      <vt:lpstr>Format of a Case</vt:lpstr>
      <vt:lpstr>Beginning a Case: Prompt</vt:lpstr>
      <vt:lpstr>Beginning a Case: Framework</vt:lpstr>
      <vt:lpstr>Beginning a Case: Questions</vt:lpstr>
      <vt:lpstr>Beginning a Case: Framework</vt:lpstr>
      <vt:lpstr>Beginning a Case: Framework</vt:lpstr>
      <vt:lpstr>Beginning a Case: Framework</vt:lpstr>
      <vt:lpstr>Beginning a Case: Framework</vt:lpstr>
      <vt:lpstr>Beginning a Case: Framework</vt:lpstr>
      <vt:lpstr>Beginning a Case: Framework</vt:lpstr>
      <vt:lpstr>Beginning a Case: Framework</vt:lpstr>
      <vt:lpstr>Beginning a Case: Recap</vt:lpstr>
      <vt:lpstr>PowerPoint Presentation</vt:lpstr>
      <vt:lpstr>Body of a Case: Market Size and Case Math </vt:lpstr>
      <vt:lpstr>Body of a Case: Brainstorming </vt:lpstr>
      <vt:lpstr>Body of a Case: Brainstorming</vt:lpstr>
      <vt:lpstr>Body of a Case: Analytics</vt:lpstr>
      <vt:lpstr>PowerPoint Presentation</vt:lpstr>
      <vt:lpstr>Ending a Case: Conclusion</vt:lpstr>
      <vt:lpstr>PowerPoint Presentation</vt:lpstr>
      <vt:lpstr>Pizzanomics</vt:lpstr>
      <vt:lpstr>Introduction: Pizzanomics</vt:lpstr>
      <vt:lpstr>Framework</vt:lpstr>
      <vt:lpstr>Cost Structure</vt:lpstr>
      <vt:lpstr>Cost Structure</vt:lpstr>
      <vt:lpstr>Cost Structure</vt:lpstr>
      <vt:lpstr>Revenue Structure</vt:lpstr>
      <vt:lpstr>Revenue Structure</vt:lpstr>
      <vt:lpstr>Revenue Structure</vt:lpstr>
      <vt:lpstr>Revenue Structure</vt:lpstr>
      <vt:lpstr>Market Size</vt:lpstr>
      <vt:lpstr>Brainstorm</vt:lpstr>
      <vt:lpstr>Conclusion</vt:lpstr>
      <vt:lpstr>PowerPoint Presentation</vt:lpstr>
      <vt:lpstr>Market Size Exercise </vt:lpstr>
      <vt:lpstr>Market Size Exercise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Finch, Faith Ann</cp:lastModifiedBy>
  <cp:revision>3</cp:revision>
  <dcterms:created xsi:type="dcterms:W3CDTF">2020-10-14T18:24:22Z</dcterms:created>
  <dcterms:modified xsi:type="dcterms:W3CDTF">2023-02-28T19:15:57Z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0x010100A283E2CC872B5E4DADEF10BD199B1BFE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